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8" r:id="rId2"/>
  </p:sldMasterIdLst>
  <p:notesMasterIdLst>
    <p:notesMasterId r:id="rId37"/>
  </p:notesMasterIdLst>
  <p:handoutMasterIdLst>
    <p:handoutMasterId r:id="rId38"/>
  </p:handoutMasterIdLst>
  <p:sldIdLst>
    <p:sldId id="265" r:id="rId3"/>
    <p:sldId id="257" r:id="rId4"/>
    <p:sldId id="264" r:id="rId5"/>
    <p:sldId id="269" r:id="rId6"/>
    <p:sldId id="262" r:id="rId7"/>
    <p:sldId id="291" r:id="rId8"/>
    <p:sldId id="284" r:id="rId9"/>
    <p:sldId id="267" r:id="rId10"/>
    <p:sldId id="285" r:id="rId11"/>
    <p:sldId id="286" r:id="rId12"/>
    <p:sldId id="268" r:id="rId13"/>
    <p:sldId id="270" r:id="rId14"/>
    <p:sldId id="271" r:id="rId15"/>
    <p:sldId id="272" r:id="rId16"/>
    <p:sldId id="288" r:id="rId17"/>
    <p:sldId id="289" r:id="rId18"/>
    <p:sldId id="290" r:id="rId19"/>
    <p:sldId id="273" r:id="rId20"/>
    <p:sldId id="274" r:id="rId21"/>
    <p:sldId id="287" r:id="rId22"/>
    <p:sldId id="275" r:id="rId23"/>
    <p:sldId id="292" r:id="rId24"/>
    <p:sldId id="293" r:id="rId25"/>
    <p:sldId id="276" r:id="rId26"/>
    <p:sldId id="277" r:id="rId27"/>
    <p:sldId id="278" r:id="rId28"/>
    <p:sldId id="279" r:id="rId29"/>
    <p:sldId id="280" r:id="rId30"/>
    <p:sldId id="281" r:id="rId31"/>
    <p:sldId id="295" r:id="rId32"/>
    <p:sldId id="294" r:id="rId33"/>
    <p:sldId id="282" r:id="rId34"/>
    <p:sldId id="283" r:id="rId35"/>
    <p:sldId id="263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0" autoAdjust="0"/>
    <p:restoredTop sz="94672" autoAdjust="0"/>
  </p:normalViewPr>
  <p:slideViewPr>
    <p:cSldViewPr snapToGrid="0" snapToObjects="1" showGuides="1">
      <p:cViewPr varScale="1">
        <p:scale>
          <a:sx n="94" d="100"/>
          <a:sy n="94" d="100"/>
        </p:scale>
        <p:origin x="309" y="74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95E5-11DB-8623-469B-B6F98709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96062B-4C5E-A541-52EB-0454AC923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FFD765-14C6-9B81-AD06-3B7ADA627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24FFE9-7A3F-457C-9B98-456BEA80B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Редактируемый элемент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Город и год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2926326"/>
            <a:ext cx="6400800" cy="705749"/>
          </a:xfrm>
        </p:spPr>
        <p:txBody>
          <a:bodyPr anchor="b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637205"/>
            <a:ext cx="6400800" cy="46290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4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4693" y="997421"/>
            <a:ext cx="5965438" cy="1488969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697" y="2571750"/>
            <a:ext cx="5965825" cy="165258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600"/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1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140" y="927382"/>
            <a:ext cx="2713244" cy="1644368"/>
          </a:xfrm>
        </p:spPr>
        <p:txBody>
          <a:bodyPr anchor="t" anchorCtr="0">
            <a:normAutofit/>
          </a:bodyPr>
          <a:lstStyle>
            <a:lvl1pPr>
              <a:defRPr sz="2800" baseline="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Место для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2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010279"/>
            <a:ext cx="8229600" cy="620483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87704"/>
            <a:ext cx="8229600" cy="594122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 algn="ctr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ru-RU" dirty="0"/>
              <a:t>Контактные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2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46133"/>
            <a:ext cx="6273934" cy="28484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5659438" y="1759744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8" y="3288506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498"/>
            <a:ext cx="8229600" cy="620315"/>
          </a:xfrm>
        </p:spPr>
        <p:txBody>
          <a:bodyPr/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3025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57201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3276149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6097917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8" name="Text Placehold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1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9" name="Text Placehold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275819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0" name="Text Placehold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085706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9" y="1770130"/>
            <a:ext cx="3036565" cy="2919036"/>
          </a:xfrm>
          <a:custGeom>
            <a:avLst/>
            <a:gdLst>
              <a:gd name="connsiteX0" fmla="*/ 0 w 3027362"/>
              <a:gd name="connsiteY0" fmla="*/ 0 h 1885950"/>
              <a:gd name="connsiteX1" fmla="*/ 2528981 w 3027362"/>
              <a:gd name="connsiteY1" fmla="*/ 0 h 1885950"/>
              <a:gd name="connsiteX2" fmla="*/ 3027362 w 3027362"/>
              <a:gd name="connsiteY2" fmla="*/ 498381 h 1885950"/>
              <a:gd name="connsiteX3" fmla="*/ 3027362 w 3027362"/>
              <a:gd name="connsiteY3" fmla="*/ 1885950 h 1885950"/>
              <a:gd name="connsiteX4" fmla="*/ 0 w 3027362"/>
              <a:gd name="connsiteY4" fmla="*/ 1885950 h 1885950"/>
              <a:gd name="connsiteX5" fmla="*/ 0 w 3027362"/>
              <a:gd name="connsiteY5" fmla="*/ 0 h 1885950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0 w 3036565"/>
              <a:gd name="connsiteY4" fmla="*/ 1885950 h 3892048"/>
              <a:gd name="connsiteX5" fmla="*/ 0 w 3036565"/>
              <a:gd name="connsiteY5" fmla="*/ 0 h 3892048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9203 w 3036565"/>
              <a:gd name="connsiteY4" fmla="*/ 3892047 h 3892048"/>
              <a:gd name="connsiteX5" fmla="*/ 0 w 3036565"/>
              <a:gd name="connsiteY5" fmla="*/ 0 h 38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6565" h="3892048">
                <a:moveTo>
                  <a:pt x="0" y="0"/>
                </a:moveTo>
                <a:lnTo>
                  <a:pt x="2528981" y="0"/>
                </a:lnTo>
                <a:cubicBezTo>
                  <a:pt x="2804229" y="0"/>
                  <a:pt x="3027362" y="223133"/>
                  <a:pt x="3027362" y="498381"/>
                </a:cubicBezTo>
                <a:cubicBezTo>
                  <a:pt x="3030430" y="1629603"/>
                  <a:pt x="3033497" y="2760826"/>
                  <a:pt x="3036565" y="3892048"/>
                </a:cubicBezTo>
                <a:lnTo>
                  <a:pt x="9203" y="3892047"/>
                </a:lnTo>
                <a:cubicBezTo>
                  <a:pt x="6135" y="2594698"/>
                  <a:pt x="3068" y="1297349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1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8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2" r:id="rId3"/>
    <p:sldLayoutId id="2147483686" r:id="rId4"/>
    <p:sldLayoutId id="2147483689" r:id="rId5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wm64/itmo_cse/tree/master/linear_algebra/project1/main.py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599" y="2218875"/>
            <a:ext cx="6400800" cy="705749"/>
          </a:xfrm>
        </p:spPr>
        <p:txBody>
          <a:bodyPr>
            <a:noAutofit/>
          </a:bodyPr>
          <a:lstStyle/>
          <a:p>
            <a:r>
              <a:rPr lang="ru-RU" dirty="0"/>
              <a:t>Проектная работа.</a:t>
            </a:r>
            <a:br>
              <a:rPr lang="ru-RU" dirty="0"/>
            </a:br>
            <a:r>
              <a:rPr lang="ru-RU" dirty="0"/>
              <a:t>Кодирование и шифрование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534797" y="4276736"/>
            <a:ext cx="2074403" cy="462905"/>
          </a:xfrm>
        </p:spPr>
        <p:txBody>
          <a:bodyPr>
            <a:normAutofit fontScale="25000" lnSpcReduction="20000"/>
          </a:bodyPr>
          <a:lstStyle/>
          <a:p>
            <a:pPr fontAlgn="b"/>
            <a:r>
              <a:rPr lang="ru-RU" sz="5600" dirty="0" err="1"/>
              <a:t>Добкес</a:t>
            </a:r>
            <a:r>
              <a:rPr lang="ru-RU" sz="5600" dirty="0"/>
              <a:t> Михаил</a:t>
            </a:r>
            <a:endParaRPr lang="ru-KZ" sz="5600" dirty="0"/>
          </a:p>
          <a:p>
            <a:pPr fontAlgn="b"/>
            <a:r>
              <a:rPr lang="ru-RU" sz="5600" dirty="0" err="1"/>
              <a:t>Неевин</a:t>
            </a:r>
            <a:r>
              <a:rPr lang="ru-RU" sz="5600" dirty="0"/>
              <a:t> Олег</a:t>
            </a:r>
            <a:endParaRPr lang="ru-KZ" sz="5600" dirty="0"/>
          </a:p>
          <a:p>
            <a:pPr fontAlgn="b"/>
            <a:r>
              <a:rPr lang="ru-RU" sz="5600" dirty="0"/>
              <a:t>Хайдаров Роберт</a:t>
            </a:r>
            <a:endParaRPr lang="ru-KZ" sz="5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241825" y="1079084"/>
                <a:ext cx="4307503" cy="2578516"/>
              </a:xfrm>
            </p:spPr>
            <p:txBody>
              <a:bodyPr>
                <a:noAutofit/>
              </a:bodyPr>
              <a:lstStyle/>
              <a:p>
                <a:r>
                  <a:rPr lang="ru-RU" sz="1400" b="1" dirty="0"/>
                  <a:t>	Несколько слов о шифре Хилла.</a:t>
                </a:r>
                <a:endParaRPr lang="ru-RU" sz="1400" dirty="0"/>
              </a:p>
              <a:p>
                <a:r>
                  <a:rPr lang="ru-RU" sz="1400" dirty="0"/>
                  <a:t>Шифр Хилла основан на линейных преобразованиях — умножении числовых представлений букв на матрицу. Поскольку алфавит конечен, используются не вещественные числа, а модульная арифметика.</a:t>
                </a:r>
              </a:p>
              <a:p>
                <a:r>
                  <a:rPr lang="ru-RU" sz="1400" dirty="0"/>
                  <a:t>Каждой букве сопоставляется число (например, А = 0, …, Я = 32), и все вычисления ведутся по модулю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400" dirty="0"/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=33</m:t>
                    </m:r>
                  </m:oMath>
                </a14:m>
                <a:r>
                  <a:rPr lang="ru-RU" sz="1400" dirty="0"/>
                  <a:t>— размер алфавита. Это обеспечивает конечность множества и позволяет работать с обратимыми линейными преобразованиями, необходимыми для расшифровки.</a:t>
                </a:r>
              </a:p>
              <a:p>
                <a:r>
                  <a:rPr lang="ru-RU" sz="1400" b="1" dirty="0"/>
                  <a:t>	</a:t>
                </a:r>
                <a:endParaRPr lang="ru-RU" sz="1400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241825" y="1079084"/>
                <a:ext cx="4307503" cy="2578516"/>
              </a:xfrm>
              <a:blipFill>
                <a:blip r:embed="rId2"/>
                <a:stretch>
                  <a:fillRect l="-425" t="-473" r="-992" b="-2364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61563C91-C3BD-7F24-58B8-71A5F40D3D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5126" y="1071527"/>
                <a:ext cx="4307503" cy="31226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SzPct val="100000"/>
                  <a:buFontTx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457200" rtl="0" eaLnBrk="1" latinLnBrk="0" hangingPunct="1">
                  <a:spcBef>
                    <a:spcPct val="20000"/>
                  </a:spcBef>
                  <a:buFontTx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457200" rtl="0" eaLnBrk="1" latinLnBrk="0" hangingPunct="1">
                  <a:spcBef>
                    <a:spcPct val="20000"/>
                  </a:spcBef>
                  <a:buFontTx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457200" rtl="0" eaLnBrk="1" latinLnBrk="0" hangingPunct="1">
                  <a:spcBef>
                    <a:spcPct val="20000"/>
                  </a:spcBef>
                  <a:buFontTx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Tx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1400" b="1" dirty="0"/>
                  <a:t>	Шифрование:</a:t>
                </a:r>
                <a:endParaRPr lang="ru-RU" sz="1400" dirty="0"/>
              </a:p>
              <a:p>
                <a:r>
                  <a:rPr lang="ru-RU" sz="1400" dirty="0"/>
                  <a:t>буквы заменяются числами;</a:t>
                </a:r>
              </a:p>
              <a:p>
                <a:r>
                  <a:rPr lang="ru-RU" sz="1400" dirty="0"/>
                  <a:t>последовательность разбивается на векторы длины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400" dirty="0"/>
                  <a:t>;</a:t>
                </a:r>
              </a:p>
              <a:p>
                <a:r>
                  <a:rPr lang="ru-RU" sz="1400" dirty="0"/>
                  <a:t>каждый вектор умножается на ключевую матрицу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400" dirty="0"/>
                  <a:t>размера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400" dirty="0"/>
                  <a:t>по модулю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400" dirty="0"/>
                  <a:t>;</a:t>
                </a:r>
              </a:p>
              <a:p>
                <a:r>
                  <a:rPr lang="ru-RU" sz="1400" dirty="0"/>
                  <a:t>результат переводится обратно в символы.</a:t>
                </a:r>
              </a:p>
              <a:p>
                <a:r>
                  <a:rPr lang="ru-RU" sz="1400" dirty="0"/>
                  <a:t>Для дешифровки действия выполняются в обратном порядке, поэтому матрица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sz="1400" dirty="0"/>
                  <a:t>должна быть обратимой. Иначе говоря, должна существовать матрица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 sz="1400" dirty="0"/>
                  <a:t>, </a:t>
                </a:r>
                <a:r>
                  <a:rPr lang="ru-RU" sz="1400" dirty="0"/>
                  <a:t>возвращающая исходное сообщение. Удивительно, но условие существования такой матрицы оказывается довольно простым</a:t>
                </a:r>
              </a:p>
              <a:p>
                <a:r>
                  <a:rPr lang="ru-RU" sz="1400" b="1" dirty="0"/>
                  <a:t>	</a:t>
                </a:r>
                <a:endParaRPr lang="ru-RU" sz="1400" dirty="0"/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61563C91-C3BD-7F24-58B8-71A5F40D3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126" y="1071527"/>
                <a:ext cx="4307503" cy="3122622"/>
              </a:xfrm>
              <a:prstGeom prst="rect">
                <a:avLst/>
              </a:prstGeom>
              <a:blipFill>
                <a:blip r:embed="rId3"/>
                <a:stretch>
                  <a:fillRect l="-425" t="-391" b="-4102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06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CB35734-B00D-CB48-E9BD-B33A90302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8323"/>
              </p:ext>
            </p:extLst>
          </p:nvPr>
        </p:nvGraphicFramePr>
        <p:xfrm>
          <a:off x="190536" y="1599565"/>
          <a:ext cx="5933440" cy="397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565">
                  <a:extLst>
                    <a:ext uri="{9D8B030D-6E8A-4147-A177-3AD203B41FA5}">
                      <a16:colId xmlns:a16="http://schemas.microsoft.com/office/drawing/2014/main" val="3208334498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4119229775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754328823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22152437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538258985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387685534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763550118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818999191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232330382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296149857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425815046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4145063202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080829569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875028508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282891540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86907807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7700240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5685329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800"/>
                        </a:spcAft>
                        <a:buNone/>
                      </a:pPr>
                      <a:r>
                        <a:rPr lang="ru-RU" sz="1100" kern="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298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А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Б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Г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Д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Е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Ж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З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Й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Л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М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Н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П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С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579477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62AB820-8517-A3C3-0E73-5F101FBFD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48231"/>
              </p:ext>
            </p:extLst>
          </p:nvPr>
        </p:nvGraphicFramePr>
        <p:xfrm>
          <a:off x="190536" y="2161736"/>
          <a:ext cx="5933440" cy="381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785">
                  <a:extLst>
                    <a:ext uri="{9D8B030D-6E8A-4147-A177-3AD203B41FA5}">
                      <a16:colId xmlns:a16="http://schemas.microsoft.com/office/drawing/2014/main" val="2228218857"/>
                    </a:ext>
                  </a:extLst>
                </a:gridCol>
                <a:gridCol w="311785">
                  <a:extLst>
                    <a:ext uri="{9D8B030D-6E8A-4147-A177-3AD203B41FA5}">
                      <a16:colId xmlns:a16="http://schemas.microsoft.com/office/drawing/2014/main" val="947609582"/>
                    </a:ext>
                  </a:extLst>
                </a:gridCol>
                <a:gridCol w="311785">
                  <a:extLst>
                    <a:ext uri="{9D8B030D-6E8A-4147-A177-3AD203B41FA5}">
                      <a16:colId xmlns:a16="http://schemas.microsoft.com/office/drawing/2014/main" val="3431670210"/>
                    </a:ext>
                  </a:extLst>
                </a:gridCol>
                <a:gridCol w="311785">
                  <a:extLst>
                    <a:ext uri="{9D8B030D-6E8A-4147-A177-3AD203B41FA5}">
                      <a16:colId xmlns:a16="http://schemas.microsoft.com/office/drawing/2014/main" val="1928840636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3491739011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1363203518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162142736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879887390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244637788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875695532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540139555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3417069488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531817894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549530702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1370779839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4126403810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890372967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319100835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3302756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18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19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29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</a:rPr>
                        <a:t>31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</a:rPr>
                        <a:t>36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28254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Т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У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Ф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Х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Ц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Ч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Ш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Щ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Ъ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Ы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Ь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Э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Ю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␣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.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!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?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606723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540984F-2D2B-0659-3D4D-33F411375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766839"/>
              </p:ext>
            </p:extLst>
          </p:nvPr>
        </p:nvGraphicFramePr>
        <p:xfrm>
          <a:off x="190536" y="3334232"/>
          <a:ext cx="5933440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3566633831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620971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324718078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1452876919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800581351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214355905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4133510178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1937664119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3780772094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1628228268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3511419090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2731309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С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164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8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14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14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5054066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910B00CC-D722-6739-12C2-1134F25A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83" y="786603"/>
            <a:ext cx="878619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Задание 1. </a:t>
            </a: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Шифр Хилла. В этом задании мы займёмся шифрованием.</a:t>
            </a:r>
            <a:endParaRPr kumimoji="0" lang="ru-RU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Возьмём русский алфавит и уберём букву ё (кому она вообще нужна?).</a:t>
            </a:r>
            <a:endParaRPr kumimoji="0" lang="ru-RU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Добавим некоторые символы так что бы общее количество символов было простым числом (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37)</a:t>
            </a:r>
            <a:endParaRPr kumimoji="0" lang="ru-RU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Придумаем ценное сообщение. Например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en-US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“СЕССИЯ СКОРО”</a:t>
            </a:r>
            <a:endParaRPr kumimoji="0" lang="ru-RU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25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422A-2BA0-C00B-32CD-83A0EE22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EDDA83-358E-FFDF-DD20-1F63F1D9692F}"/>
              </a:ext>
            </a:extLst>
          </p:cNvPr>
          <p:cNvSpPr txBox="1"/>
          <p:nvPr/>
        </p:nvSpPr>
        <p:spPr>
          <a:xfrm>
            <a:off x="367988" y="1094025"/>
            <a:ext cx="68925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Придумаем три матрицы-ключа: 2 × 2, 3 × 3 и 4 × 4. Так что бы их определители не имели общих делителей с </a:t>
            </a:r>
            <a:r>
              <a:rPr kumimoji="0" lang="en-US" altLang="ru-KZ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n </a:t>
            </a:r>
            <a:r>
              <a:rPr kumimoji="0" lang="ru-RU" altLang="ru-KZ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и были разными.</a:t>
            </a:r>
            <a:endParaRPr kumimoji="0" lang="ru-RU" altLang="ru-KZ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 descr="Изображение выглядит как текст, рукописный текст, Шрифт, Прямоугольник">
            <a:extLst>
              <a:ext uri="{FF2B5EF4-FFF2-40B4-BE49-F238E27FC236}">
                <a16:creationId xmlns:a16="http://schemas.microsoft.com/office/drawing/2014/main" id="{E617063E-A616-B73C-9132-C1E1E238E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88" y="1803953"/>
            <a:ext cx="3124637" cy="197621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рукописный текст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474F66-166D-B549-04AD-586669A0B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04" y="1982634"/>
            <a:ext cx="4793771" cy="13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5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EF307767-B74B-2102-2065-194A77336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06" y="1838275"/>
            <a:ext cx="3489673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Собираем зашифрованное сообщение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“</a:t>
            </a:r>
            <a:r>
              <a:rPr lang="ru-RU" sz="14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У,ЕИВАЬР?МЧЮ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”</a:t>
            </a:r>
            <a:r>
              <a:rPr kumimoji="0" lang="en-US" altLang="ru-KZ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902401-E033-FEF8-68E0-0D0DB1107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21" y="829157"/>
            <a:ext cx="3124947" cy="34851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EFFD17F-06FA-CD2B-FDF0-58E4D27E7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25118"/>
              </p:ext>
            </p:extLst>
          </p:nvPr>
        </p:nvGraphicFramePr>
        <p:xfrm>
          <a:off x="4510610" y="2292686"/>
          <a:ext cx="3773386" cy="3684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859">
                  <a:extLst>
                    <a:ext uri="{9D8B030D-6E8A-4147-A177-3AD203B41FA5}">
                      <a16:colId xmlns:a16="http://schemas.microsoft.com/office/drawing/2014/main" val="3654106835"/>
                    </a:ext>
                  </a:extLst>
                </a:gridCol>
                <a:gridCol w="310859">
                  <a:extLst>
                    <a:ext uri="{9D8B030D-6E8A-4147-A177-3AD203B41FA5}">
                      <a16:colId xmlns:a16="http://schemas.microsoft.com/office/drawing/2014/main" val="735671972"/>
                    </a:ext>
                  </a:extLst>
                </a:gridCol>
                <a:gridCol w="310859">
                  <a:extLst>
                    <a:ext uri="{9D8B030D-6E8A-4147-A177-3AD203B41FA5}">
                      <a16:colId xmlns:a16="http://schemas.microsoft.com/office/drawing/2014/main" val="1624564915"/>
                    </a:ext>
                  </a:extLst>
                </a:gridCol>
                <a:gridCol w="310859">
                  <a:extLst>
                    <a:ext uri="{9D8B030D-6E8A-4147-A177-3AD203B41FA5}">
                      <a16:colId xmlns:a16="http://schemas.microsoft.com/office/drawing/2014/main" val="459903474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3024691772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3799110139"/>
                    </a:ext>
                  </a:extLst>
                </a:gridCol>
                <a:gridCol w="351130">
                  <a:extLst>
                    <a:ext uri="{9D8B030D-6E8A-4147-A177-3AD203B41FA5}">
                      <a16:colId xmlns:a16="http://schemas.microsoft.com/office/drawing/2014/main" val="3900873018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2601096500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1356247405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2477465555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1898620033"/>
                    </a:ext>
                  </a:extLst>
                </a:gridCol>
                <a:gridCol w="311260">
                  <a:extLst>
                    <a:ext uri="{9D8B030D-6E8A-4147-A177-3AD203B41FA5}">
                      <a16:colId xmlns:a16="http://schemas.microsoft.com/office/drawing/2014/main" val="303311512"/>
                    </a:ext>
                  </a:extLst>
                </a:gridCol>
              </a:tblGrid>
              <a:tr h="155091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19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34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5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8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2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0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28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16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36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12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23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850" kern="100" dirty="0">
                          <a:effectLst/>
                        </a:rPr>
                        <a:t>30</a:t>
                      </a:r>
                      <a:endParaRPr lang="ru-KZ" sz="85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0984171"/>
                  </a:ext>
                </a:extLst>
              </a:tr>
              <a:tr h="155091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У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В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А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Ь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?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М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Ч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Ю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870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1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922E-5F70-7A63-B152-034EDEBD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F1F172-6F2B-875B-D0B3-3792916DD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7"/>
          <a:stretch>
            <a:fillRect/>
          </a:stretch>
        </p:blipFill>
        <p:spPr bwMode="auto">
          <a:xfrm>
            <a:off x="425846" y="819456"/>
            <a:ext cx="3619460" cy="33610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A962455-1DB4-C9E6-DE33-D1FF7D7021D0}"/>
              </a:ext>
            </a:extLst>
          </p:cNvPr>
          <p:cNvGraphicFramePr>
            <a:graphicFrameLocks noGrp="1"/>
          </p:cNvGraphicFramePr>
          <p:nvPr/>
        </p:nvGraphicFramePr>
        <p:xfrm>
          <a:off x="4696357" y="2239674"/>
          <a:ext cx="3881120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150">
                  <a:extLst>
                    <a:ext uri="{9D8B030D-6E8A-4147-A177-3AD203B41FA5}">
                      <a16:colId xmlns:a16="http://schemas.microsoft.com/office/drawing/2014/main" val="3318813627"/>
                    </a:ext>
                  </a:extLst>
                </a:gridCol>
                <a:gridCol w="323150">
                  <a:extLst>
                    <a:ext uri="{9D8B030D-6E8A-4147-A177-3AD203B41FA5}">
                      <a16:colId xmlns:a16="http://schemas.microsoft.com/office/drawing/2014/main" val="2556230824"/>
                    </a:ext>
                  </a:extLst>
                </a:gridCol>
                <a:gridCol w="323150">
                  <a:extLst>
                    <a:ext uri="{9D8B030D-6E8A-4147-A177-3AD203B41FA5}">
                      <a16:colId xmlns:a16="http://schemas.microsoft.com/office/drawing/2014/main" val="3903931404"/>
                    </a:ext>
                  </a:extLst>
                </a:gridCol>
                <a:gridCol w="323150">
                  <a:extLst>
                    <a:ext uri="{9D8B030D-6E8A-4147-A177-3AD203B41FA5}">
                      <a16:colId xmlns:a16="http://schemas.microsoft.com/office/drawing/2014/main" val="3331690188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3305318916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2439394809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2727881575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4135227101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2411574787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2721405127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3383590063"/>
                    </a:ext>
                  </a:extLst>
                </a:gridCol>
                <a:gridCol w="323565">
                  <a:extLst>
                    <a:ext uri="{9D8B030D-6E8A-4147-A177-3AD203B41FA5}">
                      <a16:colId xmlns:a16="http://schemas.microsoft.com/office/drawing/2014/main" val="2183647307"/>
                    </a:ext>
                  </a:extLst>
                </a:gridCol>
              </a:tblGrid>
              <a:tr h="145613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21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1726046"/>
                  </a:ext>
                </a:extLst>
              </a:tr>
              <a:tr h="145613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Э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З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У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П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Ы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Н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 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Ч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Х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112717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79C9E73C-EE62-CE64-7385-951802E4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467" y="1782876"/>
            <a:ext cx="3489673" cy="138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Собираем зашифрованное сообщение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“</a:t>
            </a: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ЭЗУПЫНОВ ЗЧХ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”</a:t>
            </a:r>
            <a:r>
              <a:rPr kumimoji="0" lang="en-US" altLang="ru-KZ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0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5B2B-6058-0B6A-B233-840F6882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070208C-E9B3-F7AD-89A2-B2A29BBC8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044570"/>
              </p:ext>
            </p:extLst>
          </p:nvPr>
        </p:nvGraphicFramePr>
        <p:xfrm>
          <a:off x="4696357" y="2239674"/>
          <a:ext cx="4230768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262">
                  <a:extLst>
                    <a:ext uri="{9D8B030D-6E8A-4147-A177-3AD203B41FA5}">
                      <a16:colId xmlns:a16="http://schemas.microsoft.com/office/drawing/2014/main" val="3318813627"/>
                    </a:ext>
                  </a:extLst>
                </a:gridCol>
                <a:gridCol w="352262">
                  <a:extLst>
                    <a:ext uri="{9D8B030D-6E8A-4147-A177-3AD203B41FA5}">
                      <a16:colId xmlns:a16="http://schemas.microsoft.com/office/drawing/2014/main" val="2556230824"/>
                    </a:ext>
                  </a:extLst>
                </a:gridCol>
                <a:gridCol w="352262">
                  <a:extLst>
                    <a:ext uri="{9D8B030D-6E8A-4147-A177-3AD203B41FA5}">
                      <a16:colId xmlns:a16="http://schemas.microsoft.com/office/drawing/2014/main" val="3903931404"/>
                    </a:ext>
                  </a:extLst>
                </a:gridCol>
                <a:gridCol w="352262">
                  <a:extLst>
                    <a:ext uri="{9D8B030D-6E8A-4147-A177-3AD203B41FA5}">
                      <a16:colId xmlns:a16="http://schemas.microsoft.com/office/drawing/2014/main" val="3331690188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3305318916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2439394809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2727881575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4135227101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2411574787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2721405127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3383590063"/>
                    </a:ext>
                  </a:extLst>
                </a:gridCol>
                <a:gridCol w="352715">
                  <a:extLst>
                    <a:ext uri="{9D8B030D-6E8A-4147-A177-3AD203B41FA5}">
                      <a16:colId xmlns:a16="http://schemas.microsoft.com/office/drawing/2014/main" val="2183647307"/>
                    </a:ext>
                  </a:extLst>
                </a:gridCol>
              </a:tblGrid>
              <a:tr h="14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KZ" sz="1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726046"/>
                  </a:ext>
                </a:extLst>
              </a:tr>
              <a:tr h="14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12717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86908F8D-DD14-7C86-9191-2A102A17C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6357" y="1636831"/>
            <a:ext cx="34896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Собираем зашифрованное сообщение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KZ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KZ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“</a:t>
            </a:r>
            <a:r>
              <a:rPr lang="ru-RU" sz="1400" dirty="0"/>
              <a:t>«ЗУЯВМХЭУПФМБ»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”</a:t>
            </a:r>
            <a:r>
              <a:rPr kumimoji="0" lang="en-US" altLang="ru-KZ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Шрифт, снимок экрана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07D93A-CDC7-7205-77E0-4B7E157EC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2" y="751602"/>
            <a:ext cx="4304694" cy="349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2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71717" y="1703514"/>
            <a:ext cx="6715354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1400" dirty="0"/>
              <a:t>Сымитируем вредоносное вмешательство, заменив в каждом из них по три символа на какие-то другие случайные символы из нашего алфавита.</a:t>
            </a:r>
          </a:p>
          <a:p>
            <a:pPr lvl="0" algn="ctr"/>
            <a:endParaRPr lang="ru-KZ" sz="1400" dirty="0"/>
          </a:p>
          <a:p>
            <a:pPr algn="ctr"/>
            <a:r>
              <a:rPr lang="ru-RU" sz="1300" dirty="0"/>
              <a:t>а) “У,ЕИВАЬР?МЧЮ” --&gt; “Т,ЕИВАХР?МЧ.” (заменили 1, 7 и 12 символы)</a:t>
            </a:r>
            <a:endParaRPr lang="ru-KZ" sz="1300" dirty="0"/>
          </a:p>
          <a:p>
            <a:pPr algn="ctr"/>
            <a:r>
              <a:rPr lang="ru-RU" sz="1300" dirty="0"/>
              <a:t>б) “ЭЗУПЫНОВ ЗЧХ” --&gt; “ЭЗУ?ФКОВ ЗЧХ” (заменили 4, 5 и 6 символы)</a:t>
            </a:r>
            <a:endParaRPr lang="ru-KZ" sz="1300" dirty="0"/>
          </a:p>
          <a:p>
            <a:pPr algn="ctr"/>
            <a:r>
              <a:rPr lang="ru-RU" sz="1300" dirty="0"/>
              <a:t>в) </a:t>
            </a:r>
            <a:r>
              <a:rPr lang="ru-RU" sz="1400" dirty="0"/>
              <a:t>«ЗУЯВМХЭУПФМБ» </a:t>
            </a:r>
            <a:r>
              <a:rPr lang="ru-RU" sz="1400" dirty="0">
                <a:sym typeface="Wingdings" panose="05000000000000000000" pitchFamily="2" charset="2"/>
              </a:rPr>
              <a:t></a:t>
            </a:r>
            <a:r>
              <a:rPr lang="ru-RU" sz="1400" dirty="0"/>
              <a:t> «ЗУЯЖМХЭУКФМБ» (заменили 4, 9 и 10 символы)</a:t>
            </a:r>
            <a:endParaRPr lang="ru-RU" sz="1300" dirty="0"/>
          </a:p>
          <a:p>
            <a:endParaRPr lang="ru-KZ" sz="1500" dirty="0"/>
          </a:p>
        </p:txBody>
      </p:sp>
    </p:spTree>
    <p:extLst>
      <p:ext uri="{BB962C8B-B14F-4D97-AF65-F5344CB8AC3E}">
        <p14:creationId xmlns:p14="http://schemas.microsoft.com/office/powerpoint/2010/main" val="229047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5B59F3A7-B58B-1FAA-8F55-FD8FE3D7F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A3FBB23-C41E-36F2-BE8C-630B2BFCC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9" y="1230277"/>
            <a:ext cx="2932963" cy="391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E2C84D1-17B2-459B-5E97-219E4B098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10" y="1243340"/>
            <a:ext cx="2857579" cy="390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2AED62F-0FF6-989B-EC2D-E89C1CE2B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416" y="966675"/>
            <a:ext cx="3018498" cy="41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0AD451-194A-A328-28E2-7281F5363902}"/>
              </a:ext>
            </a:extLst>
          </p:cNvPr>
          <p:cNvSpPr txBox="1"/>
          <p:nvPr/>
        </p:nvSpPr>
        <p:spPr>
          <a:xfrm>
            <a:off x="0" y="185639"/>
            <a:ext cx="5003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tabLst>
                <a:tab pos="1638300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Найдём ключ-матрицы по формуле: </a:t>
            </a:r>
            <a:endParaRPr lang="ru-KZ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EB6147B-5971-6FA7-FEF5-51AE8B586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60" y="709925"/>
            <a:ext cx="2387600" cy="37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6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14179-C162-A1A6-9208-B1BD6184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391F1EC-0C2F-750A-77F5-C6F06CD7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B8C58-B31C-D2F1-BC5B-955C77D196CF}"/>
              </a:ext>
            </a:extLst>
          </p:cNvPr>
          <p:cNvSpPr txBox="1"/>
          <p:nvPr/>
        </p:nvSpPr>
        <p:spPr>
          <a:xfrm>
            <a:off x="0" y="185639"/>
            <a:ext cx="5003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tabLst>
                <a:tab pos="1638300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Найдём ключ-матрицы по формуле: </a:t>
            </a:r>
            <a:endParaRPr lang="ru-KZ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2D60C0A-8D6D-F39B-DA89-3564FA776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704" y="709925"/>
            <a:ext cx="2387600" cy="37846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C358EE-6A5A-494E-1102-EE184844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560" y="1158221"/>
            <a:ext cx="3349888" cy="383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8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рукописный текст, Шрифт, Бумажное издел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83F1CD-172D-F673-DD26-B8CE3B52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79"/>
            <a:ext cx="4079269" cy="4956341"/>
          </a:xfrm>
          <a:prstGeom prst="rect">
            <a:avLst/>
          </a:prstGeom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F7DC4AE-A162-4F4B-5868-D4A01FBE9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080108"/>
              </p:ext>
            </p:extLst>
          </p:nvPr>
        </p:nvGraphicFramePr>
        <p:xfrm>
          <a:off x="4114970" y="1988228"/>
          <a:ext cx="3920556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433">
                  <a:extLst>
                    <a:ext uri="{9D8B030D-6E8A-4147-A177-3AD203B41FA5}">
                      <a16:colId xmlns:a16="http://schemas.microsoft.com/office/drawing/2014/main" val="2240145737"/>
                    </a:ext>
                  </a:extLst>
                </a:gridCol>
                <a:gridCol w="326433">
                  <a:extLst>
                    <a:ext uri="{9D8B030D-6E8A-4147-A177-3AD203B41FA5}">
                      <a16:colId xmlns:a16="http://schemas.microsoft.com/office/drawing/2014/main" val="1730026585"/>
                    </a:ext>
                  </a:extLst>
                </a:gridCol>
                <a:gridCol w="326433">
                  <a:extLst>
                    <a:ext uri="{9D8B030D-6E8A-4147-A177-3AD203B41FA5}">
                      <a16:colId xmlns:a16="http://schemas.microsoft.com/office/drawing/2014/main" val="1215457877"/>
                    </a:ext>
                  </a:extLst>
                </a:gridCol>
                <a:gridCol w="326433">
                  <a:extLst>
                    <a:ext uri="{9D8B030D-6E8A-4147-A177-3AD203B41FA5}">
                      <a16:colId xmlns:a16="http://schemas.microsoft.com/office/drawing/2014/main" val="451462976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184123534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3973963687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1334752749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1151129587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3855264936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832738566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2293675389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2993530864"/>
                    </a:ext>
                  </a:extLst>
                </a:gridCol>
              </a:tblGrid>
              <a:tr h="212253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17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17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17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8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14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14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8527970"/>
                  </a:ext>
                </a:extLst>
              </a:tr>
              <a:tr h="191592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С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О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480966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D00710A-FE93-6941-A58F-36E48D64D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29" y="764679"/>
            <a:ext cx="2563138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 defTabSz="914400"/>
            <a:r>
              <a:rPr lang="ru-RU" sz="1400" dirty="0"/>
              <a:t>Зашифрованное сообщение</a:t>
            </a:r>
          </a:p>
          <a:p>
            <a:pPr lvl="0" algn="just" defTabSz="914400"/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Исходное сообщение</a:t>
            </a:r>
            <a:r>
              <a:rPr kumimoji="0" lang="en-US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:</a:t>
            </a: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lang="ru-RU" altLang="ru-KZ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kumimoji="0" lang="en-US" altLang="ru-K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3985524-C016-84E0-509C-B6F7E00AA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872386"/>
              </p:ext>
            </p:extLst>
          </p:nvPr>
        </p:nvGraphicFramePr>
        <p:xfrm>
          <a:off x="4114970" y="1175241"/>
          <a:ext cx="4672852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9071">
                  <a:extLst>
                    <a:ext uri="{9D8B030D-6E8A-4147-A177-3AD203B41FA5}">
                      <a16:colId xmlns:a16="http://schemas.microsoft.com/office/drawing/2014/main" val="599178316"/>
                    </a:ext>
                  </a:extLst>
                </a:gridCol>
                <a:gridCol w="389071">
                  <a:extLst>
                    <a:ext uri="{9D8B030D-6E8A-4147-A177-3AD203B41FA5}">
                      <a16:colId xmlns:a16="http://schemas.microsoft.com/office/drawing/2014/main" val="3765962508"/>
                    </a:ext>
                  </a:extLst>
                </a:gridCol>
                <a:gridCol w="389071">
                  <a:extLst>
                    <a:ext uri="{9D8B030D-6E8A-4147-A177-3AD203B41FA5}">
                      <a16:colId xmlns:a16="http://schemas.microsoft.com/office/drawing/2014/main" val="3785946123"/>
                    </a:ext>
                  </a:extLst>
                </a:gridCol>
                <a:gridCol w="389071">
                  <a:extLst>
                    <a:ext uri="{9D8B030D-6E8A-4147-A177-3AD203B41FA5}">
                      <a16:colId xmlns:a16="http://schemas.microsoft.com/office/drawing/2014/main" val="1339022580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2546479421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3425679468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776007976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3943164012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398764281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1717569167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982966672"/>
                    </a:ext>
                  </a:extLst>
                </a:gridCol>
                <a:gridCol w="389571">
                  <a:extLst>
                    <a:ext uri="{9D8B030D-6E8A-4147-A177-3AD203B41FA5}">
                      <a16:colId xmlns:a16="http://schemas.microsoft.com/office/drawing/2014/main" val="154607175"/>
                    </a:ext>
                  </a:extLst>
                </a:gridCol>
              </a:tblGrid>
              <a:tr h="20137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У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E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А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endParaRPr lang="ru-RU" sz="1400" kern="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?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М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Ч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Ю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2662378"/>
                  </a:ext>
                </a:extLst>
              </a:tr>
              <a:tr h="20137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8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2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0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28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30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972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47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5A7B-8F8B-776D-15CB-61CD2C3C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3B05AF-A72B-17FC-D2DE-71766A236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83" y="702527"/>
            <a:ext cx="3302778" cy="42820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3DA3AE6-DD49-BD5E-A67F-8651A142D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141" y="2287114"/>
            <a:ext cx="551138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Испорченное сообщение после расшифровки осталось испорченным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46434EA-DB66-5E14-69DA-973235A3A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83250"/>
              </p:ext>
            </p:extLst>
          </p:nvPr>
        </p:nvGraphicFramePr>
        <p:xfrm>
          <a:off x="3757469" y="1702025"/>
          <a:ext cx="3920560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434">
                  <a:extLst>
                    <a:ext uri="{9D8B030D-6E8A-4147-A177-3AD203B41FA5}">
                      <a16:colId xmlns:a16="http://schemas.microsoft.com/office/drawing/2014/main" val="270733830"/>
                    </a:ext>
                  </a:extLst>
                </a:gridCol>
                <a:gridCol w="326434">
                  <a:extLst>
                    <a:ext uri="{9D8B030D-6E8A-4147-A177-3AD203B41FA5}">
                      <a16:colId xmlns:a16="http://schemas.microsoft.com/office/drawing/2014/main" val="514955491"/>
                    </a:ext>
                  </a:extLst>
                </a:gridCol>
                <a:gridCol w="326434">
                  <a:extLst>
                    <a:ext uri="{9D8B030D-6E8A-4147-A177-3AD203B41FA5}">
                      <a16:colId xmlns:a16="http://schemas.microsoft.com/office/drawing/2014/main" val="118725817"/>
                    </a:ext>
                  </a:extLst>
                </a:gridCol>
                <a:gridCol w="326434">
                  <a:extLst>
                    <a:ext uri="{9D8B030D-6E8A-4147-A177-3AD203B41FA5}">
                      <a16:colId xmlns:a16="http://schemas.microsoft.com/office/drawing/2014/main" val="940935862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3068547945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495573939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1963731550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564487589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4020549166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3051159296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888814589"/>
                    </a:ext>
                  </a:extLst>
                </a:gridCol>
                <a:gridCol w="326853">
                  <a:extLst>
                    <a:ext uri="{9D8B030D-6E8A-4147-A177-3AD203B41FA5}">
                      <a16:colId xmlns:a16="http://schemas.microsoft.com/office/drawing/2014/main" val="1600591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Т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Е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А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Х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?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М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Ч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.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994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23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33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792104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6F864F78-2347-02D5-35F6-D3BE3FFC3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141" y="1145301"/>
            <a:ext cx="53228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r>
              <a:rPr kumimoji="0" lang="ru-RU" altLang="ru-KZ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Испорченное сообщение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67E828F-27B7-D963-28CB-4A85D8372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276244"/>
              </p:ext>
            </p:extLst>
          </p:nvPr>
        </p:nvGraphicFramePr>
        <p:xfrm>
          <a:off x="3757469" y="2797662"/>
          <a:ext cx="4037232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148">
                  <a:extLst>
                    <a:ext uri="{9D8B030D-6E8A-4147-A177-3AD203B41FA5}">
                      <a16:colId xmlns:a16="http://schemas.microsoft.com/office/drawing/2014/main" val="3200314144"/>
                    </a:ext>
                  </a:extLst>
                </a:gridCol>
                <a:gridCol w="336148">
                  <a:extLst>
                    <a:ext uri="{9D8B030D-6E8A-4147-A177-3AD203B41FA5}">
                      <a16:colId xmlns:a16="http://schemas.microsoft.com/office/drawing/2014/main" val="2145164744"/>
                    </a:ext>
                  </a:extLst>
                </a:gridCol>
                <a:gridCol w="336148">
                  <a:extLst>
                    <a:ext uri="{9D8B030D-6E8A-4147-A177-3AD203B41FA5}">
                      <a16:colId xmlns:a16="http://schemas.microsoft.com/office/drawing/2014/main" val="2169533948"/>
                    </a:ext>
                  </a:extLst>
                </a:gridCol>
                <a:gridCol w="336148">
                  <a:extLst>
                    <a:ext uri="{9D8B030D-6E8A-4147-A177-3AD203B41FA5}">
                      <a16:colId xmlns:a16="http://schemas.microsoft.com/office/drawing/2014/main" val="658382628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3841960409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1285925911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3897091617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3378755088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2666471979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897645362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4278284399"/>
                    </a:ext>
                  </a:extLst>
                </a:gridCol>
                <a:gridCol w="336580">
                  <a:extLst>
                    <a:ext uri="{9D8B030D-6E8A-4147-A177-3AD203B41FA5}">
                      <a16:colId xmlns:a16="http://schemas.microsoft.com/office/drawing/2014/main" val="2546432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</a:t>
                      </a:r>
                      <a:r>
                        <a:rPr lang="en-US" sz="1400" kern="100">
                          <a:effectLst/>
                        </a:rPr>
                        <a:t>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636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H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B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Д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Б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Б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Ъ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967220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B2595420-1CD1-C218-5D14-6DBE9C66B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97" y="2899103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lang="ru-RU" altLang="ru-KZ" sz="1400" dirty="0"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21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5C78-2746-A1BE-AF6C-66FE50A6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589A9324-DF2A-20DF-CE33-378101554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597" y="2899103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38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kumimoji="0" lang="ru-RU" altLang="ru-KZ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38300" algn="l"/>
              </a:tabLst>
            </a:pPr>
            <a:endParaRPr lang="ru-RU" altLang="ru-KZ" sz="1400" dirty="0"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 descr="Изображение выглядит как текст, рукописный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4960A5-0BBF-7051-FDBB-172370C24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3850149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D0245C-44EB-7B6F-AEC1-B05D77D088AF}"/>
              </a:ext>
            </a:extLst>
          </p:cNvPr>
          <p:cNvSpPr txBox="1"/>
          <p:nvPr/>
        </p:nvSpPr>
        <p:spPr>
          <a:xfrm>
            <a:off x="3928263" y="2076701"/>
            <a:ext cx="5003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  <a:tabLst>
                <a:tab pos="1638300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Получили исходное сообщение</a:t>
            </a:r>
            <a:endParaRPr lang="ru-KZ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9D6B335-DF65-C561-9D59-5AEF700ED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852642"/>
              </p:ext>
            </p:extLst>
          </p:nvPr>
        </p:nvGraphicFramePr>
        <p:xfrm>
          <a:off x="3994099" y="2485845"/>
          <a:ext cx="4396432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056">
                  <a:extLst>
                    <a:ext uri="{9D8B030D-6E8A-4147-A177-3AD203B41FA5}">
                      <a16:colId xmlns:a16="http://schemas.microsoft.com/office/drawing/2014/main" val="2330658711"/>
                    </a:ext>
                  </a:extLst>
                </a:gridCol>
                <a:gridCol w="366056">
                  <a:extLst>
                    <a:ext uri="{9D8B030D-6E8A-4147-A177-3AD203B41FA5}">
                      <a16:colId xmlns:a16="http://schemas.microsoft.com/office/drawing/2014/main" val="1327129403"/>
                    </a:ext>
                  </a:extLst>
                </a:gridCol>
                <a:gridCol w="366056">
                  <a:extLst>
                    <a:ext uri="{9D8B030D-6E8A-4147-A177-3AD203B41FA5}">
                      <a16:colId xmlns:a16="http://schemas.microsoft.com/office/drawing/2014/main" val="237579099"/>
                    </a:ext>
                  </a:extLst>
                </a:gridCol>
                <a:gridCol w="366056">
                  <a:extLst>
                    <a:ext uri="{9D8B030D-6E8A-4147-A177-3AD203B41FA5}">
                      <a16:colId xmlns:a16="http://schemas.microsoft.com/office/drawing/2014/main" val="3777263400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998439869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2621449545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412195169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3266788874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2711958703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4021904716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1897724110"/>
                    </a:ext>
                  </a:extLst>
                </a:gridCol>
                <a:gridCol w="366526">
                  <a:extLst>
                    <a:ext uri="{9D8B030D-6E8A-4147-A177-3AD203B41FA5}">
                      <a16:colId xmlns:a16="http://schemas.microsoft.com/office/drawing/2014/main" val="3288598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3326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C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С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О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854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49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4E8B3484-D867-3FEC-4F99-D8CF2A239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pic>
        <p:nvPicPr>
          <p:cNvPr id="17" name="Рисунок 16" descr="Изображение выглядит как текст, рукописный текст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8F79DB-43E0-BBCB-DCF1-B6D0993A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12967" cy="5143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95C795-D680-7155-3740-2566951273C1}"/>
              </a:ext>
            </a:extLst>
          </p:cNvPr>
          <p:cNvSpPr txBox="1"/>
          <p:nvPr/>
        </p:nvSpPr>
        <p:spPr>
          <a:xfrm>
            <a:off x="3915506" y="1796688"/>
            <a:ext cx="5003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  <a:tabLst>
                <a:tab pos="1638300" algn="l"/>
              </a:tabLst>
            </a:pPr>
            <a:r>
              <a:rPr lang="ru-RU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Испорченное сообщение после расшифровки осталось испорченным в тройке, где были порченые биты</a:t>
            </a:r>
            <a:endParaRPr lang="ru-KZ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80C74079-ED93-EADC-6725-8FB6A8BA9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472467"/>
              </p:ext>
            </p:extLst>
          </p:nvPr>
        </p:nvGraphicFramePr>
        <p:xfrm>
          <a:off x="4030768" y="2779122"/>
          <a:ext cx="4758940" cy="426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239">
                  <a:extLst>
                    <a:ext uri="{9D8B030D-6E8A-4147-A177-3AD203B41FA5}">
                      <a16:colId xmlns:a16="http://schemas.microsoft.com/office/drawing/2014/main" val="2722123704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1046602364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595799595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1257228811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2839644182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815678579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3951307136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4023912547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2623189385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694804372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2538054682"/>
                    </a:ext>
                  </a:extLst>
                </a:gridCol>
                <a:gridCol w="396748">
                  <a:extLst>
                    <a:ext uri="{9D8B030D-6E8A-4147-A177-3AD203B41FA5}">
                      <a16:colId xmlns:a16="http://schemas.microsoft.com/office/drawing/2014/main" val="2995411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</a:t>
                      </a:r>
                      <a:r>
                        <a:rPr lang="en-US" sz="1400" kern="100">
                          <a:effectLst/>
                        </a:rPr>
                        <a:t>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424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E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C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Й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З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С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О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4277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982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684267-BA7F-D4BD-C825-ED3594748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4" y="804381"/>
            <a:ext cx="8573696" cy="4153480"/>
          </a:xfrm>
          <a:prstGeom prst="rect">
            <a:avLst/>
          </a:prstGeom>
        </p:spPr>
      </p:pic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663B82BB-4FAB-4AD4-DF28-93E16B1CC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DC5BB-995F-5445-2CC0-6DA796B482BF}"/>
              </a:ext>
            </a:extLst>
          </p:cNvPr>
          <p:cNvSpPr txBox="1"/>
          <p:nvPr/>
        </p:nvSpPr>
        <p:spPr>
          <a:xfrm>
            <a:off x="2772697" y="9045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в)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501089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CB7E-B93F-424C-2722-AA690ED1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7AFED78F-2CD0-EB9E-78F6-F1A0EB767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59AC9B-E7B3-796C-BEEE-3C74D9B9940D}"/>
              </a:ext>
            </a:extLst>
          </p:cNvPr>
          <p:cNvSpPr txBox="1"/>
          <p:nvPr/>
        </p:nvSpPr>
        <p:spPr>
          <a:xfrm>
            <a:off x="2772697" y="90456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</a:t>
            </a:r>
            <a:endParaRPr lang="ru-KZ" dirty="0"/>
          </a:p>
        </p:txBody>
      </p:sp>
      <p:pic>
        <p:nvPicPr>
          <p:cNvPr id="5" name="Рисунок 4" descr="Изображение выглядит как текст, снимок экрана, Шрифт, число">
            <a:extLst>
              <a:ext uri="{FF2B5EF4-FFF2-40B4-BE49-F238E27FC236}">
                <a16:creationId xmlns:a16="http://schemas.microsoft.com/office/drawing/2014/main" id="{1FC5CAC7-65DA-B9A9-C95E-29AB45BDA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680" y="671773"/>
            <a:ext cx="5265663" cy="44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67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2FEE-3C7D-D134-37B0-DF461728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814AB49D-BA5A-57E7-7073-6316B9F15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4A387-D7D3-8880-ABA2-592454D3841F}"/>
              </a:ext>
            </a:extLst>
          </p:cNvPr>
          <p:cNvSpPr txBox="1"/>
          <p:nvPr/>
        </p:nvSpPr>
        <p:spPr>
          <a:xfrm>
            <a:off x="2772697" y="90456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</a:t>
            </a:r>
            <a:endParaRPr lang="ru-KZ" dirty="0"/>
          </a:p>
        </p:txBody>
      </p:sp>
      <p:pic>
        <p:nvPicPr>
          <p:cNvPr id="3" name="Рисунок 2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236B1577-6B9F-E4DA-25CA-BA820D498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805" y="1089235"/>
            <a:ext cx="6024389" cy="308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57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C9E3A-DA37-8C5C-25E1-1036F768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57" y="1878961"/>
            <a:ext cx="4957267" cy="251427"/>
          </a:xfrm>
        </p:spPr>
        <p:txBody>
          <a:bodyPr>
            <a:noAutofit/>
          </a:bodyPr>
          <a:lstStyle/>
          <a:p>
            <a:r>
              <a:rPr lang="ru-RU" sz="1200" u="sng" dirty="0"/>
              <a:t>Формулировка</a:t>
            </a:r>
            <a:r>
              <a:rPr lang="en-US" sz="1200" u="sng" dirty="0"/>
              <a:t>:</a:t>
            </a:r>
            <a:br>
              <a:rPr lang="ru-KZ" sz="1200" b="0" dirty="0"/>
            </a:br>
            <a:r>
              <a:rPr lang="ru-RU" sz="1200" b="0" dirty="0"/>
              <a:t>Используйте алфавит, который вы составили в предыдущем задании, и какой-нибудь ключ размера 2 × 2. В идеале автоматизировать процесс так, чтобы ключ сгенерировался случайным образом и вы не знали его до самого конца. </a:t>
            </a:r>
            <a:br>
              <a:rPr lang="ru-KZ" sz="1200" b="0" dirty="0"/>
            </a:br>
            <a:r>
              <a:rPr lang="ru-RU" sz="1200" b="0" dirty="0"/>
              <a:t>Возьмите два различных сообщения из 12 символов и зашифруйте их. </a:t>
            </a:r>
            <a:br>
              <a:rPr lang="ru-RU" sz="1200" b="0" dirty="0"/>
            </a:br>
            <a:br>
              <a:rPr lang="ru-KZ" sz="1200" b="0" dirty="0"/>
            </a:br>
            <a:r>
              <a:rPr lang="ru-RU" sz="1200" b="0" dirty="0"/>
              <a:t>«Забудьте» одно из исходных сообщений. Имея на руках два зашифрованных сообщения и один оригинал, найдите способ </a:t>
            </a:r>
            <a:br>
              <a:rPr lang="ru-KZ" sz="1200" b="0" dirty="0"/>
            </a:br>
            <a:r>
              <a:rPr lang="ru-RU" sz="1200" b="0" dirty="0"/>
              <a:t>расшифровать второе сообщение.</a:t>
            </a:r>
            <a:br>
              <a:rPr lang="ru-RU" sz="1200" b="0" dirty="0"/>
            </a:br>
            <a:r>
              <a:rPr lang="ru-RU" sz="1200" b="0" dirty="0"/>
              <a:t>Алфавит</a:t>
            </a:r>
            <a:br>
              <a:rPr lang="ru-RU" sz="1200" b="0" dirty="0"/>
            </a:br>
            <a:r>
              <a:rPr lang="en-US" sz="1200" b="0" dirty="0"/>
              <a:t>n=37</a:t>
            </a:r>
            <a:br>
              <a:rPr lang="ru-RU" sz="1200" b="0" dirty="0"/>
            </a:br>
            <a:br>
              <a:rPr lang="ru-KZ" sz="1800" b="0" dirty="0"/>
            </a:br>
            <a:endParaRPr lang="ru-KZ" sz="1800" b="0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671B2319-EFF8-B108-A88B-A7D63BD5C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B5A68A6D-4175-75D5-0693-C1BF8100CE9B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71CCF3D4-37CA-7E77-199A-38E1882F5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47228"/>
              </p:ext>
            </p:extLst>
          </p:nvPr>
        </p:nvGraphicFramePr>
        <p:xfrm>
          <a:off x="547296" y="3574220"/>
          <a:ext cx="6858591" cy="5716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9665">
                  <a:extLst>
                    <a:ext uri="{9D8B030D-6E8A-4147-A177-3AD203B41FA5}">
                      <a16:colId xmlns:a16="http://schemas.microsoft.com/office/drawing/2014/main" val="2530493247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2781060277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461213954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1104604485"/>
                    </a:ext>
                  </a:extLst>
                </a:gridCol>
                <a:gridCol w="360399">
                  <a:extLst>
                    <a:ext uri="{9D8B030D-6E8A-4147-A177-3AD203B41FA5}">
                      <a16:colId xmlns:a16="http://schemas.microsoft.com/office/drawing/2014/main" val="3319384248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3627441627"/>
                    </a:ext>
                  </a:extLst>
                </a:gridCol>
                <a:gridCol w="366271">
                  <a:extLst>
                    <a:ext uri="{9D8B030D-6E8A-4147-A177-3AD203B41FA5}">
                      <a16:colId xmlns:a16="http://schemas.microsoft.com/office/drawing/2014/main" val="1950400330"/>
                    </a:ext>
                  </a:extLst>
                </a:gridCol>
                <a:gridCol w="366271">
                  <a:extLst>
                    <a:ext uri="{9D8B030D-6E8A-4147-A177-3AD203B41FA5}">
                      <a16:colId xmlns:a16="http://schemas.microsoft.com/office/drawing/2014/main" val="3134988203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2692161136"/>
                    </a:ext>
                  </a:extLst>
                </a:gridCol>
                <a:gridCol w="360399">
                  <a:extLst>
                    <a:ext uri="{9D8B030D-6E8A-4147-A177-3AD203B41FA5}">
                      <a16:colId xmlns:a16="http://schemas.microsoft.com/office/drawing/2014/main" val="4226883190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131042081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874603881"/>
                    </a:ext>
                  </a:extLst>
                </a:gridCol>
                <a:gridCol w="369941">
                  <a:extLst>
                    <a:ext uri="{9D8B030D-6E8A-4147-A177-3AD203B41FA5}">
                      <a16:colId xmlns:a16="http://schemas.microsoft.com/office/drawing/2014/main" val="4057053416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1231039619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2191364534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3080899235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2494206961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1816549823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3053645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19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27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29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36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30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Т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У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Ф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Х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Ц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Ч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Ш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Щ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Ъ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Ы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Ь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Э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Ю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Я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␣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.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,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!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?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164028"/>
                  </a:ext>
                </a:extLst>
              </a:tr>
            </a:tbl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4B328C54-E371-69AB-26B0-8E700596F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B0F9A244-1695-C8D6-C715-1E8C30A30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896978"/>
              </p:ext>
            </p:extLst>
          </p:nvPr>
        </p:nvGraphicFramePr>
        <p:xfrm>
          <a:off x="547296" y="2892147"/>
          <a:ext cx="5933440" cy="581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565">
                  <a:extLst>
                    <a:ext uri="{9D8B030D-6E8A-4147-A177-3AD203B41FA5}">
                      <a16:colId xmlns:a16="http://schemas.microsoft.com/office/drawing/2014/main" val="40199549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21205137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539103015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961825320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851071446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553269942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933653291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727540235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556711194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320972656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252596704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344412192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1549499491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3854639775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722208324"/>
                    </a:ext>
                  </a:extLst>
                </a:gridCol>
                <a:gridCol w="329565">
                  <a:extLst>
                    <a:ext uri="{9D8B030D-6E8A-4147-A177-3AD203B41FA5}">
                      <a16:colId xmlns:a16="http://schemas.microsoft.com/office/drawing/2014/main" val="20219840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91756357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515349275"/>
                    </a:ext>
                  </a:extLst>
                </a:gridCol>
              </a:tblGrid>
              <a:tr h="2956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KZ" sz="1400" kern="0">
                          <a:effectLst/>
                        </a:rPr>
                        <a:t> </a:t>
                      </a:r>
                      <a:r>
                        <a:rPr lang="ru-RU" sz="1400" kern="0">
                          <a:effectLst/>
                        </a:rPr>
                        <a:t>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 dirty="0">
                          <a:effectLst/>
                        </a:rPr>
                        <a:t>7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8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9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10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11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12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13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14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15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16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0">
                          <a:effectLst/>
                        </a:rPr>
                        <a:t>17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9535411"/>
                  </a:ext>
                </a:extLst>
              </a:tr>
              <a:tr h="14368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А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Б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В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Г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Д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Е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Ж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З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И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Й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К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Л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М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Н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О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П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Р</a:t>
                      </a:r>
                      <a:endParaRPr lang="ru-KZ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С</a:t>
                      </a:r>
                      <a:endParaRPr lang="ru-KZ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113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352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F657-3423-B98A-B60D-9E9E3C5F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90B59-A986-377B-C73F-A81A6BA3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30" y="2161296"/>
            <a:ext cx="6482577" cy="1393231"/>
          </a:xfrm>
        </p:spPr>
        <p:txBody>
          <a:bodyPr>
            <a:noAutofit/>
          </a:bodyPr>
          <a:lstStyle/>
          <a:p>
            <a:r>
              <a:rPr lang="ru-RU" sz="1500" b="0" dirty="0"/>
              <a:t>1. </a:t>
            </a:r>
            <a:r>
              <a:rPr lang="ru-RU" sz="1500" u="sng" dirty="0"/>
              <a:t>Открытый текст разбивается на блоки по два символа и представляется в виде векторов-столбцов</a:t>
            </a:r>
            <a:r>
              <a:rPr lang="ru-RU" sz="1500" b="0" dirty="0"/>
              <a:t>:</a:t>
            </a:r>
            <a:br>
              <a:rPr lang="ru-KZ" sz="1500" b="0" dirty="0"/>
            </a:br>
            <a:r>
              <a:rPr lang="ru-RU" sz="1500" b="0" dirty="0"/>
              <a:t>P</a:t>
            </a:r>
            <a:r>
              <a:rPr lang="en-US" sz="1500" b="0" baseline="-25000" dirty="0" err="1"/>
              <a:t>i</a:t>
            </a:r>
            <a:r>
              <a:rPr lang="ru-RU" sz="1500" b="0" dirty="0"/>
              <a:t> = [ p₁ </a:t>
            </a:r>
            <a:br>
              <a:rPr lang="ru-KZ" sz="1500" b="0" dirty="0"/>
            </a:br>
            <a:r>
              <a:rPr lang="ru-RU" sz="1500" b="0" dirty="0"/>
              <a:t>         p₂ ]</a:t>
            </a:r>
            <a:br>
              <a:rPr lang="ru-KZ" sz="1500" b="0" dirty="0"/>
            </a:br>
            <a:r>
              <a:rPr lang="ru-RU" sz="1500" b="0" dirty="0"/>
              <a:t>Шифрование одного блока выполняется по формуле:</a:t>
            </a:r>
            <a:br>
              <a:rPr lang="ru-KZ" sz="1500" b="0" dirty="0"/>
            </a:br>
            <a:r>
              <a:rPr lang="ru-RU" sz="1500" b="0" dirty="0"/>
              <a:t>C = K · P (</a:t>
            </a:r>
            <a:r>
              <a:rPr lang="ru-RU" sz="1500" b="0" dirty="0" err="1"/>
              <a:t>mod</a:t>
            </a:r>
            <a:r>
              <a:rPr lang="ru-RU" sz="1500" b="0" dirty="0"/>
              <a:t> 37)</a:t>
            </a:r>
            <a:br>
              <a:rPr lang="ru-KZ" sz="1500" b="0" dirty="0"/>
            </a:br>
            <a:r>
              <a:rPr lang="ru-RU" sz="1500" b="0" dirty="0"/>
              <a:t>где C — соответствующий блок </a:t>
            </a:r>
            <a:r>
              <a:rPr lang="ru-RU" sz="1500" b="0" dirty="0" err="1"/>
              <a:t>шифртекста</a:t>
            </a:r>
            <a:r>
              <a:rPr lang="ru-RU" sz="1500" b="0" dirty="0"/>
              <a:t>.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br>
              <a:rPr lang="ru-RU" sz="1200" b="0" dirty="0"/>
            </a:br>
            <a:br>
              <a:rPr lang="ru-KZ" sz="1200" b="0" dirty="0"/>
            </a:br>
            <a:endParaRPr lang="ru-KZ" sz="1200" b="0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F8DF12E5-EB97-7DAB-1492-3747F3E7B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754C9D6-79FE-4FA8-BB8C-C13AD12B6136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F8D8A59E-C20D-2054-B0D4-800959F86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26585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88A8-4445-3F45-82A4-EBB99E57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11D1C-1B6F-FD4E-015C-00EF10683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30" y="2161296"/>
            <a:ext cx="6482577" cy="1393231"/>
          </a:xfrm>
        </p:spPr>
        <p:txBody>
          <a:bodyPr>
            <a:noAutofit/>
          </a:bodyPr>
          <a:lstStyle/>
          <a:p>
            <a:r>
              <a:rPr lang="en-US" sz="1600" b="0" dirty="0"/>
              <a:t>2. </a:t>
            </a:r>
            <a:r>
              <a:rPr lang="ru-RU" sz="1600" u="sng" dirty="0"/>
              <a:t>Задача</a:t>
            </a:r>
            <a:br>
              <a:rPr lang="ru-KZ" sz="1600" b="0" dirty="0"/>
            </a:br>
            <a:r>
              <a:rPr lang="ru-RU" sz="1600" b="0" dirty="0"/>
              <a:t>Дано:</a:t>
            </a:r>
            <a:br>
              <a:rPr lang="ru-KZ" sz="1600" b="0" dirty="0"/>
            </a:br>
            <a:r>
              <a:rPr lang="ru-RU" sz="1600" b="0" dirty="0"/>
              <a:t>открытый текст длины 12 символов (6 блоков по 2 символа);</a:t>
            </a:r>
            <a:br>
              <a:rPr lang="ru-KZ" sz="1600" b="0" dirty="0"/>
            </a:br>
            <a:r>
              <a:rPr lang="ru-RU" sz="1600" b="0" dirty="0"/>
              <a:t>зашифрованный текст, полученный с использованием одного и того же ключа 2×2.</a:t>
            </a:r>
            <a:br>
              <a:rPr lang="ru-KZ" sz="1600" b="0" dirty="0"/>
            </a:br>
            <a:r>
              <a:rPr lang="ru-RU" sz="1600" b="0" dirty="0"/>
              <a:t>Требуется:</a:t>
            </a:r>
            <a:br>
              <a:rPr lang="ru-KZ" sz="1600" b="0" dirty="0"/>
            </a:br>
            <a:r>
              <a:rPr lang="ru-RU" sz="1600" b="0" dirty="0"/>
              <a:t>восстановить ключевую матрицу K и далее расшифровать второе сообщение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br>
              <a:rPr lang="ru-RU" sz="1200" b="0" dirty="0"/>
            </a:br>
            <a:br>
              <a:rPr lang="ru-KZ" sz="1200" b="0" dirty="0"/>
            </a:br>
            <a:endParaRPr lang="ru-KZ" sz="1200" b="0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53DF507A-34BA-7C86-A952-52F51A9B8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2EEDDDB-B888-2D10-60B3-6E81714313AD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F4507CBB-3A65-1833-E124-492072C03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41026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83FCB-C658-8B4E-6EAA-98640D1A5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0A945F29-A58D-1316-3286-0B0473E3E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45C18EA-6250-0E6B-618A-D488C2F58B78}"/>
              </a:ext>
            </a:extLst>
          </p:cNvPr>
          <p:cNvSpPr txBox="1">
            <a:spLocks/>
          </p:cNvSpPr>
          <p:nvPr/>
        </p:nvSpPr>
        <p:spPr>
          <a:xfrm>
            <a:off x="492557" y="106705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A9056C76-AB15-291D-F522-EED736CF0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718BC86-E3E6-27FF-500F-9B0568C4FD29}"/>
              </a:ext>
            </a:extLst>
          </p:cNvPr>
          <p:cNvSpPr txBox="1">
            <a:spLocks/>
          </p:cNvSpPr>
          <p:nvPr/>
        </p:nvSpPr>
        <p:spPr>
          <a:xfrm>
            <a:off x="464578" y="1875134"/>
            <a:ext cx="7132379" cy="13932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500" b="0" dirty="0"/>
              <a:t>3</a:t>
            </a:r>
            <a:r>
              <a:rPr lang="ru-RU" sz="1500" dirty="0"/>
              <a:t>. </a:t>
            </a:r>
            <a:r>
              <a:rPr lang="ru-RU" sz="1500" u="sng" dirty="0"/>
              <a:t>Алгоритм нахождения ключа</a:t>
            </a:r>
            <a:br>
              <a:rPr lang="en-US" sz="1500" b="0" dirty="0"/>
            </a:br>
            <a:br>
              <a:rPr lang="ru-KZ" sz="1500" b="0" dirty="0"/>
            </a:br>
            <a:r>
              <a:rPr lang="ru-RU" sz="1500" b="0" dirty="0"/>
              <a:t>1. Открытый и зашифрованный текст разбиваются на блоки по 2 символа.</a:t>
            </a:r>
            <a:br>
              <a:rPr lang="ru-KZ" sz="1500" b="0" dirty="0"/>
            </a:br>
            <a:r>
              <a:rPr lang="ru-RU" sz="1500" b="0" dirty="0"/>
              <a:t>2. Из открытого текста выбираются 2 блока </a:t>
            </a:r>
            <a:r>
              <a:rPr lang="en-US" sz="1500" b="0" dirty="0"/>
              <a:t>P</a:t>
            </a:r>
            <a:r>
              <a:rPr lang="en-US" sz="1500" b="0" baseline="-25000" dirty="0"/>
              <a:t>i</a:t>
            </a:r>
            <a:r>
              <a:rPr lang="en-US" sz="1500" b="0" dirty="0"/>
              <a:t> </a:t>
            </a:r>
            <a:r>
              <a:rPr lang="ru-RU" sz="1500" b="0" dirty="0"/>
              <a:t>и </a:t>
            </a:r>
            <a:r>
              <a:rPr lang="en-US" sz="1500" b="0" dirty="0" err="1"/>
              <a:t>P</a:t>
            </a:r>
            <a:r>
              <a:rPr lang="en-US" sz="1500" b="0" baseline="-25000" dirty="0" err="1"/>
              <a:t>j</a:t>
            </a:r>
            <a:r>
              <a:rPr lang="ru-RU" sz="1500" b="0" dirty="0"/>
              <a:t>, из них составляется матрица </a:t>
            </a:r>
            <a:r>
              <a:rPr lang="en-US" sz="1500" b="0" dirty="0"/>
              <a:t>P</a:t>
            </a:r>
            <a:r>
              <a:rPr lang="ru-RU" sz="1500" b="0" dirty="0"/>
              <a:t>.</a:t>
            </a:r>
            <a:br>
              <a:rPr lang="ru-KZ" sz="1500" b="0" dirty="0"/>
            </a:br>
            <a:r>
              <a:rPr lang="ru-RU" sz="1500" b="0" dirty="0"/>
              <a:t>3. Вычисляем </a:t>
            </a:r>
            <a:r>
              <a:rPr lang="en-US" sz="1500" b="0" dirty="0"/>
              <a:t>det P</a:t>
            </a:r>
            <a:r>
              <a:rPr lang="ru-RU" sz="1500" b="0" dirty="0"/>
              <a:t>.</a:t>
            </a:r>
            <a:br>
              <a:rPr lang="ru-KZ" sz="1500" b="0" dirty="0"/>
            </a:br>
            <a:r>
              <a:rPr lang="ru-RU" sz="1500" b="0" dirty="0"/>
              <a:t>Если НОД(</a:t>
            </a:r>
            <a:r>
              <a:rPr lang="en-US" sz="1500" b="0" dirty="0"/>
              <a:t>det P</a:t>
            </a:r>
            <a:r>
              <a:rPr lang="ru-RU" sz="1500" b="0" dirty="0"/>
              <a:t>, </a:t>
            </a:r>
            <a:r>
              <a:rPr lang="en-US" sz="1500" b="0" dirty="0"/>
              <a:t>n</a:t>
            </a:r>
            <a:r>
              <a:rPr lang="ru-RU" sz="1500" b="0" dirty="0"/>
              <a:t>) ≠ 1: матрица необратима, выбираем другую пару блоков(то есть возвращаемся на шаг 2).</a:t>
            </a:r>
            <a:br>
              <a:rPr lang="ru-KZ" sz="1500" b="0" dirty="0"/>
            </a:br>
            <a:r>
              <a:rPr lang="ru-RU" sz="1500" b="0" dirty="0"/>
              <a:t>4. Строим матрицу </a:t>
            </a:r>
            <a:r>
              <a:rPr lang="en-US" sz="1500" b="0" dirty="0"/>
              <a:t>C </a:t>
            </a:r>
            <a:r>
              <a:rPr lang="ru-RU" sz="1500" b="0" dirty="0"/>
              <a:t>зашифрованного текста, соответствующего </a:t>
            </a:r>
            <a:r>
              <a:rPr lang="en-US" sz="1500" b="0" dirty="0"/>
              <a:t>P</a:t>
            </a:r>
            <a:r>
              <a:rPr lang="ru-RU" sz="1500" b="0" dirty="0"/>
              <a:t>.</a:t>
            </a:r>
            <a:br>
              <a:rPr lang="ru-KZ" sz="1500" b="0" dirty="0"/>
            </a:br>
            <a:r>
              <a:rPr lang="ru-RU" sz="1500" b="0" dirty="0"/>
              <a:t>5. Находим </a:t>
            </a:r>
            <a:r>
              <a:rPr lang="en-US" sz="1500" b="0" dirty="0"/>
              <a:t>P</a:t>
            </a:r>
            <a:r>
              <a:rPr lang="ru-RU" sz="1500" b="0" baseline="30000" dirty="0"/>
              <a:t>-1</a:t>
            </a:r>
            <a:r>
              <a:rPr lang="ru-RU" sz="1500" b="0" dirty="0"/>
              <a:t>.</a:t>
            </a:r>
            <a:br>
              <a:rPr lang="ru-KZ" sz="1500" b="0" dirty="0"/>
            </a:br>
            <a:r>
              <a:rPr lang="ru-RU" sz="1500" b="0" dirty="0"/>
              <a:t>6. Находим ключ.</a:t>
            </a:r>
            <a:br>
              <a:rPr lang="ru-KZ" sz="1500" b="0" dirty="0"/>
            </a:br>
            <a:r>
              <a:rPr lang="en-US" sz="1500" b="0" dirty="0"/>
              <a:t>K</a:t>
            </a:r>
            <a:r>
              <a:rPr lang="ru-RU" sz="1500" b="0" dirty="0"/>
              <a:t> = (</a:t>
            </a:r>
            <a:r>
              <a:rPr lang="en-US" sz="1500" b="0" dirty="0"/>
              <a:t>C</a:t>
            </a:r>
            <a:r>
              <a:rPr lang="ru-RU" sz="1500" b="0" dirty="0"/>
              <a:t> * </a:t>
            </a:r>
            <a:r>
              <a:rPr lang="en-US" sz="1500" b="0" dirty="0"/>
              <a:t>P</a:t>
            </a:r>
            <a:r>
              <a:rPr lang="ru-RU" sz="1500" b="0" baseline="30000" dirty="0"/>
              <a:t>-1</a:t>
            </a:r>
            <a:r>
              <a:rPr lang="ru-RU" sz="1500" b="0" dirty="0"/>
              <a:t>) </a:t>
            </a:r>
            <a:r>
              <a:rPr lang="en-US" sz="1500" b="0" dirty="0"/>
              <a:t>mod</a:t>
            </a:r>
            <a:r>
              <a:rPr lang="ru-RU" sz="1500" b="0" dirty="0"/>
              <a:t> 37</a:t>
            </a:r>
            <a:endParaRPr lang="ru-KZ" sz="1500" b="0" dirty="0"/>
          </a:p>
        </p:txBody>
      </p:sp>
    </p:spTree>
    <p:extLst>
      <p:ext uri="{BB962C8B-B14F-4D97-AF65-F5344CB8AC3E}">
        <p14:creationId xmlns:p14="http://schemas.microsoft.com/office/powerpoint/2010/main" val="1638092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75310-AD89-597B-6BC0-6FFB2D06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6B37D-3DA4-7246-CDA1-AA93CF13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1" y="1919172"/>
            <a:ext cx="6471623" cy="1393231"/>
          </a:xfrm>
        </p:spPr>
        <p:txBody>
          <a:bodyPr>
            <a:noAutofit/>
          </a:bodyPr>
          <a:lstStyle/>
          <a:p>
            <a:r>
              <a:rPr lang="ru-RU" sz="1200" b="0" dirty="0"/>
              <a:t>4. </a:t>
            </a:r>
            <a:r>
              <a:rPr lang="ru-RU" sz="1200" u="sng" dirty="0"/>
              <a:t>Доказательство корректности алгоритма</a:t>
            </a:r>
            <a:br>
              <a:rPr lang="en-US" sz="1200" b="0" dirty="0"/>
            </a:br>
            <a:br>
              <a:rPr lang="ru-KZ" sz="1200" b="0" dirty="0"/>
            </a:br>
            <a:r>
              <a:rPr lang="ru-RU" sz="1200" b="0" dirty="0"/>
              <a:t>1. Рассмотрим два блока открытого текста </a:t>
            </a:r>
            <a:r>
              <a:rPr lang="en-US" sz="1200" b="0" dirty="0"/>
              <a:t>P</a:t>
            </a:r>
            <a:r>
              <a:rPr lang="ru-RU" sz="1200" b="0" baseline="-25000" dirty="0"/>
              <a:t>1</a:t>
            </a:r>
            <a:r>
              <a:rPr lang="ru-RU" sz="1200" b="0" dirty="0"/>
              <a:t> и </a:t>
            </a:r>
            <a:r>
              <a:rPr lang="en-US" sz="1200" b="0" dirty="0"/>
              <a:t>P</a:t>
            </a:r>
            <a:r>
              <a:rPr lang="ru-RU" sz="1200" b="0" baseline="-25000" dirty="0"/>
              <a:t>2</a:t>
            </a:r>
            <a:r>
              <a:rPr lang="ru-RU" sz="1200" b="0" dirty="0"/>
              <a:t> и соответствующие им блоки зашифрованного текста </a:t>
            </a:r>
            <a:r>
              <a:rPr lang="en-US" sz="1200" b="0" dirty="0"/>
              <a:t>C</a:t>
            </a:r>
            <a:r>
              <a:rPr lang="ru-RU" sz="1200" b="0" baseline="-25000" dirty="0"/>
              <a:t>1</a:t>
            </a:r>
            <a:r>
              <a:rPr lang="ru-RU" sz="1200" b="0" dirty="0"/>
              <a:t> и </a:t>
            </a:r>
            <a:r>
              <a:rPr lang="en-US" sz="1200" b="0" dirty="0"/>
              <a:t>C</a:t>
            </a:r>
            <a:r>
              <a:rPr lang="ru-RU" sz="1200" b="0" baseline="-25000" dirty="0"/>
              <a:t>2</a:t>
            </a:r>
            <a:r>
              <a:rPr lang="ru-RU" sz="1200" b="0" dirty="0"/>
              <a:t>. </a:t>
            </a:r>
            <a:br>
              <a:rPr lang="ru-KZ" sz="1200" b="0" dirty="0"/>
            </a:br>
            <a:r>
              <a:rPr lang="ru-RU" sz="1200" b="0" dirty="0"/>
              <a:t>Объединим их в матрицы </a:t>
            </a:r>
            <a:r>
              <a:rPr lang="en-US" sz="1200" b="0" dirty="0"/>
              <a:t>C </a:t>
            </a:r>
            <a:r>
              <a:rPr lang="ru-RU" sz="1200" b="0" dirty="0"/>
              <a:t>и </a:t>
            </a:r>
            <a:r>
              <a:rPr lang="en-US" sz="1200" b="0" dirty="0"/>
              <a:t>P</a:t>
            </a:r>
            <a:br>
              <a:rPr lang="ru-KZ" sz="1200" b="0" dirty="0"/>
            </a:br>
            <a:r>
              <a:rPr lang="en-US" sz="1200" b="0" dirty="0"/>
              <a:t>C = [C</a:t>
            </a:r>
            <a:r>
              <a:rPr lang="en-US" sz="1200" b="0" baseline="-25000" dirty="0"/>
              <a:t>1</a:t>
            </a:r>
            <a:r>
              <a:rPr lang="en-US" sz="1200" b="0" dirty="0"/>
              <a:t>, C</a:t>
            </a:r>
            <a:r>
              <a:rPr lang="en-US" sz="1200" b="0" baseline="-25000" dirty="0"/>
              <a:t>2</a:t>
            </a:r>
            <a:r>
              <a:rPr lang="en-US" sz="1200" b="0" dirty="0"/>
              <a:t>]</a:t>
            </a:r>
            <a:br>
              <a:rPr lang="ru-KZ" sz="1200" b="0" dirty="0"/>
            </a:br>
            <a:r>
              <a:rPr lang="en-US" sz="1200" b="0" dirty="0"/>
              <a:t>P = [P</a:t>
            </a:r>
            <a:r>
              <a:rPr lang="en-US" sz="1200" b="0" baseline="-25000" dirty="0"/>
              <a:t>1</a:t>
            </a:r>
            <a:r>
              <a:rPr lang="en-US" sz="1200" b="0" dirty="0"/>
              <a:t>, P</a:t>
            </a:r>
            <a:r>
              <a:rPr lang="en-US" sz="1200" b="0" baseline="-25000" dirty="0"/>
              <a:t>2</a:t>
            </a:r>
            <a:r>
              <a:rPr lang="en-US" sz="1200" b="0" dirty="0"/>
              <a:t>]</a:t>
            </a:r>
            <a:br>
              <a:rPr lang="ru-KZ" sz="1200" b="0" dirty="0"/>
            </a:br>
            <a:r>
              <a:rPr lang="en-US" sz="1200" b="0" dirty="0"/>
              <a:t>C = (K*P) mod(37)   (1)</a:t>
            </a:r>
            <a:br>
              <a:rPr lang="ru-KZ" sz="1200" b="0" dirty="0"/>
            </a:br>
            <a:r>
              <a:rPr lang="en-US" sz="1200" b="0" dirty="0"/>
              <a:t> </a:t>
            </a:r>
            <a:br>
              <a:rPr lang="ru-KZ" sz="1200" b="0" dirty="0"/>
            </a:br>
            <a:r>
              <a:rPr lang="ru-RU" sz="1200" b="0" dirty="0"/>
              <a:t>2. Если НОД(</a:t>
            </a:r>
            <a:r>
              <a:rPr lang="en-US" sz="1200" b="0" dirty="0"/>
              <a:t>det P</a:t>
            </a:r>
            <a:r>
              <a:rPr lang="ru-RU" sz="1200" b="0" dirty="0"/>
              <a:t>, </a:t>
            </a:r>
            <a:r>
              <a:rPr lang="en-US" sz="1200" b="0" dirty="0"/>
              <a:t>n</a:t>
            </a:r>
            <a:r>
              <a:rPr lang="ru-RU" sz="1200" b="0" dirty="0"/>
              <a:t>) = 1, то матрица </a:t>
            </a:r>
            <a:r>
              <a:rPr lang="en-US" sz="1200" b="0" dirty="0"/>
              <a:t>P </a:t>
            </a:r>
            <a:r>
              <a:rPr lang="ru-RU" sz="1200" b="0" dirty="0"/>
              <a:t>обратима -&gt; существует </a:t>
            </a:r>
            <a:r>
              <a:rPr lang="en-US" sz="1200" b="0" dirty="0"/>
              <a:t>P</a:t>
            </a:r>
            <a:r>
              <a:rPr lang="ru-RU" sz="1200" b="0" baseline="30000" dirty="0"/>
              <a:t>-1</a:t>
            </a:r>
            <a:r>
              <a:rPr lang="ru-RU" sz="1200" b="0" dirty="0"/>
              <a:t>. </a:t>
            </a:r>
            <a:br>
              <a:rPr lang="ru-KZ" sz="1200" b="0" dirty="0"/>
            </a:br>
            <a:r>
              <a:rPr lang="ru-RU" sz="1200" b="0" dirty="0"/>
              <a:t>Важна также линейная независимость, иначе матрицу нельзя обратить.</a:t>
            </a:r>
            <a:br>
              <a:rPr lang="ru-KZ" sz="1200" b="0" dirty="0"/>
            </a:br>
            <a:r>
              <a:rPr lang="ru-RU" sz="1200" b="0" dirty="0"/>
              <a:t>В случае невыполнения любого из пунктов, необходимо выбрать другие блоки.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r>
              <a:rPr lang="ru-RU" sz="1200" b="0" dirty="0"/>
              <a:t>3. Преобразуем (1)</a:t>
            </a:r>
            <a:br>
              <a:rPr lang="ru-KZ" sz="1200" b="0" dirty="0"/>
            </a:br>
            <a:r>
              <a:rPr lang="en-US" sz="1200" b="0" dirty="0"/>
              <a:t>C</a:t>
            </a:r>
            <a:r>
              <a:rPr lang="ru-RU" sz="1200" b="0" dirty="0"/>
              <a:t> * </a:t>
            </a:r>
            <a:r>
              <a:rPr lang="en-US" sz="1200" b="0" dirty="0"/>
              <a:t>P</a:t>
            </a:r>
            <a:r>
              <a:rPr lang="ru-RU" sz="1200" b="0" baseline="30000" dirty="0"/>
              <a:t>-1</a:t>
            </a:r>
            <a:r>
              <a:rPr lang="ru-RU" sz="1200" b="0" dirty="0"/>
              <a:t> = </a:t>
            </a:r>
            <a:r>
              <a:rPr lang="en-US" sz="1200" b="0" dirty="0"/>
              <a:t>K</a:t>
            </a:r>
            <a:r>
              <a:rPr lang="ru-RU" sz="1200" b="0" dirty="0"/>
              <a:t> * </a:t>
            </a:r>
            <a:r>
              <a:rPr lang="en-US" sz="1200" b="0" dirty="0"/>
              <a:t>I</a:t>
            </a:r>
            <a:r>
              <a:rPr lang="ru-RU" sz="1200" b="0" dirty="0"/>
              <a:t> = </a:t>
            </a:r>
            <a:r>
              <a:rPr lang="en-US" sz="1200" b="0" dirty="0"/>
              <a:t>K</a:t>
            </a:r>
            <a:br>
              <a:rPr lang="ru-KZ" sz="1200" b="0" dirty="0"/>
            </a:br>
            <a:r>
              <a:rPr lang="en-US" sz="1200" b="0" dirty="0"/>
              <a:t>K </a:t>
            </a:r>
            <a:r>
              <a:rPr lang="ru-RU" sz="1200" b="0" dirty="0"/>
              <a:t>найден.</a:t>
            </a:r>
            <a:endParaRPr lang="ru-KZ" sz="1200" b="0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260092F5-FDC6-EA5F-17E5-FC8591087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96DF7A6-BF0B-D4B7-0192-30B7BA40E26F}"/>
              </a:ext>
            </a:extLst>
          </p:cNvPr>
          <p:cNvSpPr txBox="1">
            <a:spLocks/>
          </p:cNvSpPr>
          <p:nvPr/>
        </p:nvSpPr>
        <p:spPr>
          <a:xfrm>
            <a:off x="492557" y="106705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BA98B8E4-BEC1-2F74-36DE-C61EAC0A7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34977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2064-F1AE-27A9-4C32-2D42C2C5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03F50-21BE-E795-6886-A7725C88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557" y="2144738"/>
            <a:ext cx="7029047" cy="1393231"/>
          </a:xfrm>
        </p:spPr>
        <p:txBody>
          <a:bodyPr>
            <a:noAutofit/>
          </a:bodyPr>
          <a:lstStyle/>
          <a:p>
            <a:r>
              <a:rPr lang="ru-RU" sz="1400" b="0" dirty="0"/>
              <a:t>5. </a:t>
            </a:r>
            <a:r>
              <a:rPr lang="ru-RU" sz="1400" u="sng" dirty="0"/>
              <a:t>Пример</a:t>
            </a:r>
            <a:br>
              <a:rPr lang="ru-KZ" sz="1400" b="0" dirty="0"/>
            </a:br>
            <a:r>
              <a:rPr lang="ru-RU" sz="1400" b="0" dirty="0"/>
              <a:t>Входные данные:</a:t>
            </a:r>
            <a:br>
              <a:rPr lang="ru-KZ" sz="1400" b="0" dirty="0"/>
            </a:br>
            <a:r>
              <a:rPr lang="ru-RU" sz="1400" b="0" dirty="0"/>
              <a:t>Открытый текст1 = СЕССИЯ</a:t>
            </a:r>
            <a:r>
              <a:rPr lang="en-US" sz="1400" b="0" dirty="0"/>
              <a:t>␣</a:t>
            </a:r>
            <a:r>
              <a:rPr lang="ru-RU" sz="1400" b="0" dirty="0"/>
              <a:t>СКОРО</a:t>
            </a:r>
            <a:br>
              <a:rPr lang="ru-KZ" sz="1400" b="0" dirty="0"/>
            </a:br>
            <a:r>
              <a:rPr lang="ru-RU" sz="1400" b="0" dirty="0"/>
              <a:t>Зашифрованный текст1 = У,ЕИВАЬР?МЧЮ</a:t>
            </a:r>
            <a:br>
              <a:rPr lang="ru-KZ" sz="1400" b="0" dirty="0"/>
            </a:br>
            <a:r>
              <a:rPr lang="ru-RU" sz="1400" b="0" dirty="0"/>
              <a:t>Зашифрованный текст2 = Э!Е</a:t>
            </a:r>
            <a:r>
              <a:rPr lang="en-US" sz="1400" b="0" dirty="0"/>
              <a:t>␣</a:t>
            </a:r>
            <a:r>
              <a:rPr lang="ru-RU" sz="1400" b="0" dirty="0"/>
              <a:t>?НАИОЯСГ</a:t>
            </a:r>
            <a:br>
              <a:rPr lang="ru-KZ" sz="1400" b="0" dirty="0"/>
            </a:br>
            <a:r>
              <a:rPr lang="ru-RU" sz="1400" b="0" dirty="0"/>
              <a:t> </a:t>
            </a:r>
            <a:br>
              <a:rPr lang="ru-KZ" sz="1400" b="0" dirty="0"/>
            </a:br>
            <a:r>
              <a:rPr lang="ru-RU" sz="1400" b="0" dirty="0"/>
              <a:t>Необходимо:</a:t>
            </a:r>
            <a:br>
              <a:rPr lang="ru-KZ" sz="1400" b="0" dirty="0"/>
            </a:br>
            <a:r>
              <a:rPr lang="ru-RU" sz="1400" b="0" dirty="0"/>
              <a:t>Найти ключ, расшифровать текст2</a:t>
            </a:r>
            <a:br>
              <a:rPr lang="ru-KZ" sz="1400" b="0" dirty="0"/>
            </a:br>
            <a:r>
              <a:rPr lang="ru-RU" sz="1400" b="0" dirty="0"/>
              <a:t>Решение:</a:t>
            </a:r>
            <a:br>
              <a:rPr lang="ru-KZ" sz="1400" b="0" dirty="0"/>
            </a:br>
            <a:r>
              <a:rPr lang="ru-RU" sz="1400" b="0" dirty="0"/>
              <a:t>Разбиваем открытый и зашифрованный тексты на блоки.</a:t>
            </a:r>
            <a:br>
              <a:rPr lang="ru-KZ" sz="1400" b="0" dirty="0"/>
            </a:br>
            <a:r>
              <a:rPr lang="en-US" sz="1400" b="0" dirty="0"/>
              <a:t>P</a:t>
            </a:r>
            <a:r>
              <a:rPr lang="ru-RU" sz="1400" b="0" dirty="0"/>
              <a:t> = [17 17  8  32 10 16</a:t>
            </a:r>
            <a:br>
              <a:rPr lang="ru-KZ" sz="1400" b="0" dirty="0"/>
            </a:br>
            <a:r>
              <a:rPr lang="ru-RU" sz="1400" b="0" dirty="0"/>
              <a:t>        5   17 31 17 14 14]</a:t>
            </a:r>
            <a:br>
              <a:rPr lang="ru-KZ" sz="1400" b="0" dirty="0"/>
            </a:br>
            <a:r>
              <a:rPr lang="en-US" sz="1400" b="0" dirty="0"/>
              <a:t>C</a:t>
            </a:r>
            <a:r>
              <a:rPr lang="ru-RU" sz="1400" b="0" dirty="0"/>
              <a:t> =  [19 5  2 28 36 23</a:t>
            </a:r>
            <a:br>
              <a:rPr lang="ru-KZ" sz="1400" b="0" dirty="0"/>
            </a:br>
            <a:r>
              <a:rPr lang="ru-RU" sz="1400" b="0" dirty="0"/>
              <a:t>         34  8 0 16 12 30]</a:t>
            </a:r>
            <a:br>
              <a:rPr lang="ru-KZ" sz="1200" b="0" dirty="0"/>
            </a:br>
            <a:br>
              <a:rPr lang="ru-RU" sz="1200" b="0" dirty="0"/>
            </a:br>
            <a:br>
              <a:rPr lang="ru-KZ" sz="1200" b="0" dirty="0"/>
            </a:br>
            <a:endParaRPr lang="ru-KZ" sz="1200" b="0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06D58D1B-4C3E-EE40-EBE4-FB58E32A1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58CC2294-A45D-3D76-6A1C-922B24BC62D2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3530F075-17FE-8B7B-A72F-1823DFE7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09505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CBE3-59F1-C8DE-434A-60936C84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867792D6-D940-2A4F-E47B-B097AC86A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369DA7A-7B72-FF01-A0C8-81147D8D0E6B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074B46D-0C64-439C-BB3F-E15A24CB4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61152-C929-8958-0B33-B7FCCA60B90C}"/>
              </a:ext>
            </a:extLst>
          </p:cNvPr>
          <p:cNvSpPr txBox="1"/>
          <p:nvPr/>
        </p:nvSpPr>
        <p:spPr>
          <a:xfrm>
            <a:off x="1924246" y="692440"/>
            <a:ext cx="59223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/>
              <a:t>Возьмём первые два столбца матрицы P:</a:t>
            </a:r>
            <a:br>
              <a:rPr lang="ru-KZ" sz="1200" b="0" dirty="0"/>
            </a:br>
            <a:r>
              <a:rPr lang="ru-RU" sz="1200" b="0" dirty="0"/>
              <a:t>P₀ =[ 17 17</a:t>
            </a:r>
            <a:br>
              <a:rPr lang="ru-RU" sz="1200" b="0" dirty="0"/>
            </a:br>
            <a:r>
              <a:rPr lang="ru-RU" sz="1200" b="0" dirty="0"/>
              <a:t>         5 17 ]</a:t>
            </a:r>
            <a:br>
              <a:rPr lang="ru-KZ" sz="1200" b="0" dirty="0"/>
            </a:br>
            <a:r>
              <a:rPr lang="ru-RU" sz="1200" b="0" dirty="0"/>
              <a:t>Вычислим определитель:</a:t>
            </a:r>
            <a:br>
              <a:rPr lang="ru-KZ" sz="1200" b="0" dirty="0"/>
            </a:br>
            <a:r>
              <a:rPr lang="ru-RU" sz="1200" b="0" dirty="0" err="1"/>
              <a:t>det</a:t>
            </a:r>
            <a:r>
              <a:rPr lang="ru-RU" sz="1200" b="0" dirty="0"/>
              <a:t>(P₀) = 17·17 − 5·17 = 289 − 85 = 204 ≡ 19 (</a:t>
            </a:r>
            <a:r>
              <a:rPr lang="ru-RU" sz="1200" b="0" dirty="0" err="1"/>
              <a:t>mod</a:t>
            </a:r>
            <a:r>
              <a:rPr lang="ru-RU" sz="1200" b="0" dirty="0"/>
              <a:t> 37)</a:t>
            </a:r>
            <a:br>
              <a:rPr lang="ru-KZ" sz="1200" b="0" dirty="0"/>
            </a:br>
            <a:r>
              <a:rPr lang="ru-RU" sz="1200" b="0" dirty="0"/>
              <a:t>Так как НОД(19, 37) = 1, матрица обратима по модулю 37.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r>
              <a:rPr lang="ru-RU" sz="1200" b="0" dirty="0"/>
              <a:t>Найдём обратный элемент к 19 по модулю 37:</a:t>
            </a:r>
            <a:br>
              <a:rPr lang="ru-KZ" sz="1200" b="0" dirty="0"/>
            </a:br>
            <a:r>
              <a:rPr lang="ru-RU" sz="1200" b="0" dirty="0"/>
              <a:t>19⁻¹ = 2 (</a:t>
            </a:r>
            <a:r>
              <a:rPr lang="ru-RU" sz="1200" b="0" dirty="0" err="1"/>
              <a:t>mod</a:t>
            </a:r>
            <a:r>
              <a:rPr lang="ru-RU" sz="1200" b="0" dirty="0"/>
              <a:t> 37)</a:t>
            </a:r>
            <a:br>
              <a:rPr lang="ru-KZ" sz="1200" b="0" dirty="0"/>
            </a:br>
            <a:r>
              <a:rPr lang="ru-RU" sz="1200" b="0" dirty="0"/>
              <a:t>Тогда:</a:t>
            </a:r>
            <a:br>
              <a:rPr lang="ru-KZ" sz="1200" b="0" dirty="0"/>
            </a:br>
            <a:r>
              <a:rPr lang="ru-RU" sz="1200" b="0" dirty="0"/>
              <a:t>P₀⁻¹ = 2 ·</a:t>
            </a:r>
            <a:br>
              <a:rPr lang="ru-RU" sz="1200" b="0" dirty="0"/>
            </a:br>
            <a:r>
              <a:rPr lang="ru-RU" sz="1200" b="0" dirty="0"/>
              <a:t>[ 17 −17</a:t>
            </a:r>
            <a:br>
              <a:rPr lang="ru-RU" sz="1200" b="0" dirty="0"/>
            </a:br>
            <a:r>
              <a:rPr lang="ru-RU" sz="1200" b="0" dirty="0"/>
              <a:t>−5 17 ] (</a:t>
            </a:r>
            <a:r>
              <a:rPr lang="ru-RU" sz="1200" b="0" dirty="0" err="1"/>
              <a:t>mod</a:t>
            </a:r>
            <a:r>
              <a:rPr lang="ru-RU" sz="1200" b="0" dirty="0"/>
              <a:t> 37)</a:t>
            </a:r>
            <a:br>
              <a:rPr lang="ru-KZ" sz="1200" b="0" dirty="0"/>
            </a:br>
            <a:r>
              <a:rPr lang="ru-RU" sz="1200" b="0" dirty="0"/>
              <a:t>После приведения по модулю 37:</a:t>
            </a:r>
            <a:br>
              <a:rPr lang="ru-KZ" sz="1200" b="0" dirty="0"/>
            </a:br>
            <a:r>
              <a:rPr lang="ru-RU" sz="1200" b="0" dirty="0"/>
              <a:t>P₀⁻¹ =[ 34 3</a:t>
            </a:r>
            <a:br>
              <a:rPr lang="ru-RU" sz="1200" b="0" dirty="0"/>
            </a:br>
            <a:r>
              <a:rPr lang="ru-RU" sz="1200" b="0" dirty="0"/>
              <a:t>            27 34 ]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r>
              <a:rPr lang="en-US" sz="1200" b="0" dirty="0"/>
              <a:t>K</a:t>
            </a:r>
            <a:r>
              <a:rPr lang="ru-RU" sz="1200" b="0" dirty="0"/>
              <a:t> = (С</a:t>
            </a:r>
            <a:r>
              <a:rPr lang="ru-RU" sz="1200" b="0" baseline="-25000" dirty="0"/>
              <a:t>0</a:t>
            </a:r>
            <a:r>
              <a:rPr lang="ru-RU" sz="1200" b="0" dirty="0"/>
              <a:t> * </a:t>
            </a:r>
            <a:r>
              <a:rPr lang="en-US" sz="1200" b="0" dirty="0"/>
              <a:t>P</a:t>
            </a:r>
            <a:r>
              <a:rPr lang="ru-RU" sz="1200" b="0" baseline="-25000" dirty="0"/>
              <a:t>0</a:t>
            </a:r>
            <a:r>
              <a:rPr lang="ru-RU" sz="1200" b="0" baseline="30000" dirty="0"/>
              <a:t>-1</a:t>
            </a:r>
            <a:r>
              <a:rPr lang="ru-RU" sz="1200" b="0" dirty="0"/>
              <a:t>) </a:t>
            </a:r>
            <a:r>
              <a:rPr lang="en-US" sz="1200" b="0" dirty="0"/>
              <a:t>mod</a:t>
            </a:r>
            <a:r>
              <a:rPr lang="ru-RU" sz="1200" b="0" dirty="0"/>
              <a:t> 37</a:t>
            </a:r>
            <a:br>
              <a:rPr lang="ru-KZ" sz="1200" b="0" dirty="0"/>
            </a:br>
            <a:r>
              <a:rPr lang="en-US" sz="1200" b="0" dirty="0"/>
              <a:t>K</a:t>
            </a:r>
            <a:r>
              <a:rPr lang="ru-RU" sz="1200" b="0" dirty="0"/>
              <a:t> = [4 5</a:t>
            </a:r>
            <a:br>
              <a:rPr lang="ru-KZ" sz="1200" b="0" dirty="0"/>
            </a:br>
            <a:r>
              <a:rPr lang="ru-RU" sz="1200" b="0" dirty="0"/>
              <a:t>         3 4]</a:t>
            </a:r>
            <a:br>
              <a:rPr lang="ru-KZ" sz="1200" b="0" dirty="0"/>
            </a:br>
            <a:r>
              <a:rPr lang="ru-RU" sz="1200" b="0" dirty="0"/>
              <a:t> </a:t>
            </a:r>
            <a:br>
              <a:rPr lang="ru-KZ" sz="1200" b="0" dirty="0"/>
            </a:br>
            <a:r>
              <a:rPr lang="ru-RU" sz="1200" b="0" dirty="0"/>
              <a:t>Используя ключ, расшифруем второй текст, получим:</a:t>
            </a:r>
            <a:br>
              <a:rPr lang="ru-KZ" sz="1200" b="0" dirty="0"/>
            </a:br>
            <a:r>
              <a:rPr lang="ru-RU" sz="1200" b="0" dirty="0"/>
              <a:t>ПРИВЕТ,</a:t>
            </a:r>
            <a:r>
              <a:rPr lang="en-US" sz="1200" b="0" dirty="0"/>
              <a:t>␣</a:t>
            </a:r>
            <a:r>
              <a:rPr lang="ru-RU" sz="1200" b="0" dirty="0"/>
              <a:t>МИР!</a:t>
            </a:r>
            <a:br>
              <a:rPr lang="ru-KZ" sz="1200" b="0" dirty="0"/>
            </a:br>
            <a:endParaRPr lang="ru-KZ" sz="1200" dirty="0"/>
          </a:p>
        </p:txBody>
      </p:sp>
    </p:spTree>
    <p:extLst>
      <p:ext uri="{BB962C8B-B14F-4D97-AF65-F5344CB8AC3E}">
        <p14:creationId xmlns:p14="http://schemas.microsoft.com/office/powerpoint/2010/main" val="4279019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00B0-19EA-D5A6-3E4E-8D77B3C3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4A883F92-77B4-5413-8640-D5EE028A8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D89367B1-E697-FB9B-3051-3077211F21E1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2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2627A44E-050B-87B5-FCFF-1568F5CB5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2E045B0-E086-DC18-8BAB-E6CD0B38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06278"/>
            <a:ext cx="8229600" cy="620483"/>
          </a:xfrm>
        </p:spPr>
        <p:txBody>
          <a:bodyPr>
            <a:noAutofit/>
          </a:bodyPr>
          <a:lstStyle/>
          <a:p>
            <a:r>
              <a:rPr lang="ru-RU" sz="1500" b="0" dirty="0"/>
              <a:t>6. </a:t>
            </a:r>
            <a:r>
              <a:rPr lang="ru-RU" sz="1500" u="sng" dirty="0"/>
              <a:t>Код</a:t>
            </a:r>
            <a:br>
              <a:rPr lang="ru-KZ" sz="1500" b="0" dirty="0"/>
            </a:br>
            <a:r>
              <a:rPr lang="ru-RU" sz="1500" b="0" dirty="0"/>
              <a:t>Исходный код, выполняющий шифровку и расшифровку кода Хилла, а также подбирающий ключ, можно просмотреть на </a:t>
            </a:r>
            <a:r>
              <a:rPr lang="ru-RU" sz="1500" b="0" dirty="0" err="1"/>
              <a:t>Git</a:t>
            </a:r>
            <a:r>
              <a:rPr lang="en-US" sz="1500" b="0" dirty="0"/>
              <a:t>hub</a:t>
            </a:r>
            <a:r>
              <a:rPr lang="ru-RU" sz="1500" b="0" dirty="0"/>
              <a:t> [Электронный ресурс: </a:t>
            </a:r>
            <a:r>
              <a:rPr lang="ru-RU" sz="1500" b="0" u="sng" dirty="0">
                <a:hlinkClick r:id="rId2"/>
              </a:rPr>
              <a:t>https://github.com/Miwm64/itmo_cse/tree/master/</a:t>
            </a:r>
            <a:r>
              <a:rPr lang="en-US" sz="1500" b="0" u="sng" dirty="0" err="1">
                <a:hlinkClick r:id="rId2"/>
              </a:rPr>
              <a:t>linear_algebra</a:t>
            </a:r>
            <a:r>
              <a:rPr lang="ru-RU" sz="1500" b="0" u="sng" dirty="0">
                <a:hlinkClick r:id="rId2"/>
              </a:rPr>
              <a:t>/</a:t>
            </a:r>
            <a:r>
              <a:rPr lang="en-US" sz="1500" b="0" u="sng" dirty="0">
                <a:hlinkClick r:id="rId2"/>
              </a:rPr>
              <a:t>project</a:t>
            </a:r>
            <a:r>
              <a:rPr lang="ru-RU" sz="1500" b="0" u="sng" dirty="0">
                <a:hlinkClick r:id="rId2"/>
              </a:rPr>
              <a:t>1/</a:t>
            </a:r>
            <a:r>
              <a:rPr lang="en-US" sz="1500" b="0" u="sng" dirty="0">
                <a:hlinkClick r:id="rId2"/>
              </a:rPr>
              <a:t>main</a:t>
            </a:r>
            <a:r>
              <a:rPr lang="ru-RU" sz="1500" b="0" u="sng" dirty="0">
                <a:hlinkClick r:id="rId2"/>
              </a:rPr>
              <a:t>.</a:t>
            </a:r>
            <a:r>
              <a:rPr lang="en-US" sz="1500" b="0" u="sng" dirty="0" err="1">
                <a:hlinkClick r:id="rId2"/>
              </a:rPr>
              <a:t>py</a:t>
            </a:r>
            <a:r>
              <a:rPr lang="ru-RU" sz="1500" b="0" dirty="0"/>
              <a:t>, дата обращения 20.12.2025].</a:t>
            </a:r>
            <a:br>
              <a:rPr lang="ru-KZ" sz="1500" b="0" dirty="0"/>
            </a:br>
            <a:endParaRPr lang="ru-KZ" sz="1500" b="0" dirty="0"/>
          </a:p>
        </p:txBody>
      </p:sp>
    </p:spTree>
    <p:extLst>
      <p:ext uri="{BB962C8B-B14F-4D97-AF65-F5344CB8AC3E}">
        <p14:creationId xmlns:p14="http://schemas.microsoft.com/office/powerpoint/2010/main" val="1510423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17FA-9B3F-389C-E231-8E44F659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8A6D7FD9-1C75-4748-8FD5-96D2773B8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B1245E4C-1350-66FC-B994-BEAE6169EE18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</a:t>
            </a:r>
            <a:r>
              <a:rPr lang="en-US" sz="1600" dirty="0"/>
              <a:t>3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F006894A-72D1-BE44-9738-82FE5308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54A5DB6-4E94-395F-2C5B-CA0C47A47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3" y="2376289"/>
            <a:ext cx="3385967" cy="620483"/>
          </a:xfrm>
        </p:spPr>
        <p:txBody>
          <a:bodyPr>
            <a:noAutofit/>
          </a:bodyPr>
          <a:lstStyle/>
          <a:p>
            <a:br>
              <a:rPr lang="ru-KZ" sz="1300" b="0" dirty="0"/>
            </a:br>
            <a:r>
              <a:rPr lang="ru-RU" sz="1400" b="0" dirty="0"/>
              <a:t>Код Хэмминга. В этом задании мы займёмся кодированием. Код Хэмминга, как и шифр Хилла, тоже основывается на модульных матрицах, только размер у нас фиксированный n = 2, то есть биты. Объяснение работы такого кода можно найти в интернете или в приложенных материалах</a:t>
            </a:r>
            <a:r>
              <a:rPr lang="en-US" sz="1400" b="0" dirty="0"/>
              <a:t>.</a:t>
            </a:r>
            <a:br>
              <a:rPr lang="en-US" sz="1400" b="0" dirty="0"/>
            </a:br>
            <a:br>
              <a:rPr lang="en-US" sz="1400" b="0" dirty="0"/>
            </a:br>
            <a:br>
              <a:rPr lang="ru-KZ" sz="2500" dirty="0"/>
            </a:br>
            <a:endParaRPr lang="ru-KZ" sz="2500" b="0" dirty="0"/>
          </a:p>
        </p:txBody>
      </p:sp>
      <p:pic>
        <p:nvPicPr>
          <p:cNvPr id="6" name="Рисунок 5" descr="Изображение выглядит как текст, снимок экрана, Шрифт, число">
            <a:extLst>
              <a:ext uri="{FF2B5EF4-FFF2-40B4-BE49-F238E27FC236}">
                <a16:creationId xmlns:a16="http://schemas.microsoft.com/office/drawing/2014/main" id="{182AA5E1-A05D-1906-C5B8-FB0294710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1090633"/>
            <a:ext cx="5413162" cy="381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69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1B9E-630E-7587-9151-2BB916C1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37D663E9-4B65-7BF2-D3B9-3E5C45D95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25D19F45-4631-C8E5-0AA2-3EF914C21125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</a:t>
            </a:r>
            <a:r>
              <a:rPr lang="en-US" sz="1600" dirty="0"/>
              <a:t>3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75F8083-0EDA-65F2-2C1B-951B7E01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5A63A3-94C1-2121-E72C-F8F6BC01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1" y="842487"/>
            <a:ext cx="711616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16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ABB4-A75A-2493-E162-28D6D26A5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F7CBF75B-F419-D814-30B8-21AB26C02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D64693CB-F041-2F5C-D1D5-A8EB1FFA310C}"/>
              </a:ext>
            </a:extLst>
          </p:cNvPr>
          <p:cNvSpPr txBox="1">
            <a:spLocks/>
          </p:cNvSpPr>
          <p:nvPr/>
        </p:nvSpPr>
        <p:spPr>
          <a:xfrm>
            <a:off x="492557" y="9250"/>
            <a:ext cx="8229600" cy="352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Задание </a:t>
            </a:r>
            <a:r>
              <a:rPr lang="en-US" sz="1600" dirty="0"/>
              <a:t>3</a:t>
            </a:r>
            <a:endParaRPr lang="ru-KZ" sz="1600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92D6598-A0C4-FD8F-8AA5-19FA6F8B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026768-C939-1EA3-7643-64B1EFA9D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7" y="823668"/>
            <a:ext cx="677322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7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CD3D-59F6-A4C3-7CA7-A8D68F78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EAA16395-F828-F216-BE47-BA359A19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21DC745-E2CC-644F-2A29-BBA278EE6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8" name="Рисунок 7" descr="Изображение выглядит как текст, Шрифт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2E67C3-4EBE-279F-1936-B191578A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489" y="656318"/>
            <a:ext cx="3464295" cy="4470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1044C4-DE12-E286-721D-68FE210E34E5}"/>
              </a:ext>
            </a:extLst>
          </p:cNvPr>
          <p:cNvSpPr txBox="1"/>
          <p:nvPr/>
        </p:nvSpPr>
        <p:spPr>
          <a:xfrm>
            <a:off x="84124" y="13789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Задание 3</a:t>
            </a:r>
            <a:endParaRPr lang="ru-KZ" b="1" dirty="0"/>
          </a:p>
        </p:txBody>
      </p:sp>
    </p:spTree>
    <p:extLst>
      <p:ext uri="{BB962C8B-B14F-4D97-AF65-F5344CB8AC3E}">
        <p14:creationId xmlns:p14="http://schemas.microsoft.com/office/powerpoint/2010/main" val="2345828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1EBA-6BFB-39F1-71EE-52C249D3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AB21E6F5-B78C-F251-84F8-53FF4AEA4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D9F248C6-EDEF-B78E-2F89-CA08B7C3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11" name="Рисунок 10" descr="Изображение выглядит как текст, Шрифт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B49E5D-BBDC-55C8-C8EF-FF7BD9C95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30" y="617243"/>
            <a:ext cx="3300808" cy="45262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7E30D3-A086-A67F-E629-8FD27C63FAE6}"/>
              </a:ext>
            </a:extLst>
          </p:cNvPr>
          <p:cNvSpPr txBox="1"/>
          <p:nvPr/>
        </p:nvSpPr>
        <p:spPr>
          <a:xfrm>
            <a:off x="84124" y="13789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Задание 3</a:t>
            </a:r>
            <a:endParaRPr lang="ru-KZ" b="1" dirty="0"/>
          </a:p>
        </p:txBody>
      </p:sp>
    </p:spTree>
    <p:extLst>
      <p:ext uri="{BB962C8B-B14F-4D97-AF65-F5344CB8AC3E}">
        <p14:creationId xmlns:p14="http://schemas.microsoft.com/office/powerpoint/2010/main" val="1801694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0A34-4BCA-50A4-2A75-62DB41D2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CF86C317-F0CD-8498-8B9B-7F716EB39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B034FBD7-645E-4646-4CF7-0ACD1093F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3" name="Рисунок 2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261C0A-142B-8EC2-6A6D-B249E3634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326" y="98241"/>
            <a:ext cx="4503987" cy="494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95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76F7-E1BA-FF73-536A-F1ED1788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8755CA8D-90E7-0DA1-8C8D-9B3F50851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D3F8FE8B-7278-6205-13E2-47B6E3069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pic>
        <p:nvPicPr>
          <p:cNvPr id="7" name="Рисунок 6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6E3270-1B0A-3B00-B397-81045D536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48" y="2"/>
            <a:ext cx="4017636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3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2FE6-4E3E-6296-816D-89020CDB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56AF0D0D-9540-CE58-1B2D-131ABBB78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International Students and Scholars Rock</a:t>
            </a:r>
            <a:endParaRPr 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81BE432-F122-443D-9DB7-9E514E9D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06" y="354986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K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5F054D-D602-866A-B1DA-980BBD68F265}"/>
              </a:ext>
            </a:extLst>
          </p:cNvPr>
          <p:cNvSpPr txBox="1"/>
          <p:nvPr/>
        </p:nvSpPr>
        <p:spPr>
          <a:xfrm>
            <a:off x="84124" y="13789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Задание 3</a:t>
            </a:r>
            <a:endParaRPr lang="ru-KZ" b="1" dirty="0"/>
          </a:p>
        </p:txBody>
      </p:sp>
      <p:pic>
        <p:nvPicPr>
          <p:cNvPr id="3" name="Рисунок 2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999B35-292B-1968-812F-0F2024D7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98" y="697486"/>
            <a:ext cx="5777204" cy="43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77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10278"/>
            <a:ext cx="8229600" cy="620483"/>
          </a:xfrm>
        </p:spPr>
        <p:txBody>
          <a:bodyPr/>
          <a:lstStyle/>
          <a:p>
            <a:r>
              <a:rPr lang="ru-RU" dirty="0"/>
              <a:t>Спасибо за внимание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4965</TotalTime>
  <Words>1776</Words>
  <Application>Microsoft Office PowerPoint</Application>
  <PresentationFormat>Экран (16:9)</PresentationFormat>
  <Paragraphs>501</Paragraphs>
  <Slides>34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Times New Roman</vt:lpstr>
      <vt:lpstr>Wingdings</vt:lpstr>
      <vt:lpstr>Cover</vt:lpstr>
      <vt:lpstr>1_Cover</vt:lpstr>
      <vt:lpstr>Проектная работа. Кодирование и шифрование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Формулировка: Используйте алфавит, который вы составили в предыдущем задании, и какой-нибудь ключ размера 2 × 2. В идеале автоматизировать процесс так, чтобы ключ сгенерировался случайным образом и вы не знали его до самого конца.  Возьмите два различных сообщения из 12 символов и зашифруйте их.   «Забудьте» одно из исходных сообщений. Имея на руках два зашифрованных сообщения и один оригинал, найдите способ  расшифровать второе сообщение. Алфавит n=37  </vt:lpstr>
      <vt:lpstr>1. Открытый текст разбивается на блоки по два символа и представляется в виде векторов-столбцов: Pi = [ p₁           p₂ ] Шифрование одного блока выполняется по формуле: C = K · P (mod 37) где C — соответствующий блок шифртекста.     </vt:lpstr>
      <vt:lpstr>2. Задача Дано: открытый текст длины 12 символов (6 блоков по 2 символа); зашифрованный текст, полученный с использованием одного и того же ключа 2×2. Требуется: восстановить ключевую матрицу K и далее расшифровать второе сообщение     </vt:lpstr>
      <vt:lpstr>Презентация PowerPoint</vt:lpstr>
      <vt:lpstr>4. Доказательство корректности алгоритма  1. Рассмотрим два блока открытого текста P1 и P2 и соответствующие им блоки зашифрованного текста C1 и C2.  Объединим их в матрицы C и P C = [C1, C2] P = [P1, P2] C = (K*P) mod(37)   (1)   2. Если НОД(det P, n) = 1, то матрица P обратима -&gt; существует P-1.  Важна также линейная независимость, иначе матрицу нельзя обратить. В случае невыполнения любого из пунктов, необходимо выбрать другие блоки.   3. Преобразуем (1) C * P-1 = K * I = K K найден.</vt:lpstr>
      <vt:lpstr>5. Пример Входные данные: Открытый текст1 = СЕССИЯ␣СКОРО Зашифрованный текст1 = У,ЕИВАЬР?МЧЮ Зашифрованный текст2 = Э!Е␣?НАИОЯСГ   Необходимо: Найти ключ, расшифровать текст2 Решение: Разбиваем открытый и зашифрованный тексты на блоки. P = [17 17  8  32 10 16         5   17 31 17 14 14] C =  [19 5  2 28 36 23          34  8 0 16 12 30]   </vt:lpstr>
      <vt:lpstr>Презентация PowerPoint</vt:lpstr>
      <vt:lpstr>6. Код Исходный код, выполняющий шифровку и расшифровку кода Хилла, а также подбирающий ключ, можно просмотреть на Github [Электронный ресурс: https://github.com/Miwm64/itmo_cse/tree/master/linear_algebra/project1/main.py, дата обращения 20.12.2025]. </vt:lpstr>
      <vt:lpstr> Код Хэмминга. В этом задании мы займёмся кодированием. Код Хэмминга, как и шифр Хилла, тоже основывается на модульных матрицах, только размер у нас фиксированный n = 2, то есть биты. Объяснение работы такого кода можно найти в интернете или в приложенных материалах.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Курносов Владимир Евгеньевич</cp:lastModifiedBy>
  <cp:revision>49</cp:revision>
  <dcterms:created xsi:type="dcterms:W3CDTF">2014-06-27T12:30:22Z</dcterms:created>
  <dcterms:modified xsi:type="dcterms:W3CDTF">2025-12-23T17:11:23Z</dcterms:modified>
</cp:coreProperties>
</file>