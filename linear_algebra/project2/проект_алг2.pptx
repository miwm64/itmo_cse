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29"/>
  </p:notesMasterIdLst>
  <p:handoutMasterIdLst>
    <p:handoutMasterId r:id="rId30"/>
  </p:handoutMasterIdLst>
  <p:sldIdLst>
    <p:sldId id="265" r:id="rId2"/>
    <p:sldId id="315" r:id="rId3"/>
    <p:sldId id="327" r:id="rId4"/>
    <p:sldId id="328" r:id="rId5"/>
    <p:sldId id="330" r:id="rId6"/>
    <p:sldId id="329" r:id="rId7"/>
    <p:sldId id="332" r:id="rId8"/>
    <p:sldId id="331" r:id="rId9"/>
    <p:sldId id="338" r:id="rId10"/>
    <p:sldId id="333" r:id="rId11"/>
    <p:sldId id="334" r:id="rId12"/>
    <p:sldId id="335" r:id="rId13"/>
    <p:sldId id="336" r:id="rId14"/>
    <p:sldId id="337" r:id="rId15"/>
    <p:sldId id="324" r:id="rId16"/>
    <p:sldId id="325" r:id="rId17"/>
    <p:sldId id="322" r:id="rId18"/>
    <p:sldId id="326" r:id="rId19"/>
    <p:sldId id="284" r:id="rId20"/>
    <p:sldId id="316" r:id="rId21"/>
    <p:sldId id="317" r:id="rId22"/>
    <p:sldId id="319" r:id="rId23"/>
    <p:sldId id="320" r:id="rId24"/>
    <p:sldId id="263" r:id="rId25"/>
    <p:sldId id="280" r:id="rId26"/>
    <p:sldId id="310" r:id="rId27"/>
    <p:sldId id="305" r:id="rId2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801" autoAdjust="0"/>
  </p:normalViewPr>
  <p:slideViewPr>
    <p:cSldViewPr snapToGrid="0" snapToObjects="1" showGuides="1">
      <p:cViewPr>
        <p:scale>
          <a:sx n="200" d="100"/>
          <a:sy n="200" d="100"/>
        </p:scale>
        <p:origin x="1232" y="184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5/23/26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5/23/26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9850" y="2219325"/>
            <a:ext cx="9074150" cy="704850"/>
          </a:xfrm>
        </p:spPr>
        <p:txBody>
          <a:bodyPr>
            <a:no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Аппроксимация экспериментальных данных тригонометрическим многочленом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89C17-2D5C-58EC-B64B-FB00DC6070E3}"/>
              </a:ext>
            </a:extLst>
          </p:cNvPr>
          <p:cNvSpPr txBox="1"/>
          <p:nvPr/>
        </p:nvSpPr>
        <p:spPr>
          <a:xfrm>
            <a:off x="6838950" y="3943171"/>
            <a:ext cx="2305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Добкес Михаил</a:t>
            </a:r>
            <a:endParaRPr lang="ru-RU" b="0" dirty="0">
              <a:effectLst/>
            </a:endParaRPr>
          </a:p>
          <a:p>
            <a:r>
              <a:rPr lang="ru-RU" dirty="0" err="1">
                <a:solidFill>
                  <a:srgbClr val="FFFFFF"/>
                </a:solidFill>
                <a:latin typeface="Golos Text" panose="020B0503020202020204"/>
              </a:rPr>
              <a:t>Пегушина</a:t>
            </a:r>
            <a:r>
              <a:rPr lang="ru-RU" dirty="0">
                <a:solidFill>
                  <a:srgbClr val="FFFFFF"/>
                </a:solidFill>
                <a:latin typeface="Golos Text" panose="020B0503020202020204"/>
              </a:rPr>
              <a:t> Виктория</a:t>
            </a:r>
            <a:endParaRPr lang="en-US" sz="1800" b="0" i="0" u="none" strike="noStrike" dirty="0">
              <a:solidFill>
                <a:srgbClr val="FFFFFF"/>
              </a:solidFill>
              <a:effectLst/>
              <a:latin typeface="Golos Text" panose="020B0503020202020204"/>
            </a:endParaRPr>
          </a:p>
          <a:p>
            <a:pPr rtl="0">
              <a:buNone/>
            </a:pP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Кобленц Мария</a:t>
            </a:r>
            <a:endParaRPr lang="en-US" dirty="0"/>
          </a:p>
          <a:p>
            <a:pPr rtl="0">
              <a:buNone/>
            </a:pPr>
            <a:r>
              <a:rPr lang="ru-RU" sz="1800" b="0" i="0" u="none" strike="noStrike" dirty="0" err="1">
                <a:solidFill>
                  <a:srgbClr val="FFFFFF"/>
                </a:solidFill>
                <a:effectLst/>
                <a:latin typeface="Golos Text" panose="020B0503020202020204"/>
              </a:rPr>
              <a:t>Тайлаков</a:t>
            </a:r>
            <a:r>
              <a:rPr lang="ru-RU" sz="1800" b="0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 Константин</a:t>
            </a:r>
            <a:endParaRPr lang="en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A8191-7C37-E7DB-9EA6-6893517922BE}"/>
              </a:ext>
            </a:extLst>
          </p:cNvPr>
          <p:cNvSpPr txBox="1"/>
          <p:nvPr/>
        </p:nvSpPr>
        <p:spPr>
          <a:xfrm>
            <a:off x="1606550" y="3110507"/>
            <a:ext cx="5930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Вариант 2. Анализ циркадных ритмов (Моделирование нейромедиаторов)</a:t>
            </a:r>
            <a:endParaRPr lang="en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16857FB-5393-9899-8CFD-507B17A8C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Условие задания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B8F53A-8BDA-476B-5982-F3976064D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27" y="953311"/>
            <a:ext cx="7558545" cy="323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E47C-7BAA-9F99-DAC0-647B45A7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BED1CDB-8703-52A0-E6E2-A2D18949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Математическая 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CDF5E6-9644-A1A4-C3AB-14C520285426}"/>
                  </a:ext>
                </a:extLst>
              </p:cNvPr>
              <p:cNvSpPr txBox="1"/>
              <p:nvPr/>
            </p:nvSpPr>
            <p:spPr>
              <a:xfrm>
                <a:off x="358775" y="1184186"/>
                <a:ext cx="8426450" cy="33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Исследуется суточная выработка мелатонина. Имеется 21 </a:t>
                </a:r>
                <a:r>
                  <a:rPr lang="ru-RU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замер</a:t>
                </a:r>
                <a:r>
                  <a:rPr lang="en-US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полученный 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анализатором с аппаратной погрешностью.</a:t>
                </a:r>
              </a:p>
              <a:p>
                <a:r>
                  <a:rPr lang="ru-RU" dirty="0">
                    <a:solidFill>
                      <a:srgbClr val="1D1D1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Экспериментальные данные рассматриваются как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 вектор </a:t>
                </a:r>
                <a14:m>
                  <m:oMath xmlns:m="http://schemas.openxmlformats.org/officeDocument/2006/math">
                    <m:r>
                      <a:rPr lang="ru-RU" b="1"/>
                      <m:t>𝐲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евклидовом пространстве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/>
                          <m:t>ℝ</m:t>
                        </m:r>
                      </m:e>
                      <m:sup>
                        <m:r>
                          <a:rPr lang="ar-AE"/>
                          <m:t>21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br>
                  <a:rPr lang="ar-AE" dirty="0"/>
                </a:br>
                <a:r>
                  <a:rPr lang="ru-RU" b="1" dirty="0"/>
                  <a:t>Евклидова структура:</a:t>
                </a:r>
                <a:endParaRPr lang="ru-RU" dirty="0"/>
              </a:p>
              <a:p>
                <a:r>
                  <a:rPr lang="ru-RU" dirty="0"/>
                  <a:t>Скалярное произведение: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ar-AE" b="0"/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ctrlPr>
                          <a:rPr lang="ar-AE" i="1"/>
                        </m:ctrlPr>
                      </m:naryPr>
                      <m:sub>
                        <m:r>
                          <a:rPr lang="ar-AE" b="0" i="1"/>
                          <m:t>𝑖</m:t>
                        </m:r>
                        <m:r>
                          <a:rPr lang="ar-AE" b="0"/>
                          <m:t>=1</m:t>
                        </m:r>
                      </m:sub>
                      <m:sup>
                        <m:r>
                          <a:rPr lang="ar-AE" b="0"/>
                          <m:t>21</m:t>
                        </m:r>
                      </m:sup>
                      <m:e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b="0" i="1"/>
                              <m:t>𝑎</m:t>
                            </m:r>
                          </m:e>
                          <m:sub>
                            <m:r>
                              <a:rPr lang="ar-AE" b="0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ar-AE" i="1"/>
                        </m:ctrlPr>
                      </m:sSubPr>
                      <m:e>
                        <m:r>
                          <a:rPr lang="ar-AE" b="0" i="1"/>
                          <m:t>𝑏</m:t>
                        </m:r>
                      </m:e>
                      <m:sub>
                        <m:r>
                          <a:rPr lang="ar-AE" b="0" i="1"/>
                          <m:t>𝑖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ru-RU" dirty="0"/>
                  <a:t>Норма (длина): </a:t>
                </a:r>
                <a14:m>
                  <m:oMath xmlns:m="http://schemas.openxmlformats.org/officeDocument/2006/math">
                    <m:r>
                      <a:rPr lang="ru-RU" b="0"/>
                      <m:t>∥</m:t>
                    </m:r>
                    <m:r>
                      <m:rPr>
                        <m:sty m:val="p"/>
                      </m:rPr>
                      <a:rPr lang="ru-RU" b="0" i="1"/>
                      <m:t>a</m:t>
                    </m:r>
                    <m:r>
                      <a:rPr lang="ru-RU" b="0"/>
                      <m:t>∥=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/>
                          <m:t> </m:t>
                        </m:r>
                      </m:e>
                    </m:rad>
                  </m:oMath>
                </a14:m>
                <a:endParaRPr lang="ar-AE" dirty="0"/>
              </a:p>
              <a:p>
                <a:r>
                  <a:rPr lang="ru-RU" dirty="0"/>
                  <a:t>Смысл нормы: Минимизация </a:t>
                </a:r>
                <a14:m>
                  <m:oMath xmlns:m="http://schemas.openxmlformats.org/officeDocument/2006/math">
                    <m:r>
                      <a:rPr lang="ru-RU" b="0"/>
                      <m:t>∥</m:t>
                    </m:r>
                    <m:r>
                      <m:rPr>
                        <m:sty m:val="p"/>
                      </m:rPr>
                      <a:rPr lang="ru-RU" b="0" i="1"/>
                      <m:t>y</m:t>
                    </m:r>
                    <m:r>
                      <a:rPr lang="ru-RU" b="0"/>
                      <m:t>−</m:t>
                    </m:r>
                    <m:r>
                      <m:rPr>
                        <m:sty m:val="p"/>
                      </m:rPr>
                      <a:rPr lang="ru-RU" b="0" i="1"/>
                      <m:t>f</m:t>
                    </m:r>
                    <m:r>
                      <a:rPr lang="ru-RU" b="0"/>
                      <m:t>∥</m:t>
                    </m:r>
                  </m:oMath>
                </a14:m>
                <a:r>
                  <a:rPr lang="ru-RU" dirty="0"/>
                  <a:t>эквивалентна методу наименьших квадратов.</a:t>
                </a:r>
              </a:p>
              <a:p>
                <a:r>
                  <a:rPr lang="ru-RU" dirty="0"/>
                  <a:t>Узлы измерений: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b="0" i="1"/>
                          <m:t>𝜃</m:t>
                        </m:r>
                      </m:e>
                      <m:sub>
                        <m:r>
                          <a:rPr lang="ar-AE" b="0" i="1"/>
                          <m:t>𝑖</m:t>
                        </m:r>
                      </m:sub>
                    </m:sSub>
                    <m:r>
                      <a:rPr lang="ar-AE" b="0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b="0"/>
                          <m:t>2</m:t>
                        </m:r>
                        <m:r>
                          <a:rPr lang="ar-AE" b="0" i="1"/>
                          <m:t>𝜋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b="0" i="1"/>
                              <m:t>𝑖</m:t>
                            </m:r>
                            <m:r>
                              <a:rPr lang="ar-AE" b="0"/>
                              <m:t>−1</m:t>
                            </m:r>
                          </m:e>
                        </m:d>
                      </m:num>
                      <m:den>
                        <m:r>
                          <a:rPr lang="ar-AE" b="0"/>
                          <m:t>21</m:t>
                        </m:r>
                      </m:den>
                    </m:f>
                    <m:r>
                      <a:rPr lang="ar-AE" b="0"/>
                      <m:t>, </m:t>
                    </m:r>
                    <m:r>
                      <a:rPr lang="ar-AE" b="0" i="1"/>
                      <m:t>𝑖</m:t>
                    </m:r>
                    <m:r>
                      <a:rPr lang="ar-AE" b="0"/>
                      <m:t>=1,…,21</m:t>
                    </m:r>
                  </m:oMath>
                </a14:m>
                <a:endParaRPr lang="ar-AE" dirty="0"/>
              </a:p>
              <a:p>
                <a:endParaRPr lang="en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CDF5E6-9644-A1A4-C3AB-14C520285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5" y="1184186"/>
                <a:ext cx="8426450" cy="3346878"/>
              </a:xfrm>
              <a:prstGeom prst="rect">
                <a:avLst/>
              </a:prstGeom>
              <a:blipFill>
                <a:blip r:embed="rId2"/>
                <a:stretch>
                  <a:fillRect l="-602" t="-758" r="-45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23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A2F0-D906-F0DF-F792-75D574CE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AB32C3B-E316-FC64-37E3-DDFDEFE7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597650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Подпространство сигналов и ортогональный базис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4F4F91-0863-7A56-A215-5B6C073A24C0}"/>
                  </a:ext>
                </a:extLst>
              </p:cNvPr>
              <p:cNvSpPr txBox="1"/>
              <p:nvPr/>
            </p:nvSpPr>
            <p:spPr>
              <a:xfrm>
                <a:off x="501650" y="1395196"/>
                <a:ext cx="7912100" cy="31393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ru-RU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Цель: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Найти вектор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𝐟</m:t>
                    </m:r>
                  </m:oMath>
                </a14:m>
                <a:r>
                  <a:rPr lang="en-US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подпространстве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lang="ar-AE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который наилучшим образом приближает </a:t>
                </a:r>
                <a14:m>
                  <m:oMath xmlns:m="http://schemas.openxmlformats.org/officeDocument/2006/math">
                    <m:r>
                      <a:rPr lang="ru-RU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l">
                  <a:buNone/>
                </a:pPr>
                <a:r>
                  <a:rPr lang="ru-RU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Подпространство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ru-RU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Линейное пространство тригонометрических многочленов степени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b="0" i="0" dirty="0">
                  <a:solidFill>
                    <a:srgbClr val="1D1D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>
                  <a:buNone/>
                </a:pPr>
                <a:endParaRPr lang="ru-RU" b="0" i="0" dirty="0">
                  <a:solidFill>
                    <a:srgbClr val="1D1D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Базис подпространства (Свойство 1):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0" i="0" dirty="0">
                  <a:solidFill>
                    <a:srgbClr val="1D1D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ℬ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GB" i="1" smtClean="0">
                        <a:latin typeface="Cambria Math" panose="02040503050406030204" pitchFamily="18" charset="0"/>
                      </a:rPr>
                      <m:t>1,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ru-RU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…,1</m:t>
                      </m:r>
                    </m:oMath>
                  </m:oMathPara>
                </a14:m>
                <a:endParaRPr lang="en-US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 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1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… ,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endParaRPr lang="ar-AE" b="0" i="0" dirty="0">
                  <a:solidFill>
                    <a:srgbClr val="1D1D1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4F4F91-0863-7A56-A215-5B6C073A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50" y="1395196"/>
                <a:ext cx="7912100" cy="3139321"/>
              </a:xfrm>
              <a:prstGeom prst="rect">
                <a:avLst/>
              </a:prstGeom>
              <a:blipFill>
                <a:blip r:embed="rId2"/>
                <a:stretch>
                  <a:fillRect l="-641" t="-803" b="-160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37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97A2-245F-7500-9E19-53B896FBA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4E69E44-78E1-A2F5-95FE-359378147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306435"/>
            <a:ext cx="7550150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Оператор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ортогонального </a:t>
            </a:r>
            <a:r>
              <a:rPr lang="ru-RU" dirty="0"/>
              <a:t>проектирования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980386-CA5E-17C1-AE64-188A0E4427ED}"/>
                  </a:ext>
                </a:extLst>
              </p:cNvPr>
              <p:cNvSpPr txBox="1"/>
              <p:nvPr/>
            </p:nvSpPr>
            <p:spPr>
              <a:xfrm>
                <a:off x="514350" y="1052296"/>
                <a:ext cx="7912100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Оператор ортогонального проектирования </a:t>
                </a:r>
                <a14:m>
                  <m:oMath xmlns:m="http://schemas.openxmlformats.org/officeDocument/2006/math">
                    <m:r>
                      <a:rPr lang="ru-RU" i="1"/>
                      <m:t>𝑃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/>
                        <m:t>𝑃</m:t>
                      </m:r>
                      <m:r>
                        <a:rPr lang="ru-RU"/>
                        <m:t>: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/>
                            <m:t>ℝ</m:t>
                          </m:r>
                        </m:e>
                        <m:sup>
                          <m:r>
                            <a:rPr lang="ar-AE"/>
                            <m:t>21</m:t>
                          </m:r>
                        </m:sup>
                      </m:sSup>
                      <m:r>
                        <a:rPr lang="ar-AE"/>
                        <m:t>→</m:t>
                      </m:r>
                      <m:r>
                        <a:rPr lang="ar-AE" i="1"/>
                        <m:t>𝑈</m:t>
                      </m:r>
                      <m:r>
                        <a:rPr lang="ar-AE"/>
                        <m:t>, </m:t>
                      </m:r>
                      <m:r>
                        <a:rPr lang="ar-AE" i="1"/>
                        <m:t>𝑃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b="1"/>
                            <m:t>𝐲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b="1"/>
                        <m:t>𝐟</m:t>
                      </m:r>
                    </m:oMath>
                  </m:oMathPara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Свойства оператора (Свойство 3):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Идемпотентность: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b="0" i="1"/>
                          <m:t>𝑃</m:t>
                        </m:r>
                      </m:e>
                      <m:sup>
                        <m:r>
                          <a:rPr lang="ar-AE" b="0" i="1"/>
                          <m:t>2</m:t>
                        </m:r>
                      </m:sup>
                    </m:sSup>
                    <m:r>
                      <a:rPr lang="ar-AE" b="0"/>
                      <m:t>=</m:t>
                    </m:r>
                    <m:r>
                      <a:rPr lang="ar-AE" b="0" i="1"/>
                      <m:t>𝑃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Самосопряженность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𝑃𝑎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ar-AE" b="0"/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Разложение вектора данных: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b="1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/>
                        <m:t>𝐲</m:t>
                      </m:r>
                      <m:r>
                        <a:rPr lang="ru-RU"/>
                        <m:t>=</m:t>
                      </m:r>
                      <m:r>
                        <a:rPr lang="ru-RU" b="1"/>
                        <m:t>𝐟</m:t>
                      </m:r>
                      <m:r>
                        <a:rPr lang="ru-RU"/>
                        <m:t>+</m:t>
                      </m:r>
                      <m:r>
                        <a:rPr lang="ru-RU" b="1"/>
                        <m:t>𝐞</m:t>
                      </m: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b="1"/>
                      <m:t>𝐟</m:t>
                    </m:r>
                    <m:r>
                      <a:rPr lang="ru-RU"/>
                      <m:t>=</m:t>
                    </m:r>
                    <m:r>
                      <a:rPr lang="ru-RU" i="1"/>
                      <m:t>𝑃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b="1"/>
                          <m:t>𝐲</m:t>
                        </m:r>
                      </m:e>
                    </m:d>
                    <m:r>
                      <a:rPr lang="ar-AE"/>
                      <m:t>∈</m:t>
                    </m:r>
                    <m:r>
                      <a:rPr lang="ar-AE" i="1"/>
                      <m:t>𝑈</m:t>
                    </m:r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полезный биологический сигнал.</a:t>
                </a:r>
              </a:p>
              <a:p>
                <a14:m>
                  <m:oMath xmlns:m="http://schemas.openxmlformats.org/officeDocument/2006/math">
                    <m:r>
                      <a:rPr lang="ru-RU" b="1"/>
                      <m:t>𝐞</m:t>
                    </m:r>
                    <m:r>
                      <a:rPr lang="ru-RU"/>
                      <m:t>=</m:t>
                    </m:r>
                    <m:r>
                      <a:rPr lang="ru-RU" b="1"/>
                      <m:t>𝐲</m:t>
                    </m:r>
                    <m:r>
                      <a:rPr lang="ru-RU"/>
                      <m:t>−</m:t>
                    </m:r>
                    <m:r>
                      <a:rPr lang="ru-RU" b="1"/>
                      <m:t>𝐟</m:t>
                    </m:r>
                    <m:r>
                      <a:rPr lang="ru-RU"/>
                      <m:t>∈</m:t>
                    </m:r>
                    <m:func>
                      <m:funcPr>
                        <m:ctrlPr>
                          <a:rPr lang="ar-AE" i="1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/>
                          <m:t>ker</m:t>
                        </m:r>
                      </m:fName>
                      <m:e>
                        <m:r>
                          <a:rPr lang="ar-AE" i="1"/>
                          <m:t>𝑃</m:t>
                        </m:r>
                      </m:e>
                    </m:func>
                    <m:r>
                      <a:rPr lang="ar-AE"/>
                      <m:t>=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 i="1"/>
                          <m:t>𝑈</m:t>
                        </m:r>
                      </m:e>
                      <m:sup>
                        <m:r>
                          <a:rPr lang="ar-AE"/>
                          <m:t>⊥</m:t>
                        </m:r>
                      </m:sup>
                    </m:sSup>
                  </m:oMath>
                </a14:m>
                <a:r>
                  <a:rPr lang="ar-A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шум анализатора (ортогональная составляющая).</a:t>
                </a:r>
              </a:p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Геометрический смысл: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Мы отсекаем компоненту шума, проецируя вектор данных на плоскость гладких сигналов.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980386-CA5E-17C1-AE64-188A0E442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50" y="1052296"/>
                <a:ext cx="7912100" cy="3693319"/>
              </a:xfrm>
              <a:prstGeom prst="rect">
                <a:avLst/>
              </a:prstGeom>
              <a:blipFill>
                <a:blip r:embed="rId2"/>
                <a:stretch>
                  <a:fillRect l="-641" t="-1031" b="-171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83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9867E-F734-C4C7-49DB-C0B29DEC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04F52F1-FFBA-7C6A-D965-370312DA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06435"/>
            <a:ext cx="7562850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ортогональность упрощает вычисления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CFE68E-0B1F-151B-CB7C-FB9BDD5868A5}"/>
                  </a:ext>
                </a:extLst>
              </p:cNvPr>
              <p:cNvSpPr txBox="1"/>
              <p:nvPr/>
            </p:nvSpPr>
            <p:spPr>
              <a:xfrm>
                <a:off x="679450" y="1170285"/>
                <a:ext cx="8216900" cy="27194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0" i="0" dirty="0">
                    <a:solidFill>
                      <a:srgbClr val="1D1D1F"/>
                    </a:solidFill>
                    <a:effectLst/>
                    <a:latin typeface="system-ui"/>
                  </a:rPr>
                  <a:t>Обычно поиск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b="0" i="0" dirty="0">
                    <a:solidFill>
                      <a:srgbClr val="1D1D1F"/>
                    </a:solidFill>
                    <a:effectLst/>
                    <a:latin typeface="system-ui"/>
                  </a:rPr>
                  <a:t>требует решения системы линейных уравнений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ru-RU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1" i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ru-RU" b="0" i="0" dirty="0">
                    <a:solidFill>
                      <a:srgbClr val="1D1D1F"/>
                    </a:solidFill>
                    <a:effectLst/>
                    <a:latin typeface="system-ui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b="0" i="0" dirty="0">
                    <a:solidFill>
                      <a:srgbClr val="1D1D1F"/>
                    </a:solidFill>
                    <a:effectLst/>
                    <a:latin typeface="system-ui"/>
                  </a:rPr>
                  <a:t>— матрица </a:t>
                </a:r>
                <a:r>
                  <a:rPr lang="ru-RU" b="0" i="0" dirty="0" err="1">
                    <a:solidFill>
                      <a:srgbClr val="1D1D1F"/>
                    </a:solidFill>
                    <a:effectLst/>
                    <a:latin typeface="system-ui"/>
                  </a:rPr>
                  <a:t>Грама</a:t>
                </a:r>
                <a:r>
                  <a:rPr lang="ru-RU" b="0" i="0" dirty="0">
                    <a:solidFill>
                      <a:srgbClr val="1D1D1F"/>
                    </a:solidFill>
                    <a:effectLst/>
                    <a:latin typeface="system-ui"/>
                  </a:rPr>
                  <a:t>.</a:t>
                </a:r>
                <a:endParaRPr lang="en-US" b="0" i="0" dirty="0">
                  <a:solidFill>
                    <a:srgbClr val="1D1D1F"/>
                  </a:solidFill>
                  <a:effectLst/>
                  <a:latin typeface="system-ui"/>
                </a:endParaRPr>
              </a:p>
              <a:p>
                <a:endParaRPr lang="ru-RU" dirty="0"/>
              </a:p>
              <a:p>
                <a:r>
                  <a:rPr lang="ru-RU" dirty="0"/>
                  <a:t>На нашей сетке узлов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/>
                        </m:ctrlPr>
                      </m:sSubPr>
                      <m:e>
                        <m:r>
                          <a:rPr lang="ar-AE" i="1"/>
                          <m:t>𝜃</m:t>
                        </m:r>
                      </m:e>
                      <m:sub>
                        <m:r>
                          <a:rPr lang="ar-AE" i="1"/>
                          <m:t>𝑖</m:t>
                        </m:r>
                      </m:sub>
                    </m:sSub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2</m:t>
                        </m:r>
                        <m:r>
                          <a:rPr lang="ar-AE" i="1"/>
                          <m:t>𝜋</m:t>
                        </m:r>
                        <m:d>
                          <m:dPr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 i="1"/>
                              <m:t>𝑖</m:t>
                            </m:r>
                            <m:r>
                              <a:rPr lang="ar-AE"/>
                              <m:t>−1</m:t>
                            </m:r>
                          </m:e>
                        </m:d>
                      </m:num>
                      <m:den>
                        <m:r>
                          <a:rPr lang="ar-AE"/>
                          <m:t>21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базисные векторы попарно ортогональны</a:t>
                </a:r>
              </a:p>
              <a:p>
                <a:r>
                  <a:rPr lang="ru-RU" dirty="0"/>
                  <a:t>Следовательно</a:t>
                </a:r>
                <a:r>
                  <a:rPr lang="en-US" dirty="0"/>
                  <a:t>, </a:t>
                </a:r>
                <a:r>
                  <a:rPr lang="ru-RU" dirty="0"/>
                  <a:t>матрица </a:t>
                </a:r>
                <a:r>
                  <a:rPr lang="ru-RU" dirty="0" err="1"/>
                  <a:t>Грама</a:t>
                </a:r>
                <a:r>
                  <a:rPr lang="ru-RU" dirty="0"/>
                  <a:t> становится диагональной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Система распадается на 11 независимых уравнений</a:t>
                </a:r>
                <a:r>
                  <a:rPr lang="en-US" dirty="0"/>
                  <a:t>, </a:t>
                </a:r>
                <a:r>
                  <a:rPr lang="ru-RU" dirty="0"/>
                  <a:t>а каждый коэффициент находится по простой формуле через скалярное произведение:</a:t>
                </a:r>
                <a:endParaRPr lang="en-R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CFE68E-0B1F-151B-CB7C-FB9BDD586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50" y="1170285"/>
                <a:ext cx="8216900" cy="2719462"/>
              </a:xfrm>
              <a:prstGeom prst="rect">
                <a:avLst/>
              </a:prstGeom>
              <a:blipFill>
                <a:blip r:embed="rId2"/>
                <a:stretch>
                  <a:fillRect l="-617" t="-930" b="-232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660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E1E7-7997-1270-6EB3-058D1771E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753C9F9-6466-81A4-87A0-08EF08FC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Формулы расчетов задания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DEAA06-4394-8E7B-A217-CCE0BFE8727D}"/>
                  </a:ext>
                </a:extLst>
              </p:cNvPr>
              <p:cNvSpPr txBox="1"/>
              <p:nvPr/>
            </p:nvSpPr>
            <p:spPr>
              <a:xfrm>
                <a:off x="1524000" y="1184572"/>
                <a:ext cx="5003800" cy="3833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b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b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ar-AE" b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ar-AE" b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b="0">
                          <a:latin typeface="Cambria Math" panose="02040503050406030204" pitchFamily="18" charset="0"/>
                        </a:rPr>
                        <m:t>=1,…,21</m:t>
                      </m:r>
                    </m:oMath>
                  </m:oMathPara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=1,…,5</m:t>
                      </m:r>
                    </m:oMath>
                  </m:oMathPara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i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𝐬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𝐤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=1,…,5</m:t>
                      </m:r>
                    </m:oMath>
                  </m:oMathPara>
                </a14:m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GB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,…,</m:t>
                          </m:r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𝐬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𝐤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,…,</m:t>
                          </m:r>
                          <m:func>
                            <m:funcPr>
                              <m:ctrlPr>
                                <a:rPr lang="en-GB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ru-RU" dirty="0"/>
              </a:p>
              <a:p>
                <a:pPr/>
                <a:endParaRPr lang="en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DEAA06-4394-8E7B-A217-CCE0BFE87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1184572"/>
                <a:ext cx="5003800" cy="3833101"/>
              </a:xfrm>
              <a:prstGeom prst="rect">
                <a:avLst/>
              </a:prstGeom>
              <a:blipFill>
                <a:blip r:embed="rId2"/>
                <a:stretch>
                  <a:fillRect t="-8251" b="-112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112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3501-C2EC-16EC-DD79-B1637595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CEE2FE1-1A19-FE4B-A76D-3EC8104CD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Вычисления коэффициентов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56AB3C-5122-5E82-40B3-38ADA9902E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782012"/>
                  </p:ext>
                </p:extLst>
              </p:nvPr>
            </p:nvGraphicFramePr>
            <p:xfrm>
              <a:off x="1181100" y="1549400"/>
              <a:ext cx="6375400" cy="2214880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1593850">
                      <a:extLst>
                        <a:ext uri="{9D8B030D-6E8A-4147-A177-3AD203B41FA5}">
                          <a16:colId xmlns:a16="http://schemas.microsoft.com/office/drawing/2014/main" val="3638408538"/>
                        </a:ext>
                      </a:extLst>
                    </a:gridCol>
                    <a:gridCol w="1593850">
                      <a:extLst>
                        <a:ext uri="{9D8B030D-6E8A-4147-A177-3AD203B41FA5}">
                          <a16:colId xmlns:a16="http://schemas.microsoft.com/office/drawing/2014/main" val="1213387958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54272990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28237711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smtClean="0"/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2,2767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4796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3.18244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 dirty="0">
                              <a:effectLst/>
                            </a:rPr>
                            <a:t>-0.002456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6868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1.37583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>
                              <a:effectLst/>
                            </a:rPr>
                            <a:t>-0.000752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6416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0.42656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−2.960595×10^−16</a:t>
                          </a:r>
                          <a:endParaRPr lang="en-RU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84853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0.10033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>
                              <a:effectLst/>
                            </a:rPr>
                            <a:t>0.000538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170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0.01947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 dirty="0">
                              <a:effectLst/>
                            </a:rPr>
                            <a:t>0.002034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7751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56AB3C-5122-5E82-40B3-38ADA9902E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782012"/>
                  </p:ext>
                </p:extLst>
              </p:nvPr>
            </p:nvGraphicFramePr>
            <p:xfrm>
              <a:off x="1181100" y="1549400"/>
              <a:ext cx="6375400" cy="2214880"/>
            </p:xfrm>
            <a:graphic>
              <a:graphicData uri="http://schemas.openxmlformats.org/drawingml/2006/table">
                <a:tbl>
                  <a:tblPr bandRow="1">
                    <a:tableStyleId>{073A0DAA-6AF3-43AB-8588-CEC1D06C72B9}</a:tableStyleId>
                  </a:tblPr>
                  <a:tblGrid>
                    <a:gridCol w="1593850">
                      <a:extLst>
                        <a:ext uri="{9D8B030D-6E8A-4147-A177-3AD203B41FA5}">
                          <a16:colId xmlns:a16="http://schemas.microsoft.com/office/drawing/2014/main" val="3638408538"/>
                        </a:ext>
                      </a:extLst>
                    </a:gridCol>
                    <a:gridCol w="1593850">
                      <a:extLst>
                        <a:ext uri="{9D8B030D-6E8A-4147-A177-3AD203B41FA5}">
                          <a16:colId xmlns:a16="http://schemas.microsoft.com/office/drawing/2014/main" val="1213387958"/>
                        </a:ext>
                      </a:extLst>
                    </a:gridCol>
                    <a:gridCol w="1092200">
                      <a:extLst>
                        <a:ext uri="{9D8B030D-6E8A-4147-A177-3AD203B41FA5}">
                          <a16:colId xmlns:a16="http://schemas.microsoft.com/office/drawing/2014/main" val="154272990"/>
                        </a:ext>
                      </a:extLst>
                    </a:gridCol>
                    <a:gridCol w="2095500">
                      <a:extLst>
                        <a:ext uri="{9D8B030D-6E8A-4147-A177-3AD203B41FA5}">
                          <a16:colId xmlns:a16="http://schemas.microsoft.com/office/drawing/2014/main" val="28237711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6897" r="-300000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2,2767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6897" r="-194186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4796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103333" r="-300000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3.18244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103333" r="-194186" b="-4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 dirty="0">
                              <a:effectLst/>
                            </a:rPr>
                            <a:t>-0.002456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96868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210345" r="-300000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1.37583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210345" r="-194186" b="-3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>
                              <a:effectLst/>
                            </a:rPr>
                            <a:t>-0.000752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64160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310345" r="-300000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0.42656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310345" r="-194186" b="-2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−2.960595×10^−16</a:t>
                          </a:r>
                          <a:endParaRPr lang="en-RU" b="0" dirty="0"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84853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410345" r="-300000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0.10033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410345" r="-194186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>
                              <a:effectLst/>
                            </a:rPr>
                            <a:t>0.000538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17045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794" t="-510345" r="-300000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RU" dirty="0"/>
                            <a:t>0.01947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RU"/>
                        </a:p>
                      </a:txBody>
                      <a:tcPr>
                        <a:blipFill>
                          <a:blip r:embed="rId2"/>
                          <a:stretch>
                            <a:fillRect l="-293023" t="-510345" r="-194186" b="-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RU" b="0" dirty="0">
                              <a:effectLst/>
                            </a:rPr>
                            <a:t>0.002034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47751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15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68BC-A315-DF64-C71A-36C5D1AF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2BF4104-F2F9-6B65-DC64-63E4103C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Проверка ортогональности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E97C3F-0D35-1EF9-DF86-888D1B43CC5B}"/>
                  </a:ext>
                </a:extLst>
              </p:cNvPr>
              <p:cNvSpPr txBox="1"/>
              <p:nvPr/>
            </p:nvSpPr>
            <p:spPr>
              <a:xfrm>
                <a:off x="666750" y="1971585"/>
                <a:ext cx="71882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1D1D1F"/>
                    </a:solidFill>
                    <a:latin typeface="system-ui"/>
                  </a:rPr>
                  <a:t>Для проверки ортогональности достаточно проверить скалярное произведение любых 2 векторов из базиса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mtClean="0"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​,…,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​,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ru-RU" i="0" dirty="0">
                  <a:solidFill>
                    <a:srgbClr val="1D1D1F"/>
                  </a:solidFill>
                  <a:effectLst/>
                  <a:latin typeface="system-ui"/>
                </a:endParaRPr>
              </a:p>
              <a:p>
                <a:r>
                  <a:rPr lang="ru-RU" dirty="0">
                    <a:solidFill>
                      <a:srgbClr val="1D1D1F"/>
                    </a:solidFill>
                    <a:latin typeface="system-ui"/>
                  </a:rPr>
                  <a:t>равно 0</a:t>
                </a:r>
              </a:p>
              <a:p>
                <a:r>
                  <a:rPr lang="ru-RU" dirty="0">
                    <a:solidFill>
                      <a:srgbClr val="1D1D1F"/>
                    </a:solidFill>
                    <a:latin typeface="system-ui"/>
                  </a:rPr>
                  <a:t>Проверка кодом подтвердила теорему</a:t>
                </a:r>
                <a:endParaRPr lang="ar-AE" i="0" dirty="0">
                  <a:solidFill>
                    <a:srgbClr val="1D1D1F"/>
                  </a:solidFill>
                  <a:effectLst/>
                  <a:latin typeface="system-ui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E97C3F-0D35-1EF9-DF86-888D1B43C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971585"/>
                <a:ext cx="7188200" cy="1477328"/>
              </a:xfrm>
              <a:prstGeom prst="rect">
                <a:avLst/>
              </a:prstGeom>
              <a:blipFill>
                <a:blip r:embed="rId2"/>
                <a:stretch>
                  <a:fillRect l="-705" t="-1709" b="-5128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54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133C-19AD-77B1-1E23-0CEB3FA5D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EF47902-F6F9-0FE8-A4C3-DCFEDC32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Качество модели</a:t>
            </a:r>
            <a:r>
              <a:rPr lang="en-US" sz="2400" dirty="0"/>
              <a:t>, </a:t>
            </a:r>
            <a:r>
              <a:rPr lang="ru-RU" sz="2400" dirty="0"/>
              <a:t>ошибка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EAEC2-67E1-6710-8240-EDB774E81888}"/>
                  </a:ext>
                </a:extLst>
              </p:cNvPr>
              <p:cNvSpPr txBox="1"/>
              <p:nvPr/>
            </p:nvSpPr>
            <p:spPr>
              <a:xfrm>
                <a:off x="704850" y="1751205"/>
                <a:ext cx="7785100" cy="10871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i="0" dirty="0">
                    <a:solidFill>
                      <a:srgbClr val="1D1D1F"/>
                    </a:solidFill>
                    <a:effectLst/>
                    <a:latin typeface="system-ui"/>
                  </a:rPr>
                  <a:t>Абсолютная ошибка: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𝑎𝑏𝑠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=∥</m:t>
                    </m:r>
                    <m:r>
                      <m:rPr>
                        <m:sty m:val="p"/>
                      </m:rPr>
                      <a:rPr lang="ar-AE">
                        <a:latin typeface="Cambria Math" panose="02040503050406030204" pitchFamily="18" charset="0"/>
                      </a:rPr>
                      <m:t>y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ar-AE">
                        <a:latin typeface="Cambria Math" panose="02040503050406030204" pitchFamily="18" charset="0"/>
                      </a:rPr>
                      <m:t>f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∥≈0.00881</m:t>
                    </m:r>
                  </m:oMath>
                </a14:m>
                <a:endParaRPr lang="ar-AE" i="0" dirty="0">
                  <a:solidFill>
                    <a:srgbClr val="1D1D1F"/>
                  </a:solidFill>
                  <a:effectLst/>
                  <a:latin typeface="system-ui"/>
                </a:endParaRPr>
              </a:p>
              <a:p>
                <a:r>
                  <a:rPr lang="ru-RU" i="0" dirty="0">
                    <a:solidFill>
                      <a:srgbClr val="1D1D1F"/>
                    </a:solidFill>
                    <a:effectLst/>
                    <a:latin typeface="system-ui"/>
                  </a:rPr>
                  <a:t>Относительная ошибка: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𝑎𝑏𝑠</m:t>
                            </m:r>
                          </m:sub>
                        </m:sSub>
                      </m:num>
                      <m:den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m:rPr>
                            <m:sty m:val="p"/>
                          </m:rPr>
                          <a:rPr lang="ar-AE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≈0.057%</m:t>
                    </m:r>
                  </m:oMath>
                </a14:m>
                <a:endParaRPr lang="ar-AE" i="0" dirty="0">
                  <a:solidFill>
                    <a:srgbClr val="1D1D1F"/>
                  </a:solidFill>
                  <a:effectLst/>
                  <a:latin typeface="system-ui"/>
                </a:endParaRPr>
              </a:p>
              <a:p>
                <a:r>
                  <a:rPr lang="ru-RU" i="0" dirty="0">
                    <a:solidFill>
                      <a:srgbClr val="1D1D1F"/>
                    </a:solidFill>
                    <a:effectLst/>
                    <a:latin typeface="system-ui"/>
                  </a:rPr>
                  <a:t>Коэффициент детерминации: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  <m:sup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×100%≈99.9999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ar-AE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i="0" dirty="0">
                  <a:solidFill>
                    <a:srgbClr val="1D1D1F"/>
                  </a:solidFill>
                  <a:effectLst/>
                  <a:latin typeface="system-ui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EAEC2-67E1-6710-8240-EDB774E81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50" y="1751205"/>
                <a:ext cx="7785100" cy="1087157"/>
              </a:xfrm>
              <a:prstGeom prst="rect">
                <a:avLst/>
              </a:prstGeom>
              <a:blipFill>
                <a:blip r:embed="rId2"/>
                <a:stretch>
                  <a:fillRect l="-651" t="-3448" b="-6897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83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615A-49D0-B4AC-838D-0F3FA712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99EBB83-CD2D-588F-EA4C-C91B8662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Графики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CEC45-045A-1FC4-2AE4-9BE897300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881380"/>
            <a:ext cx="6070600" cy="364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33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9C32-1AC8-2667-1D4B-3C763306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1E92DE0-5381-3806-D2DE-3C5E8CC5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Графики</a:t>
            </a:r>
          </a:p>
        </p:txBody>
      </p:sp>
      <p:pic>
        <p:nvPicPr>
          <p:cNvPr id="3" name="Picture 2" descr="A graph with green lines&#10;&#10;AI-generated content may be incorrect.">
            <a:extLst>
              <a:ext uri="{FF2B5EF4-FFF2-40B4-BE49-F238E27FC236}">
                <a16:creationId xmlns:a16="http://schemas.microsoft.com/office/drawing/2014/main" id="{3111C3D1-730F-E0C5-1F23-8A4555FB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50" y="908050"/>
            <a:ext cx="6057900" cy="363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21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BAF1-51C0-EF71-694B-2B3C738E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0A47C85-F5DC-86C3-01AC-D7C4850F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Графики</a:t>
            </a:r>
          </a:p>
        </p:txBody>
      </p:sp>
      <p:pic>
        <p:nvPicPr>
          <p:cNvPr id="3" name="Picture 2" descr="A graph with blue bars&#10;&#10;AI-generated content may be incorrect.">
            <a:extLst>
              <a:ext uri="{FF2B5EF4-FFF2-40B4-BE49-F238E27FC236}">
                <a16:creationId xmlns:a16="http://schemas.microsoft.com/office/drawing/2014/main" id="{00DB17B2-D298-CC99-0D7E-231790D14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32" y="763270"/>
            <a:ext cx="6457950" cy="387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6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478F-18AF-F6F0-D88C-B87EE74A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125102C-8CC9-0A0F-0840-EF9C012A9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400" dirty="0"/>
              <a:t>Условие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3689839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5627</TotalTime>
  <Words>695</Words>
  <Application>Microsoft Macintosh PowerPoint</Application>
  <PresentationFormat>On-screen Show (16:9)</PresentationFormat>
  <Paragraphs>113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ALS Gorizont Bold Expanded</vt:lpstr>
      <vt:lpstr>Arial</vt:lpstr>
      <vt:lpstr>Calibri</vt:lpstr>
      <vt:lpstr>Cambria Math</vt:lpstr>
      <vt:lpstr>Golos Text</vt:lpstr>
      <vt:lpstr>Golos Text DemiBold</vt:lpstr>
      <vt:lpstr>system-ui</vt:lpstr>
      <vt:lpstr>Times New Roman</vt:lpstr>
      <vt:lpstr>Тема1</vt:lpstr>
      <vt:lpstr>Аппроксимация экспериментальных данных тригонометрическим многочленом</vt:lpstr>
      <vt:lpstr>Условие задания</vt:lpstr>
      <vt:lpstr>Математическая модель</vt:lpstr>
      <vt:lpstr>Подпространство сигналов и ортогональный базис</vt:lpstr>
      <vt:lpstr>Оператор ортогонального проектирования</vt:lpstr>
      <vt:lpstr>Как ортогональность упрощает вычисления</vt:lpstr>
      <vt:lpstr>Формулы расчетов задания</vt:lpstr>
      <vt:lpstr>Вычисления коэффициентов</vt:lpstr>
      <vt:lpstr>Проверка ортогональности</vt:lpstr>
      <vt:lpstr>Качество модели, ошибка</vt:lpstr>
      <vt:lpstr>Графики</vt:lpstr>
      <vt:lpstr>Графики</vt:lpstr>
      <vt:lpstr>Графики</vt:lpstr>
      <vt:lpstr>Условие задания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Добкес Михаил Константинович</cp:lastModifiedBy>
  <cp:revision>129</cp:revision>
  <dcterms:created xsi:type="dcterms:W3CDTF">2014-06-27T12:30:22Z</dcterms:created>
  <dcterms:modified xsi:type="dcterms:W3CDTF">2026-05-23T16:01:27Z</dcterms:modified>
</cp:coreProperties>
</file>