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notesMasterIdLst>
    <p:notesMasterId r:id="rId16"/>
  </p:notesMasterIdLst>
  <p:handoutMasterIdLst>
    <p:handoutMasterId r:id="rId17"/>
  </p:handoutMasterIdLst>
  <p:sldIdLst>
    <p:sldId id="265" r:id="rId2"/>
    <p:sldId id="315" r:id="rId3"/>
    <p:sldId id="327" r:id="rId4"/>
    <p:sldId id="328" r:id="rId5"/>
    <p:sldId id="330" r:id="rId6"/>
    <p:sldId id="329" r:id="rId7"/>
    <p:sldId id="332" r:id="rId8"/>
    <p:sldId id="331" r:id="rId9"/>
    <p:sldId id="338" r:id="rId10"/>
    <p:sldId id="333" r:id="rId11"/>
    <p:sldId id="334" r:id="rId12"/>
    <p:sldId id="335" r:id="rId13"/>
    <p:sldId id="336" r:id="rId14"/>
    <p:sldId id="263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02" autoAdjust="0"/>
    <p:restoredTop sz="94761" autoAdjust="0"/>
  </p:normalViewPr>
  <p:slideViewPr>
    <p:cSldViewPr snapToGrid="0" snapToObjects="1" showGuides="1">
      <p:cViewPr varScale="1">
        <p:scale>
          <a:sx n="139" d="100"/>
          <a:sy n="139" d="100"/>
        </p:scale>
        <p:origin x="216" y="208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5/23/26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5/23/26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  <p:hf sldNum="0"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sldNum="0"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wm64/itmo_cse/blob/linal_project/linear_algebra/project2/main.py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69850" y="2219325"/>
            <a:ext cx="9074150" cy="704850"/>
          </a:xfrm>
        </p:spPr>
        <p:txBody>
          <a:bodyPr>
            <a:no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Аппроксимация экспериментальных данных тригонометрическим многочленом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89C17-2D5C-58EC-B64B-FB00DC6070E3}"/>
              </a:ext>
            </a:extLst>
          </p:cNvPr>
          <p:cNvSpPr txBox="1"/>
          <p:nvPr/>
        </p:nvSpPr>
        <p:spPr>
          <a:xfrm>
            <a:off x="6838950" y="3943171"/>
            <a:ext cx="23050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Golos Text" panose="020B0503020202020204"/>
              </a:rPr>
              <a:t>Добкес Михаил</a:t>
            </a:r>
            <a:endParaRPr lang="ru-RU" b="0" dirty="0">
              <a:effectLst/>
            </a:endParaRPr>
          </a:p>
          <a:p>
            <a:r>
              <a:rPr lang="ru-RU" dirty="0" err="1">
                <a:solidFill>
                  <a:srgbClr val="FFFFFF"/>
                </a:solidFill>
                <a:latin typeface="Golos Text" panose="020B0503020202020204"/>
              </a:rPr>
              <a:t>Пегушина</a:t>
            </a:r>
            <a:r>
              <a:rPr lang="ru-RU" dirty="0">
                <a:solidFill>
                  <a:srgbClr val="FFFFFF"/>
                </a:solidFill>
                <a:latin typeface="Golos Text" panose="020B0503020202020204"/>
              </a:rPr>
              <a:t> Виктория</a:t>
            </a:r>
            <a:endParaRPr lang="en-US" sz="1800" b="0" i="0" u="none" strike="noStrike" dirty="0">
              <a:solidFill>
                <a:srgbClr val="FFFFFF"/>
              </a:solidFill>
              <a:effectLst/>
              <a:latin typeface="Golos Text" panose="020B0503020202020204"/>
            </a:endParaRPr>
          </a:p>
          <a:p>
            <a:pPr rtl="0">
              <a:buNone/>
            </a:pP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Golos Text" panose="020B0503020202020204"/>
              </a:rPr>
              <a:t>Кобленц Мария</a:t>
            </a:r>
            <a:endParaRPr lang="en-US" dirty="0"/>
          </a:p>
          <a:p>
            <a:pPr rtl="0">
              <a:buNone/>
            </a:pPr>
            <a:r>
              <a:rPr lang="ru-RU" sz="1800" b="0" i="0" u="none" strike="noStrike" dirty="0" err="1">
                <a:solidFill>
                  <a:srgbClr val="FFFFFF"/>
                </a:solidFill>
                <a:effectLst/>
                <a:latin typeface="Golos Text" panose="020B0503020202020204"/>
              </a:rPr>
              <a:t>Тайлаков</a:t>
            </a:r>
            <a:r>
              <a:rPr lang="ru-RU" sz="1800" b="0" i="0" u="none" strike="noStrike" dirty="0">
                <a:solidFill>
                  <a:srgbClr val="FFFFFF"/>
                </a:solidFill>
                <a:effectLst/>
                <a:latin typeface="Golos Text" panose="020B0503020202020204"/>
              </a:rPr>
              <a:t> Константин</a:t>
            </a:r>
            <a:endParaRPr lang="en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8A8191-7C37-E7DB-9EA6-6893517922BE}"/>
              </a:ext>
            </a:extLst>
          </p:cNvPr>
          <p:cNvSpPr txBox="1"/>
          <p:nvPr/>
        </p:nvSpPr>
        <p:spPr>
          <a:xfrm>
            <a:off x="1606550" y="3110507"/>
            <a:ext cx="5930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Вариант 2. Анализ циркадных ритмов (Моделирование нейромедиаторов)</a:t>
            </a:r>
            <a:endParaRPr lang="en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72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F16857FB-5393-9899-8CFD-507B17A8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Условие задания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B8F53A-8BDA-476B-5982-F3976064D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27" y="953311"/>
            <a:ext cx="7558545" cy="323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98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BE47C-7BAA-9F99-DAC0-647B45A74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BED1CDB-8703-52A0-E6E2-A2D18949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CDF5E6-9644-A1A4-C3AB-14C520285426}"/>
                  </a:ext>
                </a:extLst>
              </p:cNvPr>
              <p:cNvSpPr txBox="1"/>
              <p:nvPr/>
            </p:nvSpPr>
            <p:spPr>
              <a:xfrm>
                <a:off x="358775" y="1184186"/>
                <a:ext cx="8426450" cy="33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Исследуется суточная выработка мелатонина. Имеется 21 </a:t>
                </a:r>
                <a:r>
                  <a:rPr lang="ru-RU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замер</a:t>
                </a:r>
                <a:r>
                  <a:rPr lang="en-US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полученный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анализатором с аппаратной погрешностью.</a:t>
                </a:r>
              </a:p>
              <a:p>
                <a:r>
                  <a:rPr lang="ru-RU" dirty="0">
                    <a:solidFill>
                      <a:srgbClr val="1D1D1F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Экспериментальные данные рассматриваются как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как вектор </a:t>
                </a:r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евклидовом пространстве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p>
                  </m:oMath>
                </a14:m>
                <a:endParaRPr lang="en-US" dirty="0">
                  <a:latin typeface="Times New Roman" panose="02020603050405020304" pitchFamily="18" charset="0"/>
                </a:endParaRPr>
              </a:p>
              <a:p>
                <a:br>
                  <a:rPr lang="ar-AE" dirty="0"/>
                </a:br>
                <a:r>
                  <a:rPr lang="ru-RU" b="1" dirty="0"/>
                  <a:t>Евклидова структура:</a:t>
                </a:r>
                <a:endParaRPr lang="ru-RU" dirty="0"/>
              </a:p>
              <a:p>
                <a:r>
                  <a:rPr lang="ru-RU" dirty="0"/>
                  <a:t>Скалярное произведение: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GB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d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ar-AE" b="0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r>
                  <a:rPr lang="ru-RU" dirty="0"/>
                  <a:t>Норма (длина): </a:t>
                </a:r>
                <a14:m>
                  <m:oMath xmlns:m="http://schemas.openxmlformats.org/officeDocument/2006/math">
                    <m:r>
                      <a:rPr lang="ru-RU" b="0">
                        <a:latin typeface="Cambria Math" panose="02040503050406030204" pitchFamily="18" charset="0"/>
                      </a:rPr>
                      <m:t>∥</m:t>
                    </m:r>
                    <m:r>
                      <m:rPr>
                        <m:sty m:val="p"/>
                      </m:rPr>
                      <a:rPr lang="ru-RU" b="0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ru-RU" b="0">
                        <a:latin typeface="Cambria Math" panose="02040503050406030204" pitchFamily="18" charset="0"/>
                      </a:rPr>
                      <m:t>∥=</m:t>
                    </m:r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/>
                          <m:t> </m:t>
                        </m:r>
                      </m:e>
                    </m:rad>
                  </m:oMath>
                </a14:m>
                <a:endParaRPr lang="ar-AE" dirty="0"/>
              </a:p>
              <a:p>
                <a:r>
                  <a:rPr lang="ru-RU" dirty="0"/>
                  <a:t>Смысл нормы: Минимизация </a:t>
                </a:r>
                <a14:m>
                  <m:oMath xmlns:m="http://schemas.openxmlformats.org/officeDocument/2006/math">
                    <m:r>
                      <a:rPr lang="ru-RU" b="0">
                        <a:latin typeface="Cambria Math" panose="02040503050406030204" pitchFamily="18" charset="0"/>
                      </a:rPr>
                      <m:t>∥</m:t>
                    </m:r>
                    <m:r>
                      <m:rPr>
                        <m:sty m:val="p"/>
                      </m:rPr>
                      <a:rPr lang="ru-RU" b="0" i="1">
                        <a:latin typeface="Cambria Math" panose="02040503050406030204" pitchFamily="18" charset="0"/>
                      </a:rPr>
                      <m:t>y</m:t>
                    </m:r>
                    <m:r>
                      <a:rPr lang="ru-RU" b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ru-RU" b="0" i="1">
                        <a:latin typeface="Cambria Math" panose="02040503050406030204" pitchFamily="18" charset="0"/>
                      </a:rPr>
                      <m:t>f</m:t>
                    </m:r>
                    <m:r>
                      <a:rPr lang="ru-RU" b="0">
                        <a:latin typeface="Cambria Math" panose="02040503050406030204" pitchFamily="18" charset="0"/>
                      </a:rPr>
                      <m:t>∥</m:t>
                    </m:r>
                  </m:oMath>
                </a14:m>
                <a:r>
                  <a:rPr lang="ru-RU" dirty="0"/>
                  <a:t>эквивалентна методу наименьших квадратов.</a:t>
                </a:r>
              </a:p>
              <a:p>
                <a:r>
                  <a:rPr lang="ru-RU" dirty="0"/>
                  <a:t>Узлы измерений: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b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b="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 b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ar-AE" b="0">
                            <a:latin typeface="Cambria Math" panose="02040503050406030204" pitchFamily="18" charset="0"/>
                          </a:rPr>
                          <m:t>21</m:t>
                        </m:r>
                      </m:den>
                    </m:f>
                    <m:r>
                      <a:rPr lang="ar-AE" b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ar-AE" b="0">
                        <a:latin typeface="Cambria Math" panose="02040503050406030204" pitchFamily="18" charset="0"/>
                      </a:rPr>
                      <m:t>=1,…,21</m:t>
                    </m:r>
                  </m:oMath>
                </a14:m>
                <a:endParaRPr lang="ar-AE" dirty="0"/>
              </a:p>
              <a:p>
                <a:endParaRPr lang="en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DCDF5E6-9644-A1A4-C3AB-14C520285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775" y="1184186"/>
                <a:ext cx="8426450" cy="3346878"/>
              </a:xfrm>
              <a:prstGeom prst="rect">
                <a:avLst/>
              </a:prstGeom>
              <a:blipFill>
                <a:blip r:embed="rId2"/>
                <a:stretch>
                  <a:fillRect l="-602" t="-758" r="-45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5232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CA2F0-D906-F0DF-F792-75D574CE8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AB32C3B-E316-FC64-37E3-DDFDEFE79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597650" cy="527284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Подпространство сигналов и ортогональный базис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4F4F91-0863-7A56-A215-5B6C073A24C0}"/>
                  </a:ext>
                </a:extLst>
              </p:cNvPr>
              <p:cNvSpPr txBox="1"/>
              <p:nvPr/>
            </p:nvSpPr>
            <p:spPr>
              <a:xfrm>
                <a:off x="501650" y="1395196"/>
                <a:ext cx="7912100" cy="31393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buNone/>
                </a:pPr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Цель: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Найти вектор </a:t>
                </a:r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𝐟</m:t>
                    </m:r>
                  </m:oMath>
                </a14:m>
                <a:r>
                  <a:rPr lang="en-US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подпространстве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i="0">
                        <a:latin typeface="Cambria Math" panose="02040503050406030204" pitchFamily="18" charset="0"/>
                      </a:rPr>
                      <m:t>⊂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 i="0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p>
                  </m:oMath>
                </a14:m>
                <a:r>
                  <a:rPr lang="ar-AE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который наилучшим образом приближает </a:t>
                </a:r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algn="l">
                  <a:buNone/>
                </a:pPr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Подпространство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Линейное пространство тригонометрических многочленов степени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ru-RU" i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endParaRPr lang="en-US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l">
                  <a:buNone/>
                </a:pPr>
                <a:endParaRPr lang="ru-RU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Базис подпространства (Свойство 1):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r>
                      <a:rPr lang="ru-RU" smtClean="0">
                        <a:latin typeface="Cambria Math" panose="02040503050406030204" pitchFamily="18" charset="0"/>
                      </a:rPr>
                      <m:t>ℬ</m:t>
                    </m:r>
                    <m:r>
                      <a:rPr lang="ru-RU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GB" i="1" smtClean="0">
                        <a:latin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GB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где:</a:t>
                </a:r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ru-RU" b="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1,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…,1</m:t>
                      </m:r>
                    </m:oMath>
                  </m:oMathPara>
                </a14:m>
                <a:endParaRPr lang="en-US" b="0" i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 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1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</m:sSub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… ,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21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l"/>
                <a:endParaRPr lang="ar-AE" b="0" i="0" dirty="0">
                  <a:solidFill>
                    <a:srgbClr val="1D1D1F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4F4F91-0863-7A56-A215-5B6C073A2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50" y="1395196"/>
                <a:ext cx="7912100" cy="3139321"/>
              </a:xfrm>
              <a:prstGeom prst="rect">
                <a:avLst/>
              </a:prstGeom>
              <a:blipFill>
                <a:blip r:embed="rId2"/>
                <a:stretch>
                  <a:fillRect l="-641" t="-803" b="-160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8371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297A2-245F-7500-9E19-53B896FB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24E69E44-78E1-A2F5-95FE-359378147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" y="306435"/>
            <a:ext cx="7550150" cy="527284"/>
          </a:xfrm>
        </p:spPr>
        <p:txBody>
          <a:bodyPr>
            <a:normAutofit fontScale="90000"/>
          </a:bodyPr>
          <a:lstStyle/>
          <a:p>
            <a:r>
              <a:rPr lang="ru-RU" dirty="0"/>
              <a:t>Оператор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ортогонального </a:t>
            </a:r>
            <a:r>
              <a:rPr lang="ru-RU" dirty="0"/>
              <a:t>проектирования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980386-CA5E-17C1-AE64-188A0E4427ED}"/>
                  </a:ext>
                </a:extLst>
              </p:cNvPr>
              <p:cNvSpPr txBox="1"/>
              <p:nvPr/>
            </p:nvSpPr>
            <p:spPr>
              <a:xfrm>
                <a:off x="514350" y="1052296"/>
                <a:ext cx="7912100" cy="3693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Оператор ортогонального проектирования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:</m:t>
                      </m:r>
                      <m:sSup>
                        <m:sSup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𝐟</m:t>
                      </m:r>
                    </m:oMath>
                  </m:oMathPara>
                </a14:m>
                <a:endParaRPr lang="ar-AE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Свойства оператора (Свойство 3):</a:t>
                </a: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Идемпотентность: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ar-AE" b="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Самосопряженность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𝑃𝑎</m:t>
                        </m:r>
                        <m:r>
                          <a:rPr lang="en-GB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ar-AE" b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GB" b="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</a:endParaRP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Разложение вектора данных: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en-US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1">
                          <a:latin typeface="Cambria Math" panose="02040503050406030204" pitchFamily="18" charset="0"/>
                        </a:rPr>
                        <m:t>𝐲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b="1">
                          <a:latin typeface="Cambria Math" panose="02040503050406030204" pitchFamily="18" charset="0"/>
                        </a:rPr>
                        <m:t>𝐟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b="1">
                          <a:latin typeface="Cambria Math" panose="02040503050406030204" pitchFamily="18" charset="0"/>
                        </a:rPr>
                        <m:t>𝐞</m:t>
                      </m: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𝐟</m:t>
                    </m:r>
                    <m:r>
                      <a:rPr lang="ru-RU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𝐲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ar-A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полезный биологический сигнал.</a:t>
                </a:r>
              </a:p>
              <a:p>
                <a14:m>
                  <m:oMath xmlns:m="http://schemas.openxmlformats.org/officeDocument/2006/math">
                    <m:r>
                      <a:rPr lang="ru-RU" b="1">
                        <a:latin typeface="Cambria Math" panose="02040503050406030204" pitchFamily="18" charset="0"/>
                      </a:rPr>
                      <m:t>𝐞</m:t>
                    </m:r>
                    <m:r>
                      <a:rPr lang="ru-RU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1">
                        <a:latin typeface="Cambria Math" panose="02040503050406030204" pitchFamily="18" charset="0"/>
                      </a:rPr>
                      <m:t>𝐲</m:t>
                    </m:r>
                    <m:r>
                      <a:rPr lang="ru-RU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b="1">
                        <a:latin typeface="Cambria Math" panose="02040503050406030204" pitchFamily="18" charset="0"/>
                      </a:rPr>
                      <m:t>𝐟</m:t>
                    </m:r>
                    <m:r>
                      <a:rPr lang="ru-RU">
                        <a:latin typeface="Cambria Math" panose="02040503050406030204" pitchFamily="18" charset="0"/>
                      </a:rPr>
                      <m:t>∈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>
                            <a:latin typeface="Cambria Math" panose="02040503050406030204" pitchFamily="18" charset="0"/>
                          </a:rPr>
                          <m:t>ker</m:t>
                        </m:r>
                      </m:fName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⊥</m:t>
                        </m:r>
                      </m:sup>
                    </m:sSup>
                  </m:oMath>
                </a14:m>
                <a:r>
                  <a:rPr lang="ar-AE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—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шум анализатора (ортогональная составляющая).</a:t>
                </a:r>
              </a:p>
              <a:p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Геометрический смысл: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Мы отсекаем компоненту шума, проецируя вектор данных на плоскость гладких сигналов.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9980386-CA5E-17C1-AE64-188A0E442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" y="1052296"/>
                <a:ext cx="7912100" cy="3693319"/>
              </a:xfrm>
              <a:prstGeom prst="rect">
                <a:avLst/>
              </a:prstGeom>
              <a:blipFill>
                <a:blip r:embed="rId2"/>
                <a:stretch>
                  <a:fillRect l="-641" t="-1031" b="-171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3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9867E-F734-C4C7-49DB-C0B29DEC4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04F52F1-FFBA-7C6A-D965-370312DAA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306435"/>
            <a:ext cx="7562850" cy="527284"/>
          </a:xfrm>
        </p:spPr>
        <p:txBody>
          <a:bodyPr>
            <a:normAutofit fontScale="90000"/>
          </a:bodyPr>
          <a:lstStyle/>
          <a:p>
            <a:r>
              <a:rPr lang="ru-RU" dirty="0"/>
              <a:t>Как ортогональность упрощает вычисления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CFE68E-0B1F-151B-CB7C-FB9BDD5868A5}"/>
                  </a:ext>
                </a:extLst>
              </p:cNvPr>
              <p:cNvSpPr txBox="1"/>
              <p:nvPr/>
            </p:nvSpPr>
            <p:spPr>
              <a:xfrm>
                <a:off x="679450" y="1170285"/>
                <a:ext cx="8216900" cy="27194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Обычно поиск коэффициентов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требует решения системы линейных уравнений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ru-RU" b="1" i="0">
                        <a:latin typeface="Cambria Math" panose="02040503050406030204" pitchFamily="18" charset="0"/>
                      </a:rPr>
                      <m:t>𝐱</m:t>
                    </m:r>
                    <m:r>
                      <a:rPr lang="ru-RU" b="0" i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1" i="0">
                        <a:latin typeface="Cambria Math" panose="02040503050406030204" pitchFamily="18" charset="0"/>
                      </a:rPr>
                      <m:t>𝐛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— матрица </a:t>
                </a:r>
                <a:r>
                  <a:rPr lang="ru-RU" b="0" i="0" dirty="0" err="1">
                    <a:solidFill>
                      <a:srgbClr val="1D1D1F"/>
                    </a:solidFill>
                    <a:effectLst/>
                    <a:latin typeface="system-ui"/>
                  </a:rPr>
                  <a:t>Грама</a:t>
                </a:r>
                <a:r>
                  <a:rPr lang="ru-RU" b="0" i="0" dirty="0">
                    <a:solidFill>
                      <a:srgbClr val="1D1D1F"/>
                    </a:solidFill>
                    <a:effectLst/>
                    <a:latin typeface="system-ui"/>
                  </a:rPr>
                  <a:t>.</a:t>
                </a:r>
                <a:endParaRPr lang="en-US" b="0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endParaRPr lang="ru-RU" dirty="0"/>
              </a:p>
              <a:p>
                <a:r>
                  <a:rPr lang="ru-RU" dirty="0"/>
                  <a:t>На нашей сетке узлов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𝜋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21</m:t>
                        </m:r>
                      </m:den>
                    </m:f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базисные векторы попарно ортогональны</a:t>
                </a:r>
              </a:p>
              <a:p>
                <a:r>
                  <a:rPr lang="ru-RU" dirty="0"/>
                  <a:t>Следовательно</a:t>
                </a:r>
                <a:r>
                  <a:rPr lang="en-US" dirty="0"/>
                  <a:t>, </a:t>
                </a:r>
                <a:r>
                  <a:rPr lang="ru-RU" dirty="0"/>
                  <a:t>матрица </a:t>
                </a:r>
                <a:r>
                  <a:rPr lang="ru-RU" dirty="0" err="1"/>
                  <a:t>Грама</a:t>
                </a:r>
                <a:r>
                  <a:rPr lang="ru-RU" dirty="0"/>
                  <a:t> становится диагональной</a:t>
                </a:r>
              </a:p>
              <a:p>
                <a:endParaRPr lang="ru-RU" dirty="0"/>
              </a:p>
              <a:p>
                <a:endParaRPr lang="ru-RU" dirty="0"/>
              </a:p>
              <a:p>
                <a:r>
                  <a:rPr lang="ru-RU" dirty="0"/>
                  <a:t>Система распадается на 11 независимых уравнений</a:t>
                </a:r>
                <a:r>
                  <a:rPr lang="en-US" dirty="0"/>
                  <a:t>, </a:t>
                </a:r>
                <a:r>
                  <a:rPr lang="ru-RU" dirty="0"/>
                  <a:t>а каждый коэффициент находится по простой формуле через скалярное произведение</a:t>
                </a:r>
                <a:endParaRPr lang="en-RU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CFE68E-0B1F-151B-CB7C-FB9BDD586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450" y="1170285"/>
                <a:ext cx="8216900" cy="2719462"/>
              </a:xfrm>
              <a:prstGeom prst="rect">
                <a:avLst/>
              </a:prstGeom>
              <a:blipFill>
                <a:blip r:embed="rId2"/>
                <a:stretch>
                  <a:fillRect l="-617" t="-930" b="-232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9660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EE1E7-7997-1270-6EB3-058D1771E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C753C9F9-6466-81A4-87A0-08EF08FC5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Формулы расчетов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DEAA06-4394-8E7B-A217-CCE0BFE8727D}"/>
                  </a:ext>
                </a:extLst>
              </p:cNvPr>
              <p:cNvSpPr txBox="1"/>
              <p:nvPr/>
            </p:nvSpPr>
            <p:spPr>
              <a:xfrm>
                <a:off x="1524000" y="1184572"/>
                <a:ext cx="5003800" cy="38331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b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b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b="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b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r>
                            <a:rPr lang="ar-AE" b="0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r>
                        <a:rPr lang="ar-AE" b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ar-AE" b="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ar-AE" b="0">
                          <a:latin typeface="Cambria Math" panose="02040503050406030204" pitchFamily="18" charset="0"/>
                        </a:rPr>
                        <m:t>=1,…,21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𝐤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=1,…,5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i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21</m:t>
                          </m:r>
                        </m:den>
                      </m:f>
                      <m:d>
                        <m:dPr>
                          <m:begChr m:val="⟨"/>
                          <m:endChr m:val="⟩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𝐤</m:t>
                              </m:r>
                            </m:sub>
                          </m:sSub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, 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=1,…,5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  <m:e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i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 i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nary>
                      <m:r>
                        <a:rPr lang="en-GB" i="1">
                          <a:latin typeface="Cambria Math" panose="02040503050406030204" pitchFamily="18" charset="0"/>
                        </a:rPr>
                        <m:t> </m:t>
                      </m:r>
                    </m:oMath>
                  </m:oMathPara>
                </a14:m>
                <a:endParaRPr lang="ru-RU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GB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𝐬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𝐤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,…,</m:t>
                          </m:r>
                          <m:func>
                            <m:func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sSub>
                                    <m:sSub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21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ru-RU" dirty="0"/>
              </a:p>
              <a:p>
                <a:endParaRPr lang="en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DEAA06-4394-8E7B-A217-CCE0BFE8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1184572"/>
                <a:ext cx="5003800" cy="3833101"/>
              </a:xfrm>
              <a:prstGeom prst="rect">
                <a:avLst/>
              </a:prstGeom>
              <a:blipFill>
                <a:blip r:embed="rId2"/>
                <a:stretch>
                  <a:fillRect t="-8251" b="-1122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1120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13501-C2EC-16EC-DD79-B1637595A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CEE2FE1-1A19-FE4B-A76D-3EC8104CD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Вычисления коэффициентов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056AB3C-5122-5E82-40B3-38ADA9902E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999599"/>
                  </p:ext>
                </p:extLst>
              </p:nvPr>
            </p:nvGraphicFramePr>
            <p:xfrm>
              <a:off x="1384300" y="2006600"/>
              <a:ext cx="6375400" cy="2214880"/>
            </p:xfrm>
            <a:graphic>
              <a:graphicData uri="http://schemas.openxmlformats.org/drawingml/2006/table">
                <a:tbl>
                  <a:tblPr bandRow="1">
                    <a:tableStyleId>{073A0DAA-6AF3-43AB-8588-CEC1D06C72B9}</a:tableStyleId>
                  </a:tblPr>
                  <a:tblGrid>
                    <a:gridCol w="1593850">
                      <a:extLst>
                        <a:ext uri="{9D8B030D-6E8A-4147-A177-3AD203B41FA5}">
                          <a16:colId xmlns:a16="http://schemas.microsoft.com/office/drawing/2014/main" val="3638408538"/>
                        </a:ext>
                      </a:extLst>
                    </a:gridCol>
                    <a:gridCol w="1593850">
                      <a:extLst>
                        <a:ext uri="{9D8B030D-6E8A-4147-A177-3AD203B41FA5}">
                          <a16:colId xmlns:a16="http://schemas.microsoft.com/office/drawing/2014/main" val="1213387958"/>
                        </a:ext>
                      </a:extLst>
                    </a:gridCol>
                    <a:gridCol w="1092200">
                      <a:extLst>
                        <a:ext uri="{9D8B030D-6E8A-4147-A177-3AD203B41FA5}">
                          <a16:colId xmlns:a16="http://schemas.microsoft.com/office/drawing/2014/main" val="154272990"/>
                        </a:ext>
                      </a:extLst>
                    </a:gridCol>
                    <a:gridCol w="2095500">
                      <a:extLst>
                        <a:ext uri="{9D8B030D-6E8A-4147-A177-3AD203B41FA5}">
                          <a16:colId xmlns:a16="http://schemas.microsoft.com/office/drawing/2014/main" val="282377112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/2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2,2767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57479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3.18244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-0.002456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968680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1.37583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-0.000752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64160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0.42656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−2.960595×10^−16</a:t>
                          </a:r>
                          <a:endParaRPr lang="en-RU" b="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6848530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0.10033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0.000538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817045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0.01947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RU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0.002034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477512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056AB3C-5122-5E82-40B3-38ADA9902E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999599"/>
                  </p:ext>
                </p:extLst>
              </p:nvPr>
            </p:nvGraphicFramePr>
            <p:xfrm>
              <a:off x="1384300" y="2006600"/>
              <a:ext cx="6375400" cy="2214880"/>
            </p:xfrm>
            <a:graphic>
              <a:graphicData uri="http://schemas.openxmlformats.org/drawingml/2006/table">
                <a:tbl>
                  <a:tblPr bandRow="1">
                    <a:tableStyleId>{073A0DAA-6AF3-43AB-8588-CEC1D06C72B9}</a:tableStyleId>
                  </a:tblPr>
                  <a:tblGrid>
                    <a:gridCol w="1593850">
                      <a:extLst>
                        <a:ext uri="{9D8B030D-6E8A-4147-A177-3AD203B41FA5}">
                          <a16:colId xmlns:a16="http://schemas.microsoft.com/office/drawing/2014/main" val="3638408538"/>
                        </a:ext>
                      </a:extLst>
                    </a:gridCol>
                    <a:gridCol w="1593850">
                      <a:extLst>
                        <a:ext uri="{9D8B030D-6E8A-4147-A177-3AD203B41FA5}">
                          <a16:colId xmlns:a16="http://schemas.microsoft.com/office/drawing/2014/main" val="1213387958"/>
                        </a:ext>
                      </a:extLst>
                    </a:gridCol>
                    <a:gridCol w="1092200">
                      <a:extLst>
                        <a:ext uri="{9D8B030D-6E8A-4147-A177-3AD203B41FA5}">
                          <a16:colId xmlns:a16="http://schemas.microsoft.com/office/drawing/2014/main" val="154272990"/>
                        </a:ext>
                      </a:extLst>
                    </a:gridCol>
                    <a:gridCol w="2095500">
                      <a:extLst>
                        <a:ext uri="{9D8B030D-6E8A-4147-A177-3AD203B41FA5}">
                          <a16:colId xmlns:a16="http://schemas.microsoft.com/office/drawing/2014/main" val="282377112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6897" r="-299206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2,2767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6897" r="-193023" b="-5310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5747969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103333" r="-299206" b="-4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3.18244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103333" r="-193023" b="-4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-0.002456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968680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210345" r="-299206" b="-3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1.37583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210345" r="-193023" b="-3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-0.000752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64160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310345" r="-299206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0.42656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310345" r="-193023" b="-2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−2.960595×10^−16</a:t>
                          </a:r>
                          <a:endParaRPr lang="en-RU" b="0" dirty="0">
                            <a:effectLst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6848530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410345" r="-299206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0.10033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410345" r="-193023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>
                              <a:effectLst/>
                            </a:rPr>
                            <a:t>0.000538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4817045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794" t="-510345" r="-299206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RU" dirty="0"/>
                            <a:t>0.01947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RU"/>
                        </a:p>
                      </a:txBody>
                      <a:tcPr>
                        <a:blipFill>
                          <a:blip r:embed="rId2"/>
                          <a:stretch>
                            <a:fillRect l="-293023" t="-510345" r="-193023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RU" b="0" dirty="0">
                              <a:effectLst/>
                            </a:rPr>
                            <a:t>0.002034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2477512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52CB6B5-A36B-7F8F-64F2-1E4E681483BC}"/>
              </a:ext>
            </a:extLst>
          </p:cNvPr>
          <p:cNvSpPr txBox="1"/>
          <p:nvPr/>
        </p:nvSpPr>
        <p:spPr>
          <a:xfrm>
            <a:off x="0" y="1096994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Исходный код</a:t>
            </a:r>
            <a:r>
              <a:rPr lang="en-US" dirty="0"/>
              <a:t>:</a:t>
            </a:r>
          </a:p>
          <a:p>
            <a:r>
              <a:rPr lang="en-RU" dirty="0">
                <a:hlinkClick r:id="rId3"/>
              </a:rPr>
              <a:t>https://github.com/Miwm64/itmo_cse/blob/linal_project/linear_algebra/project2/main.py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137156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68BC-A315-DF64-C71A-36C5D1AF5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82BF4104-F2F9-6B65-DC64-63E4103C0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Проверка ортогональности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E97C3F-0D35-1EF9-DF86-888D1B43CC5B}"/>
                  </a:ext>
                </a:extLst>
              </p:cNvPr>
              <p:cNvSpPr txBox="1"/>
              <p:nvPr/>
            </p:nvSpPr>
            <p:spPr>
              <a:xfrm>
                <a:off x="666750" y="1971585"/>
                <a:ext cx="7188200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rgbClr val="1D1D1F"/>
                    </a:solidFill>
                    <a:latin typeface="system-ui"/>
                  </a:rPr>
                  <a:t>Для проверки ортогональности достаточно проверить скалярное произведение любых 2 векторов из базиса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mtClean="0">
                          <a:latin typeface="Cambria Math" panose="02040503050406030204" pitchFamily="18" charset="0"/>
                        </a:rPr>
                        <m:t>ℬ</m:t>
                      </m:r>
                      <m:r>
                        <a:rPr lang="ru-RU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1,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​,…,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​,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ru-RU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r>
                  <a:rPr lang="ru-RU" dirty="0">
                    <a:solidFill>
                      <a:srgbClr val="1D1D1F"/>
                    </a:solidFill>
                    <a:latin typeface="system-ui"/>
                  </a:rPr>
                  <a:t>равно 0</a:t>
                </a:r>
              </a:p>
              <a:p>
                <a:r>
                  <a:rPr lang="ru-RU" dirty="0">
                    <a:solidFill>
                      <a:srgbClr val="1D1D1F"/>
                    </a:solidFill>
                    <a:latin typeface="system-ui"/>
                  </a:rPr>
                  <a:t>Проверка кодом подтвердила теорему</a:t>
                </a:r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5E97C3F-0D35-1EF9-DF86-888D1B43CC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50" y="1971585"/>
                <a:ext cx="7188200" cy="1477328"/>
              </a:xfrm>
              <a:prstGeom prst="rect">
                <a:avLst/>
              </a:prstGeom>
              <a:blipFill>
                <a:blip r:embed="rId2"/>
                <a:stretch>
                  <a:fillRect l="-705" t="-1709" b="-512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9544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E133C-19AD-77B1-1E23-0CEB3FA5D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BEF47902-F6F9-0FE8-A4C3-DCFEDC32B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Качество модели</a:t>
            </a:r>
            <a:r>
              <a:rPr lang="en-US" sz="2400" dirty="0"/>
              <a:t>, </a:t>
            </a:r>
            <a:r>
              <a:rPr lang="ru-RU" sz="2400" dirty="0"/>
              <a:t>ошибка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AEAEC2-67E1-6710-8240-EDB774E81888}"/>
                  </a:ext>
                </a:extLst>
              </p:cNvPr>
              <p:cNvSpPr txBox="1"/>
              <p:nvPr/>
            </p:nvSpPr>
            <p:spPr>
              <a:xfrm>
                <a:off x="704850" y="1751205"/>
                <a:ext cx="7785100" cy="10871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i="0" dirty="0">
                    <a:solidFill>
                      <a:srgbClr val="1D1D1F"/>
                    </a:solidFill>
                    <a:effectLst/>
                    <a:latin typeface="system-ui"/>
                  </a:rPr>
                  <a:t>Абсолютная ошибка: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𝑎𝑏𝑠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=∥</m:t>
                    </m:r>
                    <m:r>
                      <m:rPr>
                        <m:sty m:val="p"/>
                      </m:rPr>
                      <a:rPr lang="ar-AE">
                        <a:latin typeface="Cambria Math" panose="02040503050406030204" pitchFamily="18" charset="0"/>
                      </a:rPr>
                      <m:t>y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ar-AE">
                        <a:latin typeface="Cambria Math" panose="02040503050406030204" pitchFamily="18" charset="0"/>
                      </a:rPr>
                      <m:t>f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∥≈0.00881</m:t>
                    </m:r>
                  </m:oMath>
                </a14:m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r>
                  <a:rPr lang="ru-RU" i="0" dirty="0">
                    <a:solidFill>
                      <a:srgbClr val="1D1D1F"/>
                    </a:solidFill>
                    <a:effectLst/>
                    <a:latin typeface="system-ui"/>
                  </a:rPr>
                  <a:t>Относительная ошибка: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  <m:r>
                      <a:rPr lang="ar-AE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𝑎𝑏𝑠</m:t>
                            </m:r>
                          </m:sub>
                        </m:sSub>
                      </m:num>
                      <m:den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m:rPr>
                            <m:sty m:val="p"/>
                          </m:rPr>
                          <a:rPr lang="ar-AE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∥</m:t>
                        </m:r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≈0.057%</m:t>
                    </m:r>
                  </m:oMath>
                </a14:m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  <a:p>
                <a:r>
                  <a:rPr lang="ru-RU" i="0" dirty="0">
                    <a:solidFill>
                      <a:srgbClr val="1D1D1F"/>
                    </a:solidFill>
                    <a:effectLst/>
                    <a:latin typeface="system-ui"/>
                  </a:rPr>
                  <a:t>Коэффициент детерминации: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1−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  <m:sup>
                            <m:r>
                              <a:rPr lang="ar-A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×100%≈99.9999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endParaRPr lang="ar-AE" i="0" dirty="0">
                  <a:solidFill>
                    <a:srgbClr val="1D1D1F"/>
                  </a:solidFill>
                  <a:effectLst/>
                  <a:latin typeface="system-u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AEAEC2-67E1-6710-8240-EDB774E81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850" y="1751205"/>
                <a:ext cx="7785100" cy="1087157"/>
              </a:xfrm>
              <a:prstGeom prst="rect">
                <a:avLst/>
              </a:prstGeom>
              <a:blipFill>
                <a:blip r:embed="rId2"/>
                <a:stretch>
                  <a:fillRect l="-651" t="-3448" b="-689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48344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615A-49D0-B4AC-838D-0F3FA7127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D99EBB83-CD2D-588F-EA4C-C91B8662F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Графики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7CEC45-045A-1FC4-2AE4-9BE897300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700" y="881380"/>
            <a:ext cx="6070600" cy="364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335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C9C32-1AC8-2667-1D4B-3C763306B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61E92DE0-5381-3806-D2DE-3C5E8CC57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Графики</a:t>
            </a:r>
          </a:p>
        </p:txBody>
      </p:sp>
      <p:pic>
        <p:nvPicPr>
          <p:cNvPr id="3" name="Picture 2" descr="A graph with green lines&#10;&#10;AI-generated content may be incorrect.">
            <a:extLst>
              <a:ext uri="{FF2B5EF4-FFF2-40B4-BE49-F238E27FC236}">
                <a16:creationId xmlns:a16="http://schemas.microsoft.com/office/drawing/2014/main" id="{3111C3D1-730F-E0C5-1F23-8A4555FB7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250" y="908050"/>
            <a:ext cx="6057900" cy="3634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216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EBAF1-51C0-EF71-694B-2B3C738EA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0A47C85-F5DC-86C3-01AC-D7C4850F3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/>
          <a:p>
            <a:r>
              <a:rPr lang="ru-RU" sz="2400" dirty="0"/>
              <a:t>Графики</a:t>
            </a:r>
          </a:p>
        </p:txBody>
      </p:sp>
      <p:pic>
        <p:nvPicPr>
          <p:cNvPr id="3" name="Picture 2" descr="A graph with blue bars&#10;&#10;AI-generated content may be incorrect.">
            <a:extLst>
              <a:ext uri="{FF2B5EF4-FFF2-40B4-BE49-F238E27FC236}">
                <a16:creationId xmlns:a16="http://schemas.microsoft.com/office/drawing/2014/main" id="{00DB17B2-D298-CC99-0D7E-231790D14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32" y="763270"/>
            <a:ext cx="6457950" cy="387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63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01813"/>
            <a:ext cx="8229600" cy="620712"/>
          </a:xfrm>
        </p:spPr>
        <p:txBody>
          <a:bodyPr>
            <a:noAutofit/>
          </a:bodyPr>
          <a:lstStyle/>
          <a:p>
            <a:pPr algn="ctr"/>
            <a:r>
              <a:rPr lang="ru-RU" sz="4400" dirty="0"/>
              <a:t>Спасибо</a:t>
            </a:r>
            <a:br>
              <a:rPr lang="ru-RU" sz="4400" dirty="0"/>
            </a:br>
            <a:r>
              <a:rPr lang="ru-RU" sz="4400" dirty="0"/>
              <a:t>за внимание!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45834-34CB-F6E2-51BC-F26A92C144A1}"/>
              </a:ext>
            </a:extLst>
          </p:cNvPr>
          <p:cNvSpPr txBox="1"/>
          <p:nvPr/>
        </p:nvSpPr>
        <p:spPr>
          <a:xfrm>
            <a:off x="6880123" y="4468762"/>
            <a:ext cx="1914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dirty="0">
                <a:solidFill>
                  <a:schemeClr val="bg1"/>
                </a:solidFill>
                <a:latin typeface="Golos Text" panose="020B0503020202020204" pitchFamily="34" charset="-52"/>
                <a:cs typeface="Golos Text" panose="020B0503020202020204" pitchFamily="34" charset="-52"/>
              </a:rPr>
              <a:t>Ваши 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18649425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5735</TotalTime>
  <Words>522</Words>
  <Application>Microsoft Macintosh PowerPoint</Application>
  <PresentationFormat>On-screen Show (16:9)</PresentationFormat>
  <Paragraphs>93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ALS Gorizont Bold Expanded</vt:lpstr>
      <vt:lpstr>Arial</vt:lpstr>
      <vt:lpstr>Calibri</vt:lpstr>
      <vt:lpstr>Cambria Math</vt:lpstr>
      <vt:lpstr>Golos Text</vt:lpstr>
      <vt:lpstr>Golos Text DemiBold</vt:lpstr>
      <vt:lpstr>system-ui</vt:lpstr>
      <vt:lpstr>Times New Roman</vt:lpstr>
      <vt:lpstr>Тема1</vt:lpstr>
      <vt:lpstr>Аппроксимация экспериментальных данных тригонометрическим многочленом</vt:lpstr>
      <vt:lpstr>Условие задания</vt:lpstr>
      <vt:lpstr>Математическая модель</vt:lpstr>
      <vt:lpstr>Подпространство сигналов и ортогональный базис</vt:lpstr>
      <vt:lpstr>Оператор ортогонального проектирования</vt:lpstr>
      <vt:lpstr>Как ортогональность упрощает вычисления</vt:lpstr>
      <vt:lpstr>Формулы расчетов</vt:lpstr>
      <vt:lpstr>Вычисления коэффициентов</vt:lpstr>
      <vt:lpstr>Проверка ортогональности</vt:lpstr>
      <vt:lpstr>Качество модели, ошибка</vt:lpstr>
      <vt:lpstr>Графики</vt:lpstr>
      <vt:lpstr>Графики</vt:lpstr>
      <vt:lpstr>Графики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Добкес Михаил Константинович</cp:lastModifiedBy>
  <cp:revision>131</cp:revision>
  <dcterms:created xsi:type="dcterms:W3CDTF">2014-06-27T12:30:22Z</dcterms:created>
  <dcterms:modified xsi:type="dcterms:W3CDTF">2026-05-23T17:50:54Z</dcterms:modified>
</cp:coreProperties>
</file>