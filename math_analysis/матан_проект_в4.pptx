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51"/>
  </p:notesMasterIdLst>
  <p:handoutMasterIdLst>
    <p:handoutMasterId r:id="rId52"/>
  </p:handoutMasterIdLst>
  <p:sldIdLst>
    <p:sldId id="265" r:id="rId2"/>
    <p:sldId id="324" r:id="rId3"/>
    <p:sldId id="382" r:id="rId4"/>
    <p:sldId id="372" r:id="rId5"/>
    <p:sldId id="376" r:id="rId6"/>
    <p:sldId id="378" r:id="rId7"/>
    <p:sldId id="284" r:id="rId8"/>
    <p:sldId id="379" r:id="rId9"/>
    <p:sldId id="331" r:id="rId10"/>
    <p:sldId id="380" r:id="rId11"/>
    <p:sldId id="332" r:id="rId12"/>
    <p:sldId id="333" r:id="rId13"/>
    <p:sldId id="381" r:id="rId14"/>
    <p:sldId id="383" r:id="rId15"/>
    <p:sldId id="386" r:id="rId16"/>
    <p:sldId id="337" r:id="rId17"/>
    <p:sldId id="339" r:id="rId18"/>
    <p:sldId id="340" r:id="rId19"/>
    <p:sldId id="341" r:id="rId20"/>
    <p:sldId id="342" r:id="rId21"/>
    <p:sldId id="385" r:id="rId22"/>
    <p:sldId id="343" r:id="rId23"/>
    <p:sldId id="344" r:id="rId24"/>
    <p:sldId id="346" r:id="rId25"/>
    <p:sldId id="345" r:id="rId26"/>
    <p:sldId id="347" r:id="rId27"/>
    <p:sldId id="348" r:id="rId28"/>
    <p:sldId id="349" r:id="rId29"/>
    <p:sldId id="350" r:id="rId30"/>
    <p:sldId id="351" r:id="rId31"/>
    <p:sldId id="352" r:id="rId32"/>
    <p:sldId id="353" r:id="rId33"/>
    <p:sldId id="354" r:id="rId34"/>
    <p:sldId id="355" r:id="rId35"/>
    <p:sldId id="356" r:id="rId36"/>
    <p:sldId id="357" r:id="rId37"/>
    <p:sldId id="359" r:id="rId38"/>
    <p:sldId id="361" r:id="rId39"/>
    <p:sldId id="362" r:id="rId40"/>
    <p:sldId id="363" r:id="rId41"/>
    <p:sldId id="375" r:id="rId42"/>
    <p:sldId id="365" r:id="rId43"/>
    <p:sldId id="366" r:id="rId44"/>
    <p:sldId id="367" r:id="rId45"/>
    <p:sldId id="368" r:id="rId46"/>
    <p:sldId id="369" r:id="rId47"/>
    <p:sldId id="370" r:id="rId48"/>
    <p:sldId id="371" r:id="rId49"/>
    <p:sldId id="263" r:id="rId5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72" autoAdjust="0"/>
  </p:normalViewPr>
  <p:slideViewPr>
    <p:cSldViewPr snapToGrid="0" snapToObjects="1" showGuides="1">
      <p:cViewPr varScale="1">
        <p:scale>
          <a:sx n="123" d="100"/>
          <a:sy n="123" d="100"/>
        </p:scale>
        <p:origin x="1188" y="102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8" Type="http://schemas.microsoft.com/office/2018/10/relationships/authors" Target="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desmos.com/calculator/wqd6nq1gy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www.google.com/search?q=%D0%BA%D1%80%D0%B8%D1%82%D0%B5%D1%80%D0%B8%D0%B9+%D0%9A%D0%BE%D1%88%D0%B8&amp;oq=%D0%BE%D0%BF%D1%80%D0%B5%D0%B4%D0%B5%D0%BB%D0%B5%D0%BD%D0%B8%D0%B5+%D1%81%D1%85%D0%BE%D0%B4%D0%B8%D0%BC%D0%BE%D1%81%D1%82%D0%B8+%D0%BF%D0%BE%D1%81%D0%BB%D0%B5%D0%B4%D0%BE%D0%B2%D0%B0%D1%82%D0%B5%D0%BB%D1%8C%D0%BD%D0%BE%D1%81%D1%82%D0%B8&amp;gs_lcrp=EgZjaHJvbWUyBggAEEUYOTIICAEQABgWGB4yBwgCEAAY7wUyBwgDEAAY7wUyBwgEEAAY7wXSAQkxMTU1NWowajeoAgCwAgA&amp;sourceid=chrome&amp;ie=UTF-8&amp;mstk=AUtExfBEoLPgWZ5SL4VJ5iwFGpRmIFH8AWup0AoiZLISJCVj-9Fwk7-zqTz3Prz0fMeo-pe43sDqd_F10IqhDpaXeN4YZ57-GcRWaPoqQUv8HRym5m5pafJ3hd0TceeiTixG1PInAy3vtEQvpcEbLnZCkuMsID4mZVmM7Q4K4pS57vLDHgg&amp;csui=3&amp;ved=2ahUKEwiZg66s2tCRAxUbD1kFHQ1zI50QgK4QegQIAhA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cmyuypy49" TargetMode="External"/><Relationship Id="rId2" Type="http://schemas.openxmlformats.org/officeDocument/2006/relationships/hyperlink" Target="https://www.desmos.com/calculator/atzgwg4jq1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www.desmos.com/calculator/m8rr803qb8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0fqbqvrqkt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ltbzzzlr8?lang=ru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0" y="1848761"/>
            <a:ext cx="9144000" cy="1166878"/>
          </a:xfrm>
        </p:spPr>
        <p:txBody>
          <a:bodyPr>
            <a:no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Предел и производная функции одной переменной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18E84-DB0E-6607-38A4-5660155DB0D2}"/>
              </a:ext>
            </a:extLst>
          </p:cNvPr>
          <p:cNvSpPr txBox="1"/>
          <p:nvPr/>
        </p:nvSpPr>
        <p:spPr>
          <a:xfrm>
            <a:off x="-1" y="4774168"/>
            <a:ext cx="9143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2025, </a:t>
            </a:r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НИУ ИТМО, Санкт-Петербург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55FEE0-6ADA-7B44-AC09-40DE1A0518BE}"/>
              </a:ext>
            </a:extLst>
          </p:cNvPr>
          <p:cNvSpPr txBox="1"/>
          <p:nvPr/>
        </p:nvSpPr>
        <p:spPr>
          <a:xfrm>
            <a:off x="1" y="0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Математический анализ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A0031-8C49-B020-08DE-79F90710D11C}"/>
              </a:ext>
            </a:extLst>
          </p:cNvPr>
          <p:cNvSpPr txBox="1"/>
          <p:nvPr/>
        </p:nvSpPr>
        <p:spPr>
          <a:xfrm>
            <a:off x="6462793" y="3943171"/>
            <a:ext cx="2681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</a:rPr>
              <a:t>Добкес Михаил </a:t>
            </a:r>
            <a:r>
              <a:rPr lang="en-US" dirty="0">
                <a:solidFill>
                  <a:schemeClr val="bg1"/>
                </a:solidFill>
              </a:rPr>
              <a:t>P3106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Неевин</a:t>
            </a:r>
            <a:r>
              <a:rPr lang="ru-RU" dirty="0">
                <a:solidFill>
                  <a:schemeClr val="bg1"/>
                </a:solidFill>
              </a:rPr>
              <a:t> Олег</a:t>
            </a:r>
            <a:r>
              <a:rPr lang="en-US" dirty="0">
                <a:solidFill>
                  <a:schemeClr val="bg1"/>
                </a:solidFill>
              </a:rPr>
              <a:t> P3110</a:t>
            </a:r>
          </a:p>
          <a:p>
            <a:pPr algn="r"/>
            <a:r>
              <a:rPr lang="ru-RU" dirty="0">
                <a:solidFill>
                  <a:schemeClr val="bg1"/>
                </a:solidFill>
              </a:rPr>
              <a:t>Хайдаров Роберт</a:t>
            </a:r>
            <a:r>
              <a:rPr lang="en-US" dirty="0">
                <a:solidFill>
                  <a:schemeClr val="bg1"/>
                </a:solidFill>
              </a:rPr>
              <a:t> P3118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Прохоревич</a:t>
            </a:r>
            <a:r>
              <a:rPr lang="ru-RU" dirty="0">
                <a:solidFill>
                  <a:schemeClr val="bg1"/>
                </a:solidFill>
              </a:rPr>
              <a:t> Иван </a:t>
            </a:r>
            <a:r>
              <a:rPr lang="en-US" dirty="0">
                <a:solidFill>
                  <a:schemeClr val="bg1"/>
                </a:solidFill>
              </a:rPr>
              <a:t>P3110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E0DF9-CB66-F102-7EFA-03119786EF8D}"/>
              </a:ext>
            </a:extLst>
          </p:cNvPr>
          <p:cNvSpPr txBox="1"/>
          <p:nvPr/>
        </p:nvSpPr>
        <p:spPr>
          <a:xfrm>
            <a:off x="-2" y="3124031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Вариант 4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Варианты к заданиям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ru-RU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−3</m:t>
                                            </m:r>
                                          </m:e>
                                        </m:d>
                                      </m:e>
                                    </m:rad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5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6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+2</m:t>
                                        </m:r>
                                      </m:e>
                                    </m:rad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9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−2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+3</m:t>
                                        </m:r>
                                      </m:e>
                                    </m:rad>
                                  </m:den>
                                </m:f>
                                <m:r>
                                  <a:rPr lang="en-US" sz="1800" b="0" i="0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;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num>
                                          <m:den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2−10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              </a:r>
                          <a:endParaRPr lang="en-US" sz="1400" kern="1200" dirty="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9594" t="-42857" r="-177" b="-247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</a:t>
                          </a:r>
                          <a:r>
                            <a:rPr lang="ru-RU" sz="1400" kern="120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максимальный урожай</a:t>
                          </a:r>
                          <a:endParaRPr lang="en-US" sz="1400" kern="120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image12.png">
            <a:extLst>
              <a:ext uri="{FF2B5EF4-FFF2-40B4-BE49-F238E27FC236}">
                <a16:creationId xmlns:a16="http://schemas.microsoft.com/office/drawing/2014/main" id="{5B8414A0-41D8-6E49-D599-2A4EA58CBCA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029561" y="2571750"/>
            <a:ext cx="825500" cy="254000"/>
          </a:xfrm>
          <a:prstGeom prst="rect">
            <a:avLst/>
          </a:prstGeom>
          <a:ln/>
        </p:spPr>
      </p:pic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C2659BA9-CD7A-5B69-F998-FD12CB2B9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198448"/>
              </p:ext>
            </p:extLst>
          </p:nvPr>
        </p:nvGraphicFramePr>
        <p:xfrm>
          <a:off x="2247253" y="4129220"/>
          <a:ext cx="5798948" cy="515474"/>
        </p:xfrm>
        <a:graphic>
          <a:graphicData uri="http://schemas.openxmlformats.org/drawingml/2006/table">
            <a:tbl>
              <a:tblPr firstRow="1" bandRow="1"/>
              <a:tblGrid>
                <a:gridCol w="1449737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Температура, </a:t>
                      </a:r>
                      <a:r>
                        <a:rPr lang="ru-RU" sz="1000" baseline="30000" dirty="0" err="1">
                          <a:effectLst/>
                        </a:rPr>
                        <a:t>о</a:t>
                      </a:r>
                      <a:r>
                        <a:rPr lang="ru-RU" sz="1000" dirty="0" err="1">
                          <a:effectLst/>
                        </a:rPr>
                        <a:t>С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14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22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Урожайность, кг/м</a:t>
                      </a:r>
                      <a:r>
                        <a:rPr lang="ru-RU" sz="1000" baseline="30000">
                          <a:effectLst/>
                        </a:rPr>
                        <a:t>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0,91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1,06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0,88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59094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/>
              <p:nvPr/>
            </p:nvSpPr>
            <p:spPr>
              <a:xfrm>
                <a:off x="2069024" y="1716964"/>
                <a:ext cx="5005952" cy="170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200" smtClean="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 kern="1200">
                          <a:solidFill>
                            <a:schemeClr val="dk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9024" y="1716964"/>
                <a:ext cx="5005952" cy="170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726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</a:t>
            </a:r>
            <a:r>
              <a:rPr lang="en-US" dirty="0"/>
              <a:t> </a:t>
            </a:r>
            <a:r>
              <a:rPr lang="ru-RU" dirty="0"/>
              <a:t>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4113" y="1233715"/>
                <a:ext cx="7170057" cy="3410856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endParaRPr lang="en-US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−3</m:t>
                                      </m:r>
                                    </m:e>
                                  </m:d>
                                </m:e>
                              </m:rad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+2</m:t>
                                  </m:r>
                                </m:e>
                              </m:rad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+3</m:t>
                                  </m:r>
                                </m:e>
                              </m:rad>
                            </m:den>
                          </m:f>
                          <m:r>
                            <a:rPr lang="en-US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func>
                            <m:funcPr>
                              <m:ctrlPr>
                                <a:rPr lang="en-US" sz="180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lim</m:t>
                                  </m:r>
                                </m:e>
                                <m:lim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→∞</m:t>
                                  </m:r>
                                </m:lim>
                              </m:limLow>
                            </m:fName>
                            <m:e>
                              <m:f>
                                <m:fPr>
                                  <m:ctrlPr>
                                    <a:rPr lang="ru-RU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d>
                                        <m:dPr>
                                          <m:ctrlPr>
                                            <a:rPr lang="ru-RU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5−3</m:t>
                                          </m:r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rad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5+2</m:t>
                                      </m:r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6</m:t>
                                          </m:r>
                                        </m:sup>
                                      </m:sSup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9−2</m:t>
                                      </m:r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+3/(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en-US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1800" i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f>
                        <m:f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ad>
                                <m:radPr>
                                  <m:ctrlP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sup>
                          </m:sSup>
                        </m:num>
                        <m:den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13" y="1233715"/>
                <a:ext cx="7170057" cy="34108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3266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Монотонность, ограниченность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693" y="1016738"/>
                <a:ext cx="8276094" cy="3921066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Монотонность</a:t>
                </a:r>
                <a:r>
                  <a:rPr lang="en-US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Уже на первых трех членах видим что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+1</a:t>
                </a:r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Что говорит о том, что последовательность монотонно возрастает.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7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10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≈−0,206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i="1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i="1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32∗7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64∗5+2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9∗4−4+3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≈−0,132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sSup>
                              <m:sSupPr>
                                <m:ctrlP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5</m:t>
                                </m:r>
                              </m:sup>
                            </m:sSup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∗(15−3)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5∗</m:t>
                            </m:r>
                            <m:sSup>
                              <m:sSupPr>
                                <m:ctrlP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6</m:t>
                                </m:r>
                              </m:sup>
                            </m:sSup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+2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81−6+3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≈−0,126</m:t>
                    </m:r>
                  </m:oMath>
                </a14:m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Ограниченность: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Сверху ограничена пределом последовательности, то есть 0.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Снизу ограничена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 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так как последовательность монотонно возрастает.</a:t>
                </a: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93" y="1016738"/>
                <a:ext cx="8276094" cy="3921066"/>
              </a:xfrm>
              <a:prstGeom prst="rect">
                <a:avLst/>
              </a:prstGeom>
              <a:blipFill>
                <a:blip r:embed="rId2"/>
                <a:stretch>
                  <a:fillRect l="-663" t="-9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2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Autofit/>
          </a:bodyPr>
          <a:lstStyle/>
          <a:p>
            <a:r>
              <a:rPr lang="ru-RU" sz="2900" dirty="0"/>
              <a:t>График общего члена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DDC359-62A8-E81D-8598-739B970E3A55}"/>
              </a:ext>
            </a:extLst>
          </p:cNvPr>
          <p:cNvSpPr txBox="1"/>
          <p:nvPr/>
        </p:nvSpPr>
        <p:spPr>
          <a:xfrm>
            <a:off x="1270859" y="3528163"/>
            <a:ext cx="6602279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https://www.desmos.com/calculator/wqd6nq1gyt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0807A6-D220-00F8-332D-C8E16B1481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18" t="38123" b="5380"/>
          <a:stretch/>
        </p:blipFill>
        <p:spPr>
          <a:xfrm>
            <a:off x="1270861" y="1295332"/>
            <a:ext cx="6602278" cy="175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сходимости 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</p:spPr>
            <p:txBody>
              <a:bodyPr>
                <a:noAutofit/>
              </a:bodyPr>
              <a:lstStyle/>
              <a:p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Сходимость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последовательности — это свойство числовой последовательности иметь конечный предел при стремлении индекса 𝑛 к бесконечности, то есть её члены «приближаются» к определённому числу 𝑎.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предел существует и конечен, последовательность сходится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нет (стремится к бесконечности или не имеет предела), она расходится.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Ключевые признаки сходимости включают </a:t>
                </a:r>
                <a:r>
                  <a:rPr lang="ru-RU" sz="1800" b="1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критерий Коши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(для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&gt; 0 существует 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такой, что для  𝑚,𝑛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выполняется|𝑥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𝑚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−𝑥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|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&lt;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и теоремы о монотонных и ограниченных последовательностях (монотонная и ограниченная последовательность всегда сходится). </a:t>
                </a:r>
                <a:endParaRPr lang="ru-RU" sz="1800" b="0" i="0" dirty="0">
                  <a:solidFill>
                    <a:srgbClr val="2C2D2E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  <a:blipFill>
                <a:blip r:embed="rId3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422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717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ограниченности последовательности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072459"/>
            <a:ext cx="8291594" cy="3447143"/>
          </a:xfrm>
        </p:spPr>
        <p:txBody>
          <a:bodyPr>
            <a:no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Числовая последовательность называется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ограниченной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если все её элементы ограничены как снизу, так и сверху, то есть находятся в некотором конечном интервале на числовой прямой; это эквивалентно существованию такого числа 𝐶&gt;0, что для всех членов последовательности 𝑥</a:t>
            </a:r>
            <a:r>
              <a:rPr lang="en-US" sz="1800" baseline="-25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выполняется неравенство |𝑥</a:t>
            </a:r>
            <a:r>
              <a:rPr lang="en-US" sz="1800" baseline="-25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|&lt;𝐶. Иными словами, она не уходит в бесконечность ни в положительном, ни в отрицательном направлении. 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Основные определения: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Ограниченная сверху: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Существует такое число 𝑀, что 𝑥</a:t>
            </a:r>
            <a:r>
              <a:rPr lang="en-US" sz="1800" baseline="-25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≤𝑀 для всех𝑛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Ограниченная снизу: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Существует такое число 𝑚, что 𝑥𝑛≥𝑚 для всех 𝑛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Ограниченная: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Последовательность ограничена и сверху, и снизу. </a:t>
            </a:r>
          </a:p>
          <a:p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57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959" y="1470740"/>
            <a:ext cx="8252848" cy="3447143"/>
          </a:xfrm>
        </p:spPr>
        <p:txBody>
          <a:bodyPr>
            <a:noAutofit/>
          </a:bodyPr>
          <a:lstStyle/>
          <a:p>
            <a:pPr>
              <a:buSzPts val="1000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последовательность</a:t>
            </a:r>
            <a:r>
              <a:rPr lang="ru-RU" sz="1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- </a:t>
            </a:r>
            <a:r>
              <a:rPr lang="ru-RU" sz="18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это числовая последовательность, значения которой во времени (с увеличением номера члена) изменяются только в одном направлении: либо только не убывают, либо только не возрастают. 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Различают следующие виды монотонности для последовательности (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1. 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больше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меньше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&lt;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SzPts val="1000"/>
              <a:tabLst>
                <a:tab pos="457200" algn="l"/>
              </a:tabLst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2CBB43A-9030-23D9-3A41-EF773B4E3921}"/>
              </a:ext>
            </a:extLst>
          </p:cNvPr>
          <p:cNvSpPr txBox="1">
            <a:spLocks/>
          </p:cNvSpPr>
          <p:nvPr/>
        </p:nvSpPr>
        <p:spPr>
          <a:xfrm>
            <a:off x="457200" y="306435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596793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304933"/>
            <a:ext cx="8276096" cy="3447143"/>
          </a:xfrm>
        </p:spPr>
        <p:txBody>
          <a:bodyPr>
            <a:no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2. Нестрого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меньше (больше или равен) предыдущего.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     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≥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больше (меньше или равен)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≤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E2FED0E-8EE7-9C63-D7C1-75BAB379E6E1}"/>
              </a:ext>
            </a:extLst>
          </p:cNvPr>
          <p:cNvSpPr txBox="1">
            <a:spLocks/>
          </p:cNvSpPr>
          <p:nvPr/>
        </p:nvSpPr>
        <p:spPr>
          <a:xfrm>
            <a:off x="457199" y="400808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4113629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8" y="1056960"/>
            <a:ext cx="8361337" cy="3447143"/>
          </a:xfrm>
        </p:spPr>
        <p:txBody>
          <a:bodyPr>
            <a:noAutofit/>
          </a:bodyPr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Сходящаяся последовательность всегда ограничена (обратное неверно: например,  (−1)</a:t>
            </a:r>
            <a:r>
              <a:rPr lang="ru-RU" sz="1800" i="1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ограничена, но не сходится).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и ограниченная последовательность сходится (теорема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Вейерштрасса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A0D9719-1C0F-A57A-DAC5-5942C954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Связь свойств</a:t>
            </a:r>
          </a:p>
        </p:txBody>
      </p:sp>
    </p:spTree>
    <p:extLst>
      <p:ext uri="{BB962C8B-B14F-4D97-AF65-F5344CB8AC3E}">
        <p14:creationId xmlns:p14="http://schemas.microsoft.com/office/powerpoint/2010/main" val="2928318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1800" dirty="0">
                    <a:solidFill>
                      <a:schemeClr val="tx1"/>
                    </a:solidFill>
                  </a:rPr>
                  <a:t>1. </a:t>
                </a:r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=0.2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(-0.2, 0.2)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  <a:endParaRPr lang="en-US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https://www.desmos.com/calculator/atzgwg4jq1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(-0.115, 0.115)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=36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https://www.desmos.com/calculator/xcmyuypy49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  <a:blipFill>
                <a:blip r:embed="rId4"/>
                <a:stretch>
                  <a:fillRect l="-583" t="-1060" b="-88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/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Анализ </a:t>
                </a:r>
                <a14:m>
                  <m:oMath xmlns:m="http://schemas.openxmlformats.org/officeDocument/2006/math">
                    <m:r>
                      <a:rPr lang="ru-RU" sz="2900" b="1" i="1" kern="10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ru-RU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sz="2900" b="1" i="1" kern="1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en-US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endParaRPr lang="ru-RU" sz="2900" b="1" dirty="0">
                  <a:latin typeface="Golos Text DemiBold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blipFill>
                <a:blip r:embed="rId5"/>
                <a:stretch>
                  <a:fillRect l="-2558" t="-11364" b="-329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175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</p:spPr>
            <p:txBody>
              <a:bodyPr>
                <a:noAutofit/>
              </a:bodyPr>
              <a:lstStyle/>
              <a:p>
                <a:pPr lvl="0"/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=0.115</a:t>
                </a:r>
              </a:p>
              <a:p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окрестность: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(-0.114, 0.114)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Начиная с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=22187 все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https://www.desmos.com/calculator/m8rr803qb8</a:t>
                </a:r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  <a:blipFill>
                <a:blip r:embed="rId3"/>
                <a:stretch>
                  <a:fillRect l="-583" t="-12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Анализ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1877" t="-11494" b="-344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865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9862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ru-RU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Функция</a:t>
                </a:r>
                <a:r>
                  <a:rPr lang="en-US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: </a:t>
                </a:r>
              </a:p>
              <a:p>
                <a:endParaRPr lang="en-US" sz="1600" b="1" kern="1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Область определения</a:t>
                </a:r>
                <a:r>
                  <a:rPr lang="en-US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Выражение под степенью должно быть положительно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2−10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&gt;0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Решим методом интервалов, а также найдем нули функции и разрывы второго рода: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27" t="-3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18.png">
            <a:extLst>
              <a:ext uri="{FF2B5EF4-FFF2-40B4-BE49-F238E27FC236}">
                <a16:creationId xmlns:a16="http://schemas.microsoft.com/office/drawing/2014/main" id="{002F8696-B829-06AC-DF00-D018AE97F4C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32768" y="1224997"/>
            <a:ext cx="1295400" cy="4445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177656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Расставим знаки на промежутках числовой прямой:</a:t>
                </a: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 есть, область определения функции: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;0.2</m:t>
                        </m:r>
                      </m:e>
                    </m:d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∪</m:t>
                    </m:r>
                    <m:d>
                      <m:dPr>
                        <m:begChr m:val="[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1,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653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9717AB5-D0E0-AC59-CC3D-528932EE912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76" t="22391" r="8087" b="16905"/>
          <a:stretch>
            <a:fillRect/>
          </a:stretch>
        </p:blipFill>
        <p:spPr bwMode="auto">
          <a:xfrm>
            <a:off x="890715" y="1768406"/>
            <a:ext cx="1891665" cy="71628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82845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0" i="1" kern="10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10−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76458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211943"/>
                <a:ext cx="8035871" cy="344714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 того чтобы проверить функцию на монотонность необходимо найти производную функции.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Используем метод логарифмического дифференцирования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fPr>
                                    <m:num>
                                      <m:d>
                                        <m:d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d>
                                        <m:d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2−10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211943"/>
                <a:ext cx="8035871" cy="3447143"/>
              </a:xfrm>
              <a:blipFill>
                <a:blip r:embed="rId2"/>
                <a:stretch>
                  <a:fillRect l="-607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924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943"/>
                <a:ext cx="8190854" cy="34471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Дифференцируем сложную функцию аккуратно и последовательно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=5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=5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8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943"/>
                <a:ext cx="8190854" cy="3447143"/>
              </a:xfrm>
              <a:blipFill>
                <a:blip r:embed="rId2"/>
                <a:stretch>
                  <a:fillRect l="-595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3117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Из выражения видно, что производная равна нулю в точке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=1(которая является разрывом из ОДЗ), а также в точке, в которой выполняется следующее равенство: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5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𝟎𝟗𝟖𝟓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  <a:blipFill>
                <a:blip r:embed="rId2"/>
                <a:stretch>
                  <a:fillRect l="-597" t="-1734" r="-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060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A11E20-DB6D-766F-585D-B8A677142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946" y="1681567"/>
            <a:ext cx="8152108" cy="2698550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Проверим как ведет себя функция на интервалах (-∞, 0.2) и [1, +∞).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(-∞, 0.2) функция убывает, проверяем это численно подставляя значения интервала в производную. Также очевидно, что это не нарушается, так как экстремум только один в другом интервале. 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[1, +∞) функция сначала возрастает, а затем убывает проверяем это также численно подставляя значения меньше и больше </a:t>
            </a:r>
            <a:r>
              <a:rPr lang="en-US" sz="1800" kern="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800" kern="100" baseline="-25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в производную.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265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 функции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1FB699-5D51-69BC-6941-FB2F4D270F3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25"/>
          <a:stretch>
            <a:fillRect/>
          </a:stretch>
        </p:blipFill>
        <p:spPr bwMode="auto">
          <a:xfrm>
            <a:off x="2758122" y="1091662"/>
            <a:ext cx="3627755" cy="36576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57631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Вычислим пределы при стремлении функции к крайним точкам: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0.2−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b>
                          </m:sSub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∞</m:t>
                              </m:r>
                            </m:e>
                            <m:sup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∞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000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 первом интервале функция ограничена снизу нулём.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blipFill>
                <a:blip r:embed="rId2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9360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573437" y="997634"/>
                <a:ext cx="8043621" cy="3446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Проверим второй интервал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1+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Исходя из полученного ранее экстремума на втором интервале, а также первого предела и предела выше, можно сделать вывод что на втором интервале, функция ограничена снизу нулём, а сверху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1.3∗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−5</m:t>
                            </m:r>
                          </m:e>
                        </m:d>
                      </m:sup>
                    </m:sSup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1.0985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1−1.0985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2−10∗1.0985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5∗1.0985−3</m:t>
                              </m:r>
                            </m:e>
                          </m:d>
                        </m:sup>
                      </m:sSup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≈1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.3∗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−5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37" y="997634"/>
                <a:ext cx="8043621" cy="3446136"/>
              </a:xfrm>
              <a:prstGeom prst="rect">
                <a:avLst/>
              </a:prstGeom>
              <a:blipFill>
                <a:blip r:embed="rId2"/>
                <a:stretch>
                  <a:fillRect l="-606" t="-1062" r="-2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299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3" y="306435"/>
            <a:ext cx="7377193" cy="527284"/>
          </a:xfrm>
        </p:spPr>
        <p:txBody>
          <a:bodyPr>
            <a:noAutofit/>
          </a:bodyPr>
          <a:lstStyle/>
          <a:p>
            <a:pPr marL="228600" algn="ctr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Определения сходимости, монотонности, ограниченности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Сходимость к пределу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m:rPr>
                        <m:nor/>
                      </m:rPr>
                      <a: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  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)−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 данном случае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&gt;0,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Монотонность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такое, что на интервале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,+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функция либо только возрастает, либо только убывает.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blipFill>
                <a:blip r:embed="rId2"/>
                <a:stretch>
                  <a:fillRect l="-597" t="-14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9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dirty="0"/>
                  <a:t>Анализ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ru-RU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8391" b="-436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4426173-6560-BC6F-A1E1-89B73ABB3EB8}"/>
              </a:ext>
            </a:extLst>
          </p:cNvPr>
          <p:cNvSpPr txBox="1"/>
          <p:nvPr/>
        </p:nvSpPr>
        <p:spPr>
          <a:xfrm>
            <a:off x="457200" y="997634"/>
            <a:ext cx="8159858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б) 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=2⋅10-5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=10-5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=5⋅10-6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Эти значения близки с максимальным значением функции на правой ветви </a:t>
            </a:r>
            <a:r>
              <a:rPr lang="en-US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ru-RU" baseline="-250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≈1.3⋅10-5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=5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=15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Эти значения для левой ветви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в) Изображение </a:t>
            </a:r>
            <a:r>
              <a:rPr lang="ru-RU" altLang="ru-RU" b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-окрестностей на графике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каждого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на графике функции изобразим горизонтальную полосу (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-трубу):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2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7767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4426173-6560-BC6F-A1E1-89B73ABB3EB8}"/>
              </a:ext>
            </a:extLst>
          </p:cNvPr>
          <p:cNvSpPr txBox="1"/>
          <p:nvPr/>
        </p:nvSpPr>
        <p:spPr>
          <a:xfrm>
            <a:off x="457199" y="1129369"/>
            <a:ext cx="840008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г) Нахождение </a:t>
            </a:r>
            <a:r>
              <a:rPr lang="ru-RU" altLang="ru-RU" b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для каждого </a:t>
            </a:r>
            <a:r>
              <a:rPr lang="ru-RU" altLang="ru-RU" b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Поскольку при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функция строго убывает, то для</a:t>
            </a:r>
            <a:r>
              <a:rPr lang="en-US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любого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ε&gt;0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условие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f(x)&lt;ε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выполняется для всех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x&gt;X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где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— корень уравнения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f(x)=ε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(если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ε&lt;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ru-RU" altLang="ru-RU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), либо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X=1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(если 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ε≥f</a:t>
            </a:r>
            <a:r>
              <a:rPr lang="ru-RU" altLang="ru-RU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altLang="ru-RU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Численное решение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=2⋅10-5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Так как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ru-RU" altLang="ru-RU" baseline="-25000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неравенство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f(x)&lt;ε1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выполняется для всех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x&gt;1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Берём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Уравнение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f(x)=10-5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имеет корень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x≈1.17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(правее максимума). Берём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≈1.17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=5⋅10-6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Уравнение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f(x)=5⋅10-6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имеет корень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x≈1.26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Берём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≈1.26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800" dirty="0"/>
          </a:p>
        </p:txBody>
      </p:sp>
    </p:spTree>
    <p:extLst>
      <p:ext uri="{BB962C8B-B14F-4D97-AF65-F5344CB8AC3E}">
        <p14:creationId xmlns:p14="http://schemas.microsoft.com/office/powerpoint/2010/main" val="2460571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EE20EF-F57B-A651-F1AF-C4CF8C2929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06" b="12058"/>
          <a:stretch>
            <a:fillRect/>
          </a:stretch>
        </p:blipFill>
        <p:spPr bwMode="auto">
          <a:xfrm>
            <a:off x="615304" y="1100380"/>
            <a:ext cx="7960280" cy="296017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7AD8B13-E3AA-FC9A-FE5F-C3A0F0CAFD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304" y="4043120"/>
                <a:ext cx="8077110" cy="92333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Заметим что предложенные</a:t>
                </a:r>
                <a:r>
                  <a: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ru-RU" altLang="ru-RU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-трубы не подходят для левой ветки, также как и вторая тройка значений, потому что функция возрастает</a:t>
                </a:r>
                <a:endPara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7AD8B13-E3AA-FC9A-FE5F-C3A0F0CAFD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5304" y="4043120"/>
                <a:ext cx="8077110" cy="923330"/>
              </a:xfrm>
              <a:prstGeom prst="rect">
                <a:avLst/>
              </a:prstGeom>
              <a:blipFill>
                <a:blip r:embed="rId4"/>
                <a:stretch>
                  <a:fillRect l="-679" t="-328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317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7AD8B13-E3AA-FC9A-FE5F-C3A0F0CAF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304" y="4320119"/>
            <a:ext cx="8077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/>
              <a:t>Вывод</a:t>
            </a:r>
            <a:r>
              <a:rPr lang="ru-RU" dirty="0"/>
              <a:t>: Окрестности, в которую бы попадали все значения функций нет.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CB4D716-51F4-61FD-B7D5-48B7C957CE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60" b="15197"/>
          <a:stretch>
            <a:fillRect/>
          </a:stretch>
        </p:blipFill>
        <p:spPr bwMode="auto">
          <a:xfrm>
            <a:off x="1585087" y="1080554"/>
            <a:ext cx="6137543" cy="296256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21093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</a:t>
            </a:r>
            <a:r>
              <a:rPr lang="en-US" dirty="0"/>
              <a:t>2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8"/>
            <a:ext cx="7467600" cy="3598744"/>
          </a:xfrm>
        </p:spPr>
        <p:txBody>
          <a:bodyPr>
            <a:noAutofit/>
          </a:bodyPr>
          <a:lstStyle/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Дана задача. Проведите исследование: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1)	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2)	Решите задачу аналитически.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3)	Сделайте графическую иллюстрацию к решению задачи. Сверьтесь с аналитическим решением.</a:t>
            </a:r>
          </a:p>
          <a:p>
            <a:pPr marL="342900" indent="-342900">
              <a:buAutoNum type="arabicParenR" startAt="4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Запишите ответ.</a:t>
            </a:r>
            <a:endParaRPr lang="en-US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Период колебания маятника                   , где 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– длина маятника в сантиметрах. Как нужно изменить длину маятника 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l=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20 см, чтобы период колебания уменьшился на 0,1 с?</a:t>
            </a:r>
            <a:endParaRPr lang="ru-RU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12.png">
            <a:extLst>
              <a:ext uri="{FF2B5EF4-FFF2-40B4-BE49-F238E27FC236}">
                <a16:creationId xmlns:a16="http://schemas.microsoft.com/office/drawing/2014/main" id="{FA3BABBD-1955-2337-9102-B2D128671DDA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456641" y="3965752"/>
            <a:ext cx="825500" cy="2540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6709220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Период маятника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en-US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𝜋</m:t>
                    </m:r>
                    <m:rad>
                      <m:radPr>
                        <m:degHide m:val="on"/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num>
                          <m:den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den>
                        </m:f>
                      </m:e>
                    </m:rad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ru-RU" sz="1600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0,1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𝑐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Длина маятника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Найти: 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=?</m:t>
                    </m:r>
                  </m:oMath>
                </a14:m>
                <a:r>
                  <a:rPr lang="ru-RU" sz="1600" i="1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т.е. требуется, чтобы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d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Подставляя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=20</m:t>
                    </m:r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=−0,1</m:t>
                    </m:r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получаем уравнение с одним неизвестным: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  <a:blipFill>
                <a:blip r:embed="rId2"/>
                <a:stretch>
                  <a:fillRect l="-4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143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 Решаем исходное уравнение без приближений: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738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20+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e>
                          </m:rad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</m:e>
                      </m:rad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</m:e>
                              </m:rad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800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981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π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20= 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3,97</m:t>
                          </m:r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−20 = −4,23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359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</p:spPr>
            <p:txBody>
              <a:bodyPr>
                <a:no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Воспользуемся теоремой о дифференциале функции одной переменной.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Функция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непрерывно дифференцируема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0;+∞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, поэтому в окрестности точки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применимо линейное приближение. Для малого изменения кривую заменим касательной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≈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ⅆ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  <a:blipFill>
                <a:blip r:embed="rId2"/>
                <a:stretch>
                  <a:fillRect l="-657" t="-20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088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Находим производную (наклон касательной):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981⋅</m:t>
                            </m:r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3,14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981⋅20</m:t>
                              </m:r>
                            </m:e>
                          </m:ra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=0,2=0,0224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Отсюда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0,1</m:t>
                          </m:r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0224</m:t>
                          </m:r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=−4,46 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92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7"/>
            <a:ext cx="7467600" cy="3786317"/>
          </a:xfrm>
        </p:spPr>
        <p:txBody>
          <a:bodyPr>
            <a:no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Почему ответы чуть различаются?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Линеаризация даёт первое приближение; погрешность 0,23 см (≈ 5 %) допустима.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Точное значение: –4,23 см.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44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127A73-0C63-0E27-C6D6-7288AB1A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05" y="1361586"/>
            <a:ext cx="5939790" cy="28028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C66026-0CB2-D357-0F09-0B54A772F91E}"/>
              </a:ext>
            </a:extLst>
          </p:cNvPr>
          <p:cNvSpPr txBox="1"/>
          <p:nvPr/>
        </p:nvSpPr>
        <p:spPr>
          <a:xfrm>
            <a:off x="2275630" y="4078353"/>
            <a:ext cx="5005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ru-RU" sz="1800" i="1" u="sng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https://www.desmos.com/calculator/0fqbqvrqkt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2ABE-6F31-F4EC-FC1F-ABC372376A9E}"/>
              </a:ext>
            </a:extLst>
          </p:cNvPr>
          <p:cNvSpPr txBox="1"/>
          <p:nvPr/>
        </p:nvSpPr>
        <p:spPr>
          <a:xfrm>
            <a:off x="1159809" y="992254"/>
            <a:ext cx="6824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периода T от длины l и касательная в точке l₀ = 20 см</a:t>
            </a:r>
          </a:p>
        </p:txBody>
      </p:sp>
    </p:spTree>
    <p:extLst>
      <p:ext uri="{BB962C8B-B14F-4D97-AF65-F5344CB8AC3E}">
        <p14:creationId xmlns:p14="http://schemas.microsoft.com/office/powerpoint/2010/main" val="1898499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348712" y="2040326"/>
            <a:ext cx="84465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Чтобы уменьшить период маятника на 0,1 с, длину нити следует укоротить на 4,2 см (точное значение –4,23 см).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81176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Дана задача. Проведите исследование: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Решите задачу аналитически.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Сделайте графическую иллюстрацию к решению задачи. Сверьтесь с аналитическим решением.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Aft>
                <a:spcPts val="30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Запишите ответ.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6834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kern="1200" dirty="0">
                <a:solidFill>
                  <a:schemeClr val="dk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</a:r>
            <a:endParaRPr lang="en-US" sz="1800" kern="1200" dirty="0">
              <a:solidFill>
                <a:schemeClr val="dk1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9D11B036-0AC8-2B35-90B0-EB3D53EC0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934928"/>
              </p:ext>
            </p:extLst>
          </p:nvPr>
        </p:nvGraphicFramePr>
        <p:xfrm>
          <a:off x="1672526" y="3292312"/>
          <a:ext cx="5798948" cy="822960"/>
        </p:xfrm>
        <a:graphic>
          <a:graphicData uri="http://schemas.openxmlformats.org/drawingml/2006/table">
            <a:tbl>
              <a:tblPr firstRow="1" bandRow="1"/>
              <a:tblGrid>
                <a:gridCol w="1880498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018976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Температура, </a:t>
                      </a:r>
                      <a:r>
                        <a:rPr lang="ru-RU" sz="1800" baseline="30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Урожайность, кг/м</a:t>
                      </a:r>
                      <a:r>
                        <a:rPr lang="ru-RU" sz="1800" baseline="30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0,91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0,88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746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x — среднесуточная температура, °C 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y — урожайность пшеницы, кг/м²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>
                    <a:latin typeface="Calibri" panose="020F0502020204030204" pitchFamily="34" charset="0"/>
                    <a:ea typeface="Calibri" panose="020F0502020204030204" pitchFamily="34" charset="0"/>
                  </a:rPr>
                  <a:t>По условию, между </a:t>
                </a:r>
                <a:r>
                  <a:rPr lang="ru-RU" dirty="0"/>
                  <a:t>температурой и урожайностью установлена квадратичная зависимость, то есть: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𝑎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𝑏𝑥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𝑐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где a,</a:t>
                </a:r>
                <a:r>
                  <a:rPr lang="en-US" dirty="0"/>
                  <a:t> </a:t>
                </a:r>
                <a:r>
                  <a:rPr lang="ru-RU" dirty="0"/>
                  <a:t>b,</a:t>
                </a:r>
                <a:r>
                  <a:rPr lang="en-US" dirty="0"/>
                  <a:t> c</a:t>
                </a:r>
                <a:r>
                  <a:rPr lang="ru-RU" dirty="0"/>
                  <a:t>— неизвестные коэффициенты.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Подставим</a:t>
                </a:r>
                <a:r>
                  <a:rPr lang="en-US" dirty="0"/>
                  <a:t> </a:t>
                </a:r>
                <a:r>
                  <a:rPr lang="ru-RU" dirty="0"/>
                  <a:t>экспериментальные данные в модель и получим систему уравнений: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eqArr>
                                      <m:eqArr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196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+14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=0,91</m:t>
                                        </m:r>
                                      </m:e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256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=1,06</m:t>
                                        </m:r>
                                      </m:e>
                                    </m:eqAr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484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a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+22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b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=0,88​</m:t>
                                    </m:r>
                                  </m:e>
                                </m:eqAr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blipFill>
                <a:blip r:embed="rId2"/>
                <a:stretch>
                  <a:fillRect l="-608" t="-749" r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85337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x — среднесуточная температура, °C 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y — урожайность пшеницы, кг/м²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>
                    <a:latin typeface="Calibri" panose="020F0502020204030204" pitchFamily="34" charset="0"/>
                    <a:ea typeface="Calibri" panose="020F0502020204030204" pitchFamily="34" charset="0"/>
                  </a:rPr>
                  <a:t>По условию, между </a:t>
                </a:r>
                <a:r>
                  <a:rPr lang="ru-RU" dirty="0"/>
                  <a:t>температурой и урожайностью установлена квадратичная зависимость, то есть: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𝑎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𝑏𝑥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𝑐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где a,</a:t>
                </a:r>
                <a:r>
                  <a:rPr lang="en-US" dirty="0"/>
                  <a:t> </a:t>
                </a:r>
                <a:r>
                  <a:rPr lang="ru-RU" dirty="0"/>
                  <a:t>b,</a:t>
                </a:r>
                <a:r>
                  <a:rPr lang="en-US" dirty="0"/>
                  <a:t> c</a:t>
                </a:r>
                <a:r>
                  <a:rPr lang="ru-RU" dirty="0"/>
                  <a:t>— неизвестные коэффициенты.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Подставим</a:t>
                </a:r>
                <a:r>
                  <a:rPr lang="en-US" dirty="0"/>
                  <a:t> </a:t>
                </a:r>
                <a:r>
                  <a:rPr lang="ru-RU" dirty="0"/>
                  <a:t>экспериментальные данные в модель и получим систему уравнений: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eqArr>
                                      <m:eqArr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196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+14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=0,91</m:t>
                                        </m:r>
                                      </m:e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256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=1,06</m:t>
                                        </m:r>
                                      </m:e>
                                    </m:eqAr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484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a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+22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b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=0,88​</m:t>
                                    </m:r>
                                  </m:e>
                                </m:eqAr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blipFill>
                <a:blip r:embed="rId2"/>
                <a:stretch>
                  <a:fillRect l="-608" t="-749" r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8064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Найдем коэффициенты </a:t>
                </a:r>
                <a:r>
                  <a:rPr lang="en-US" dirty="0"/>
                  <a:t>a, b, c</a:t>
                </a:r>
                <a:r>
                  <a:rPr lang="ru-RU" dirty="0"/>
                  <a:t> параболы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0,375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blipFill>
                <a:blip r:embed="rId2"/>
                <a:stretch>
                  <a:fillRect l="-684" t="-8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1E115A4-63EB-0C00-049E-6184B05E8AC2}"/>
              </a:ext>
            </a:extLst>
          </p:cNvPr>
          <p:cNvCxnSpPr/>
          <p:nvPr/>
        </p:nvCxnSpPr>
        <p:spPr>
          <a:xfrm>
            <a:off x="5284922" y="1391992"/>
            <a:ext cx="0" cy="72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5933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=−3,08 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=−0,013125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=0,46875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=−3,08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=−0,013125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46875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−3,08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blipFill>
                <a:blip r:embed="rId2"/>
                <a:stretch>
                  <a:fillRect l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61561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нахождения максимальной температуры ищем точку максимума</a:t>
                </a:r>
                <a:r>
                  <a:rPr lang="en-US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этого находим производную</a:t>
                </a:r>
                <a:r>
                  <a:rPr lang="en-US" b="0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nor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/>
                        <m:t>−0,02625</m:t>
                      </m:r>
                      <m:r>
                        <m:rPr>
                          <m:nor/>
                        </m:rPr>
                        <a:rPr lang="en-US"/>
                        <m:t>x</m:t>
                      </m:r>
                      <m:r>
                        <m:rPr>
                          <m:nor/>
                        </m:rPr>
                        <a:rPr lang="en-US"/>
                        <m:t>+0,46875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И находим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nor/>
                      </m:rPr>
                      <a:rPr lang="ru-RU" b="0" i="0" smtClean="0">
                        <a:latin typeface="Cambria Math" panose="02040503050406030204" pitchFamily="18" charset="0"/>
                      </a:rPr>
                      <m:t> = 0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𝑒𝑥𝑡𝑟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≈17,85714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Так как ветви параболы направлены вниз(</a:t>
                </a:r>
                <a:r>
                  <a:rPr lang="en-US" b="0" dirty="0"/>
                  <a:t>a&lt;0), </a:t>
                </a:r>
                <a:r>
                  <a:rPr lang="ru-RU" b="0" dirty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𝑒𝑥𝑡𝑟</m:t>
                        </m:r>
                      </m:sub>
                    </m:sSub>
                  </m:oMath>
                </a14:m>
                <a:r>
                  <a:rPr lang="en-US" b="0" dirty="0"/>
                  <a:t> - </a:t>
                </a:r>
                <a:r>
                  <a:rPr lang="ru-RU" b="0" dirty="0"/>
                  <a:t>точка максимума, а результат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𝑒𝑥𝑡𝑟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b="0" dirty="0"/>
                  <a:t> - максимальный</a:t>
                </a:r>
                <a:r>
                  <a:rPr lang="en-US" b="0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Ответ</a:t>
                </a:r>
                <a:r>
                  <a:rPr lang="en-US" b="0" dirty="0"/>
                  <a:t>: </a:t>
                </a:r>
                <a:r>
                  <a:rPr lang="ru-RU" b="0" dirty="0"/>
                  <a:t>оптимальная температура </a:t>
                </a:r>
                <a:r>
                  <a:rPr lang="en-US" b="0" dirty="0"/>
                  <a:t>= 17,85714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blipFill>
                <a:blip r:embed="rId2"/>
                <a:stretch>
                  <a:fillRect l="-684" t="-1075" r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11190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7" name="Рисунок 6" descr="Изображение выглядит как текст, линия, График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F8E44E5C-9D0A-6643-50BE-736D37BC79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216" b="21917"/>
          <a:stretch/>
        </p:blipFill>
        <p:spPr>
          <a:xfrm>
            <a:off x="2233846" y="1216617"/>
            <a:ext cx="4676308" cy="24254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20BB4D-47C2-D7DA-A521-2720F972B947}"/>
              </a:ext>
            </a:extLst>
          </p:cNvPr>
          <p:cNvSpPr txBox="1"/>
          <p:nvPr/>
        </p:nvSpPr>
        <p:spPr>
          <a:xfrm>
            <a:off x="976394" y="3790196"/>
            <a:ext cx="785764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b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https://www.desmos.com/calculator/xltbzzzlr8?lang=ru</a:t>
            </a:r>
            <a:endParaRPr lang="en-US" b="0" dirty="0"/>
          </a:p>
          <a:p>
            <a:pPr>
              <a:spcAft>
                <a:spcPts val="800"/>
              </a:spcAft>
            </a:pP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3544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/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Оптимальная температура</a:t>
                </a:r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17,85714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blipFill>
                <a:blip r:embed="rId2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3793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5608</TotalTime>
  <Words>2658</Words>
  <Application>Microsoft Office PowerPoint</Application>
  <PresentationFormat>Экран (16:9)</PresentationFormat>
  <Paragraphs>314</Paragraphs>
  <Slides>49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9" baseType="lpstr">
      <vt:lpstr>ALS Gorizont Bold Expanded</vt:lpstr>
      <vt:lpstr>Arial</vt:lpstr>
      <vt:lpstr>Calibri</vt:lpstr>
      <vt:lpstr>Cambria Math</vt:lpstr>
      <vt:lpstr>Golos Text</vt:lpstr>
      <vt:lpstr>Golos Text DemiBold</vt:lpstr>
      <vt:lpstr>Open Sans</vt:lpstr>
      <vt:lpstr>Symbol</vt:lpstr>
      <vt:lpstr>Times New Roman</vt:lpstr>
      <vt:lpstr>Тема1</vt:lpstr>
      <vt:lpstr>Предел и производная функции одной переменной</vt:lpstr>
      <vt:lpstr>Варианты к заданиям</vt:lpstr>
      <vt:lpstr>Условие задания 1</vt:lpstr>
      <vt:lpstr>Условие задания 1</vt:lpstr>
      <vt:lpstr>Предел последовательности</vt:lpstr>
      <vt:lpstr>Монотонность, ограниченность</vt:lpstr>
      <vt:lpstr>График общего члена</vt:lpstr>
      <vt:lpstr>Определение сходимости последовательности</vt:lpstr>
      <vt:lpstr>Определение ограниченности последовательности</vt:lpstr>
      <vt:lpstr>Презентация PowerPoint</vt:lpstr>
      <vt:lpstr>Презентация PowerPoint</vt:lpstr>
      <vt:lpstr>Связь свойств</vt:lpstr>
      <vt:lpstr>Презентация PowerPoint</vt:lpstr>
      <vt:lpstr>Анализ ε_3</vt:lpstr>
      <vt:lpstr>Условие задания 1</vt:lpstr>
      <vt:lpstr>Задание функции</vt:lpstr>
      <vt:lpstr>Задание функции</vt:lpstr>
      <vt:lpstr>Предел функции</vt:lpstr>
      <vt:lpstr>Монотонность</vt:lpstr>
      <vt:lpstr>Монотонность</vt:lpstr>
      <vt:lpstr>Монотонность</vt:lpstr>
      <vt:lpstr>Монотонность</vt:lpstr>
      <vt:lpstr>График функции</vt:lpstr>
      <vt:lpstr>Ограниченность</vt:lpstr>
      <vt:lpstr>Ограниченность</vt:lpstr>
      <vt:lpstr>Определения сходимости, монотонности, ограниченности</vt:lpstr>
      <vt:lpstr>Анализ ε_1, ε_2, ε_3</vt:lpstr>
      <vt:lpstr>Анализ ε_1, ε_2, ε_3</vt:lpstr>
      <vt:lpstr>Анализ ε_1, ε_2, ε_3</vt:lpstr>
      <vt:lpstr>Анализ ε_1, ε_2, ε_3</vt:lpstr>
      <vt:lpstr>Условие задания 2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График</vt:lpstr>
      <vt:lpstr>Ответ</vt:lpstr>
      <vt:lpstr>Условие задания 3</vt:lpstr>
      <vt:lpstr>Условие задания 3</vt:lpstr>
      <vt:lpstr>Математическая модель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График</vt:lpstr>
      <vt:lpstr>Ответ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Миша Добкес</dc:creator>
  <cp:lastModifiedBy>Миша Добкес</cp:lastModifiedBy>
  <cp:revision>227</cp:revision>
  <dcterms:created xsi:type="dcterms:W3CDTF">2014-06-27T12:30:22Z</dcterms:created>
  <dcterms:modified xsi:type="dcterms:W3CDTF">2025-12-22T22:08:35Z</dcterms:modified>
</cp:coreProperties>
</file>