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52"/>
  </p:notesMasterIdLst>
  <p:handoutMasterIdLst>
    <p:handoutMasterId r:id="rId53"/>
  </p:handoutMasterIdLst>
  <p:sldIdLst>
    <p:sldId id="265" r:id="rId2"/>
    <p:sldId id="324" r:id="rId3"/>
    <p:sldId id="382" r:id="rId4"/>
    <p:sldId id="372" r:id="rId5"/>
    <p:sldId id="376" r:id="rId6"/>
    <p:sldId id="378" r:id="rId7"/>
    <p:sldId id="284" r:id="rId8"/>
    <p:sldId id="379" r:id="rId9"/>
    <p:sldId id="331" r:id="rId10"/>
    <p:sldId id="380" r:id="rId11"/>
    <p:sldId id="332" r:id="rId12"/>
    <p:sldId id="333" r:id="rId13"/>
    <p:sldId id="381" r:id="rId14"/>
    <p:sldId id="383" r:id="rId15"/>
    <p:sldId id="386" r:id="rId16"/>
    <p:sldId id="337" r:id="rId17"/>
    <p:sldId id="339" r:id="rId18"/>
    <p:sldId id="340" r:id="rId19"/>
    <p:sldId id="341" r:id="rId20"/>
    <p:sldId id="342" r:id="rId21"/>
    <p:sldId id="385" r:id="rId22"/>
    <p:sldId id="343" r:id="rId23"/>
    <p:sldId id="344" r:id="rId24"/>
    <p:sldId id="346" r:id="rId25"/>
    <p:sldId id="345" r:id="rId26"/>
    <p:sldId id="347" r:id="rId27"/>
    <p:sldId id="348" r:id="rId28"/>
    <p:sldId id="349" r:id="rId29"/>
    <p:sldId id="350" r:id="rId30"/>
    <p:sldId id="351" r:id="rId31"/>
    <p:sldId id="352" r:id="rId32"/>
    <p:sldId id="353" r:id="rId33"/>
    <p:sldId id="354" r:id="rId34"/>
    <p:sldId id="355" r:id="rId35"/>
    <p:sldId id="356" r:id="rId36"/>
    <p:sldId id="357" r:id="rId37"/>
    <p:sldId id="359" r:id="rId38"/>
    <p:sldId id="360" r:id="rId39"/>
    <p:sldId id="361" r:id="rId40"/>
    <p:sldId id="362" r:id="rId41"/>
    <p:sldId id="363" r:id="rId42"/>
    <p:sldId id="375" r:id="rId43"/>
    <p:sldId id="365" r:id="rId44"/>
    <p:sldId id="366" r:id="rId45"/>
    <p:sldId id="367" r:id="rId46"/>
    <p:sldId id="368" r:id="rId47"/>
    <p:sldId id="369" r:id="rId48"/>
    <p:sldId id="370" r:id="rId49"/>
    <p:sldId id="371" r:id="rId50"/>
    <p:sldId id="263" r:id="rId5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72" autoAdjust="0"/>
  </p:normalViewPr>
  <p:slideViewPr>
    <p:cSldViewPr snapToGrid="0" snapToObjects="1" showGuides="1">
      <p:cViewPr varScale="1">
        <p:scale>
          <a:sx n="123" d="100"/>
          <a:sy n="123" d="100"/>
        </p:scale>
        <p:origin x="1188" y="102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zlmw6i4fwj?lang=ru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www.google.com/search?q=%D0%BA%D1%80%D0%B8%D1%82%D0%B5%D1%80%D0%B8%D0%B9+%D0%9A%D0%BE%D1%88%D0%B8&amp;oq=%D0%BE%D0%BF%D1%80%D0%B5%D0%B4%D0%B5%D0%BB%D0%B5%D0%BD%D0%B8%D0%B5+%D1%81%D1%85%D0%BE%D0%B4%D0%B8%D0%BC%D0%BE%D1%81%D1%82%D0%B8+%D0%BF%D0%BE%D1%81%D0%BB%D0%B5%D0%B4%D0%BE%D0%B2%D0%B0%D1%82%D0%B5%D0%BB%D1%8C%D0%BD%D0%BE%D1%81%D1%82%D0%B8&amp;gs_lcrp=EgZjaHJvbWUyBggAEEUYOTIICAEQABgWGB4yBwgCEAAY7wUyBwgDEAAY7wUyBwgEEAAY7wXSAQkxMTU1NWowajeoAgCwAgA&amp;sourceid=chrome&amp;ie=UTF-8&amp;mstk=AUtExfBEoLPgWZ5SL4VJ5iwFGpRmIFH8AWup0AoiZLISJCVj-9Fwk7-zqTz3Prz0fMeo-pe43sDqd_F10IqhDpaXeN4YZ57-GcRWaPoqQUv8HRym5m5pafJ3hd0TceeiTixG1PInAy3vtEQvpcEbLnZCkuMsID4mZVmM7Q4K4pS57vLDHgg&amp;csui=3&amp;ved=2ahUKEwiZg66s2tCRAxUbD1kFHQ1zI50QgK4QegQIAhA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cmyuypy49" TargetMode="External"/><Relationship Id="rId2" Type="http://schemas.openxmlformats.org/officeDocument/2006/relationships/hyperlink" Target="https://www.desmos.com/calculator/atzgwg4jq1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www.desmos.com/calculator/m8rr803qb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0fqbqvrqkt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smos.com/calculator/xltbzzzlr8?lang=ru" TargetMode="External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0" y="1848761"/>
            <a:ext cx="9144000" cy="1166878"/>
          </a:xfrm>
        </p:spPr>
        <p:txBody>
          <a:bodyPr>
            <a:no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</a:rPr>
              <a:t>Предел и производная функции одной переменной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18E84-DB0E-6607-38A4-5660155DB0D2}"/>
              </a:ext>
            </a:extLst>
          </p:cNvPr>
          <p:cNvSpPr txBox="1"/>
          <p:nvPr/>
        </p:nvSpPr>
        <p:spPr>
          <a:xfrm>
            <a:off x="-1" y="4774168"/>
            <a:ext cx="9143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2025, </a:t>
            </a:r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НИУ ИТМО, Санкт-Петербург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55FEE0-6ADA-7B44-AC09-40DE1A0518BE}"/>
              </a:ext>
            </a:extLst>
          </p:cNvPr>
          <p:cNvSpPr txBox="1"/>
          <p:nvPr/>
        </p:nvSpPr>
        <p:spPr>
          <a:xfrm>
            <a:off x="1" y="0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Математический анализ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0031-8C49-B020-08DE-79F90710D11C}"/>
              </a:ext>
            </a:extLst>
          </p:cNvPr>
          <p:cNvSpPr txBox="1"/>
          <p:nvPr/>
        </p:nvSpPr>
        <p:spPr>
          <a:xfrm>
            <a:off x="6462793" y="3943171"/>
            <a:ext cx="2681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</a:rPr>
              <a:t>Добкес Михаил </a:t>
            </a:r>
            <a:r>
              <a:rPr lang="en-US" dirty="0">
                <a:solidFill>
                  <a:schemeClr val="bg1"/>
                </a:solidFill>
              </a:rPr>
              <a:t>P3106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Неевин</a:t>
            </a:r>
            <a:r>
              <a:rPr lang="ru-RU" dirty="0">
                <a:solidFill>
                  <a:schemeClr val="bg1"/>
                </a:solidFill>
              </a:rPr>
              <a:t> Олег</a:t>
            </a:r>
            <a:r>
              <a:rPr lang="en-US" dirty="0">
                <a:solidFill>
                  <a:schemeClr val="bg1"/>
                </a:solidFill>
              </a:rPr>
              <a:t> P3110</a:t>
            </a:r>
          </a:p>
          <a:p>
            <a:pPr algn="r"/>
            <a:r>
              <a:rPr lang="ru-RU" dirty="0">
                <a:solidFill>
                  <a:schemeClr val="bg1"/>
                </a:solidFill>
              </a:rPr>
              <a:t>Хайдаров Роберт</a:t>
            </a:r>
            <a:r>
              <a:rPr lang="en-US" dirty="0">
                <a:solidFill>
                  <a:schemeClr val="bg1"/>
                </a:solidFill>
              </a:rPr>
              <a:t> P3118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algn="r"/>
            <a:r>
              <a:rPr lang="ru-RU" dirty="0" err="1">
                <a:solidFill>
                  <a:schemeClr val="bg1"/>
                </a:solidFill>
              </a:rPr>
              <a:t>Прохоревич</a:t>
            </a:r>
            <a:r>
              <a:rPr lang="ru-RU" dirty="0">
                <a:solidFill>
                  <a:schemeClr val="bg1"/>
                </a:solidFill>
              </a:rPr>
              <a:t> Иван </a:t>
            </a:r>
            <a:r>
              <a:rPr lang="en-US" dirty="0">
                <a:solidFill>
                  <a:schemeClr val="bg1"/>
                </a:solidFill>
              </a:rPr>
              <a:t>P3110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E0DF9-CB66-F102-7EFA-03119786EF8D}"/>
              </a:ext>
            </a:extLst>
          </p:cNvPr>
          <p:cNvSpPr txBox="1"/>
          <p:nvPr/>
        </p:nvSpPr>
        <p:spPr>
          <a:xfrm>
            <a:off x="-2" y="3124031"/>
            <a:ext cx="9143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0" i="0" dirty="0">
                <a:solidFill>
                  <a:schemeClr val="bg1"/>
                </a:solidFill>
                <a:effectLst/>
                <a:latin typeface="Open Sans" panose="020B0606030504020204" pitchFamily="34" charset="0"/>
              </a:rPr>
              <a:t>Вариант 4</a:t>
            </a:r>
            <a:endParaRPr lang="en-US" b="0" i="0" dirty="0">
              <a:solidFill>
                <a:schemeClr val="bg1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Варианты к заданиям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ru-RU" sz="18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5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−3</m:t>
                                            </m:r>
                                          </m:e>
                                        </m:d>
                                      </m:e>
                                    </m:rad>
                                    <m:r>
                                      <a:rPr lang="ru-RU" sz="1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rad>
                                      <m:radPr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3</m:t>
                                        </m:r>
                                      </m:deg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5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6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+2</m:t>
                                        </m:r>
                                      </m:e>
                                    </m:rad>
                                  </m:num>
                                  <m:den>
                                    <m:rad>
                                      <m:radPr>
                                        <m:degHide m:val="on"/>
                                        <m:ctrlP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9</m:t>
                                        </m:r>
                                        <m:sSup>
                                          <m:sSupPr>
                                            <m:ctrlP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𝑛</m:t>
                                            </m:r>
                                          </m:e>
                                          <m:sup>
                                            <m:r>
                                              <a:rPr lang="ru-RU" sz="1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−2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𝑛</m:t>
                                        </m:r>
                                        <m:r>
                                          <a:rPr lang="ru-RU" sz="1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+3</m:t>
                                        </m:r>
                                      </m:e>
                                    </m:rad>
                                  </m:den>
                                </m:f>
                                <m:r>
                                  <a:rPr lang="en-US" sz="1800" b="0" i="0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;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num>
                                          <m:den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2−10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              </a:r>
                          <a:endParaRPr lang="en-US" sz="1400" kern="1200" dirty="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Таблица 1">
                <a:extLst>
                  <a:ext uri="{FF2B5EF4-FFF2-40B4-BE49-F238E27FC236}">
                    <a16:creationId xmlns:a16="http://schemas.microsoft.com/office/drawing/2014/main" id="{A45047D7-F310-A595-E570-2EFC1671E56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7290135"/>
                  </p:ext>
                </p:extLst>
              </p:nvPr>
            </p:nvGraphicFramePr>
            <p:xfrm>
              <a:off x="457200" y="1115878"/>
              <a:ext cx="8245098" cy="3616386"/>
            </p:xfrm>
            <a:graphic>
              <a:graphicData uri="http://schemas.openxmlformats.org/drawingml/2006/table">
                <a:tbl>
                  <a:tblPr firstRow="1" bandRow="1">
                    <a:tableStyleId>{1FECB4D8-DB02-4DC6-A0A2-4F2EBAE1DC90}</a:tableStyleId>
                  </a:tblPr>
                  <a:tblGrid>
                    <a:gridCol w="1340603">
                      <a:extLst>
                        <a:ext uri="{9D8B030D-6E8A-4147-A177-3AD203B41FA5}">
                          <a16:colId xmlns:a16="http://schemas.microsoft.com/office/drawing/2014/main" val="3979332117"/>
                        </a:ext>
                      </a:extLst>
                    </a:gridCol>
                    <a:gridCol w="6904495">
                      <a:extLst>
                        <a:ext uri="{9D8B030D-6E8A-4147-A177-3AD203B41FA5}">
                          <a16:colId xmlns:a16="http://schemas.microsoft.com/office/drawing/2014/main" val="2274788888"/>
                        </a:ext>
                      </a:extLst>
                    </a:gridCol>
                  </a:tblGrid>
                  <a:tr h="37015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№ Задания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Условие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4710618"/>
                      </a:ext>
                    </a:extLst>
                  </a:tr>
                  <a:tr h="93810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9594" t="-42857" r="-177" b="-2474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5397228"/>
                      </a:ext>
                    </a:extLst>
                  </a:tr>
                  <a:tr h="7446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just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Период колебания маятника                   , где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– длина маятника в сантиметрах. Как нужно изменить длину маятника </a:t>
                          </a:r>
                          <a:r>
                            <a:rPr lang="ru-RU" sz="1400" i="1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l=</a:t>
                          </a:r>
                          <a:r>
                            <a:rPr lang="ru-RU" sz="1400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</a:rPr>
                            <a:t>20 см, чтобы период колебания уменьшился на 0,1 с?</a:t>
                          </a:r>
                          <a:endParaRPr lang="ru-RU" sz="14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893591834"/>
                      </a:ext>
                    </a:extLst>
                  </a:tr>
                  <a:tr h="156352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ru-RU" sz="140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</a:t>
                          </a:r>
                          <a:r>
                            <a:rPr lang="ru-RU" sz="1400" kern="120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максимальный урожай</a:t>
                          </a:r>
                          <a:endParaRPr lang="en-US" sz="1400" kern="1200">
                            <a:solidFill>
                              <a:schemeClr val="dk1"/>
                            </a:solidFill>
                            <a:effectLst/>
                            <a:latin typeface="Times New Roman" panose="02020603050405020304" pitchFamily="18" charset="0"/>
                            <a:ea typeface="+mn-ea"/>
                            <a:cs typeface="Times New Roman" panose="02020603050405020304" pitchFamily="18" charset="0"/>
                          </a:endParaRPr>
                        </a:p>
                        <a:p>
                          <a:pPr algn="ctr"/>
                          <a:endParaRPr lang="ru-RU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370269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image12.png">
            <a:extLst>
              <a:ext uri="{FF2B5EF4-FFF2-40B4-BE49-F238E27FC236}">
                <a16:creationId xmlns:a16="http://schemas.microsoft.com/office/drawing/2014/main" id="{5B8414A0-41D8-6E49-D599-2A4EA58CBCA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029561" y="2571750"/>
            <a:ext cx="825500" cy="254000"/>
          </a:xfrm>
          <a:prstGeom prst="rect">
            <a:avLst/>
          </a:prstGeom>
          <a:ln/>
        </p:spPr>
      </p:pic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C2659BA9-CD7A-5B69-F998-FD12CB2B9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198448"/>
              </p:ext>
            </p:extLst>
          </p:nvPr>
        </p:nvGraphicFramePr>
        <p:xfrm>
          <a:off x="2247253" y="4129220"/>
          <a:ext cx="5798948" cy="515474"/>
        </p:xfrm>
        <a:graphic>
          <a:graphicData uri="http://schemas.openxmlformats.org/drawingml/2006/table">
            <a:tbl>
              <a:tblPr firstRow="1" bandRow="1"/>
              <a:tblGrid>
                <a:gridCol w="1449737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Температура, </a:t>
                      </a:r>
                      <a:r>
                        <a:rPr lang="ru-RU" sz="1000" baseline="30000" dirty="0" err="1">
                          <a:effectLst/>
                        </a:rPr>
                        <a:t>о</a:t>
                      </a:r>
                      <a:r>
                        <a:rPr lang="ru-RU" sz="1000" dirty="0" err="1">
                          <a:effectLst/>
                        </a:rPr>
                        <a:t>С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14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22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Урожайность, кг/м</a:t>
                      </a:r>
                      <a:r>
                        <a:rPr lang="ru-RU" sz="1000" baseline="30000">
                          <a:effectLst/>
                        </a:rPr>
                        <a:t>2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0,91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>
                          <a:effectLst/>
                        </a:rPr>
                        <a:t>1,06</a:t>
                      </a:r>
                      <a:endParaRPr lang="ru-RU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000" dirty="0">
                          <a:effectLst/>
                        </a:rPr>
                        <a:t>0,88</a:t>
                      </a:r>
                      <a:endParaRPr lang="ru-RU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654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59094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/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200" smtClean="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 kern="1200">
                          <a:solidFill>
                            <a:schemeClr val="dk1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 kern="120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ru-RU" sz="1800" i="1" kern="1200" dirty="0">
                  <a:solidFill>
                    <a:schemeClr val="dk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2−10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E53DF7-EC6B-9DF3-1A80-E121B74F8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9024" y="1716964"/>
                <a:ext cx="5005952" cy="170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726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</a:t>
            </a:r>
            <a:r>
              <a:rPr lang="en-US" dirty="0"/>
              <a:t> </a:t>
            </a:r>
            <a:r>
              <a:rPr lang="ru-RU" dirty="0"/>
              <a:t>последовательности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e>
                          </m:rad>
                          <m:r>
                            <a:rPr lang="ru-RU" sz="1800" i="1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9</m:t>
                              </m:r>
                              <m:sSup>
                                <m:sSup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rad>
                        </m:den>
                      </m:f>
                      <m:r>
                        <a:rPr lang="ru-RU" sz="1800" i="1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endParaRPr lang="en-US" sz="1800" i="1" dirty="0">
                  <a:solidFill>
                    <a:schemeClr val="dk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−3</m:t>
                                      </m:r>
                                    </m:e>
                                  </m:d>
                                </m:e>
                              </m:rad>
                              <m:r>
                                <a:rPr lang="ru-RU" sz="1800" i="1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ad>
                                <m:radPr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6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+2</m:t>
                                  </m:r>
                                </m:e>
                              </m:rad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  <m:sSup>
                                    <m:sSup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−2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+3</m:t>
                                  </m:r>
                                </m:e>
                              </m:rad>
                            </m:den>
                          </m:f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 </m:t>
                          </m:r>
                          <m:func>
                            <m:funcPr>
                              <m:ctrlPr>
                                <a:rPr lang="en-US" sz="180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lim</m:t>
                                  </m:r>
                                </m:e>
                                <m:lim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→∞</m:t>
                                  </m:r>
                                </m:lim>
                              </m:limLow>
                            </m:fName>
                            <m:e>
                              <m:f>
                                <m:fPr>
                                  <m:ctrlPr>
                                    <a:rPr lang="ru-RU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d>
                                        <m:dPr>
                                          <m:ctrlPr>
                                            <a:rPr lang="ru-RU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5−3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rad>
                                  <m:r>
                                    <a:rPr lang="ru-RU" sz="1800" i="1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deg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5+2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6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i="1" smtClean="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9−2</m:t>
                                      </m:r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ru-RU" sz="1800" i="1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+3/(</m:t>
                                      </m:r>
                                      <m:sSup>
                                        <m:sSupPr>
                                          <m:ctrlP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en-US" sz="1800" i="1" smtClean="0">
                                              <a:solidFill>
                                                <a:schemeClr val="dk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800" i="1" smtClean="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en-US" sz="180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1800" i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f>
                        <m:f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g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ad>
                                <m:radPr>
                                  <m:ctrlP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g>
                                <m:e>
                                  <m:r>
                                    <a:rPr lang="en-US" sz="180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sup>
                          </m:sSup>
                        </m:num>
                        <m:den>
                          <m:r>
                            <a:rPr lang="en-US" sz="18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7532E009-739D-4367-CD3A-0E8284F49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113" y="1233715"/>
                <a:ext cx="7170057" cy="34108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3266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Монотонность, ограниченность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l" defTabSz="457200" rtl="0" eaLnBrk="1" latinLnBrk="0" hangingPunct="1">
                  <a:spcBef>
                    <a:spcPct val="20000"/>
                  </a:spcBef>
                  <a:buSzPct val="100000"/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4pPr>
                <a:lvl5pPr marL="1828800" indent="0" algn="l" defTabSz="4572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Golos Text" panose="020B0503020202020204" pitchFamily="34" charset="-52"/>
                    <a:ea typeface="+mn-ea"/>
                    <a:cs typeface="Golos Text" panose="020B0503020202020204" pitchFamily="34" charset="-52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Монотонность</a:t>
                </a:r>
                <a:r>
                  <a:rPr lang="en-US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Уже на первых трех членах видим что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en-US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+1</a:t>
                </a:r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Что говорит о том, что последовательность монотонно возрастает.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7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10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≈−0,206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1800" i="1" kern="100" baseline="-250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i="1" kern="1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32∗7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64∗5+2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9∗4−4+3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≈−0,132</m:t>
                    </m:r>
                  </m:oMath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5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∗(15−3)</m:t>
                            </m:r>
                          </m:e>
                        </m:rad>
                        <m:r>
                          <a:rPr lang="ru-RU" sz="18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−</m:t>
                        </m:r>
                        <m:rad>
                          <m:radPr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deg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5∗</m:t>
                            </m:r>
                            <m:sSup>
                              <m:sSupPr>
                                <m:ctrlP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ru-RU" sz="1800" i="1" kern="100"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6</m:t>
                                </m:r>
                              </m:sup>
                            </m:sSup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+2</m:t>
                            </m:r>
                          </m:e>
                        </m:rad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ru-RU" sz="1800" i="1" kern="10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81−6+3</m:t>
                            </m:r>
                          </m:e>
                        </m:rad>
                      </m:den>
                    </m:f>
                    <m:r>
                      <a:rPr lang="ru-RU" sz="1800" i="1" kern="10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≈−0,126</m:t>
                    </m:r>
                  </m:oMath>
                </a14:m>
                <a:endParaRPr lang="en-US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800" b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Ограниченность: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Сверху ограничена пределом последовательности, то есть 0.</a:t>
                </a:r>
              </a:p>
              <a:p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Снизу ограничена </a:t>
                </a:r>
                <a:r>
                  <a:rPr lang="en-US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baseline="-250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 </a:t>
                </a:r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так как последовательность монотонно возрастает.</a:t>
                </a:r>
              </a:p>
              <a:p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Текст 4">
                <a:extLst>
                  <a:ext uri="{FF2B5EF4-FFF2-40B4-BE49-F238E27FC236}">
                    <a16:creationId xmlns:a16="http://schemas.microsoft.com/office/drawing/2014/main" id="{AE943858-DFC3-7D8A-BBD2-70054671F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693" y="1016738"/>
                <a:ext cx="8276094" cy="3921066"/>
              </a:xfrm>
              <a:prstGeom prst="rect">
                <a:avLst/>
              </a:prstGeom>
              <a:blipFill>
                <a:blip r:embed="rId2"/>
                <a:stretch>
                  <a:fillRect l="-663" t="-9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2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Autofit/>
          </a:bodyPr>
          <a:lstStyle/>
          <a:p>
            <a:r>
              <a:rPr lang="ru-RU" sz="2900" dirty="0"/>
              <a:t>График общего члена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0CE6E96-92D7-054B-7271-B6BC7BD89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145" y="1006420"/>
            <a:ext cx="3789335" cy="37893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DDC359-62A8-E81D-8598-739B970E3A55}"/>
              </a:ext>
            </a:extLst>
          </p:cNvPr>
          <p:cNvSpPr txBox="1"/>
          <p:nvPr/>
        </p:nvSpPr>
        <p:spPr>
          <a:xfrm>
            <a:off x="5083443" y="2117817"/>
            <a:ext cx="3541364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US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https://www.desmos.com/calculator/zlmw6i4fwj?lang=ru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сходимости последовательности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</p:spPr>
            <p:txBody>
              <a:bodyPr>
                <a:noAutofit/>
              </a:bodyPr>
              <a:lstStyle/>
              <a:p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Сходимость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последовательности — это свойство числовой последовательности иметь конечный предел при стремлении индекса 𝑛 к бесконечности, то есть её члены «приближаются» к определённому числу 𝑎.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предел существует и конечен, последовательность сходится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Если нет (стремится к бесконечности или не имеет предела), она расходится. </a:t>
                </a:r>
                <a:endParaRPr lang="en-US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Ключевые признаки сходимости включают </a:t>
                </a:r>
                <a:r>
                  <a:rPr lang="ru-RU" sz="1800" b="1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критерий Коши</a:t>
                </a:r>
                <a:r>
                  <a:rPr lang="ru-RU" sz="18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(для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&gt; 0 существует 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такой, что для  𝑚,𝑛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выполняется|𝑥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𝑚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−𝑥</a:t>
                </a:r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𝑛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|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&lt;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и теоремы о монотонных и ограниченных последовательностях (монотонная и ограниченная последовательность всегда сходится). </a:t>
                </a:r>
                <a:endParaRPr lang="ru-RU" sz="1800" b="0" i="0" dirty="0">
                  <a:solidFill>
                    <a:srgbClr val="2C2D2E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389922"/>
                <a:ext cx="8159859" cy="3447143"/>
              </a:xfrm>
              <a:blipFill>
                <a:blip r:embed="rId3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422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7" y="306435"/>
            <a:ext cx="7601919" cy="527284"/>
          </a:xfrm>
        </p:spPr>
        <p:txBody>
          <a:bodyPr>
            <a:normAutofit/>
          </a:bodyPr>
          <a:lstStyle/>
          <a:p>
            <a:r>
              <a:rPr lang="ru-RU" sz="2400" dirty="0"/>
              <a:t>Определение ограниченности последовательности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072459"/>
            <a:ext cx="8291594" cy="3447143"/>
          </a:xfrm>
        </p:spPr>
        <p:txBody>
          <a:bodyPr>
            <a:no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Числовая последовательность называется </a:t>
            </a: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ограниченной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если все её элементы ограничены как снизу, так и сверху, то есть находятся в некотором конечном интервале на числовой прямой; это эквивалентно существованию такого числа 𝐶&gt;0, что для всех членов последовательности 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 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выполняется неравенство |𝑥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|&lt;𝐶. Иными словами, она не уходит в бесконечность ни в положительном, ни в отрицательном направлении. 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Основные определения: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 сверху: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Существует такое число 𝑀, что 𝑥</a:t>
            </a:r>
            <a:r>
              <a:rPr lang="en-US" sz="1800" baseline="-25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≤𝑀 для всех𝑛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 снизу: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Существует такое число 𝑚, что 𝑥𝑛≥𝑚 для всех 𝑛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228600" algn="l"/>
              </a:tabLst>
            </a:pPr>
            <a:r>
              <a:rPr lang="ru-RU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Ограниченная: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Последовательность ограничена и сверху, и снизу. </a:t>
            </a:r>
          </a:p>
          <a:p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57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959" y="1470740"/>
            <a:ext cx="8252848" cy="3447143"/>
          </a:xfrm>
        </p:spPr>
        <p:txBody>
          <a:bodyPr>
            <a:noAutofit/>
          </a:bodyPr>
          <a:lstStyle/>
          <a:p>
            <a:pPr>
              <a:buSzPts val="1000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последовательность</a:t>
            </a:r>
            <a:r>
              <a:rPr lang="ru-RU" sz="18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- </a:t>
            </a:r>
            <a:r>
              <a:rPr lang="ru-RU" sz="18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это числовая последовательность, значения которой во времени (с увеличением номера члена) изменяются только в одном направлении: либо только не убывают, либо только не возрастают. </a:t>
            </a: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Различают следующие виды монотонности для последовательности (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1. 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больше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&gt;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Строго 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меньше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&lt;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buSzPts val="1000"/>
              <a:tabLst>
                <a:tab pos="457200" algn="l"/>
              </a:tabLst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2CBB43A-9030-23D9-3A41-EF773B4E3921}"/>
              </a:ext>
            </a:extLst>
          </p:cNvPr>
          <p:cNvSpPr txBox="1">
            <a:spLocks/>
          </p:cNvSpPr>
          <p:nvPr/>
        </p:nvSpPr>
        <p:spPr>
          <a:xfrm>
            <a:off x="457200" y="306435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596793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304933"/>
            <a:ext cx="8276096" cy="3447143"/>
          </a:xfrm>
        </p:spPr>
        <p:txBody>
          <a:bodyPr>
            <a:noAutofit/>
          </a:bodyPr>
          <a:lstStyle/>
          <a:p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2. Нестрого монотонные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Неубывающая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меньше (больше или равен) предыдущего.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     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≥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Невозрастающая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каждый следующий член не больше (меньше или равен) предыдущего.</a:t>
            </a:r>
            <a:b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𝑎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+1</a:t>
            </a:r>
            <a:r>
              <a:rPr lang="ru-RU" sz="180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≤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a</a:t>
            </a:r>
            <a:r>
              <a:rPr lang="en-US" sz="1800" baseline="-250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n</a:t>
            </a:r>
            <a:r>
              <a:rPr lang="en-US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 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всех </a:t>
            </a:r>
            <a:r>
              <a:rPr lang="ru-RU" sz="1800" dirty="0">
                <a:solidFill>
                  <a:srgbClr val="000000"/>
                </a:solidFill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𝑛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E2FED0E-8EE7-9C63-D7C1-75BAB379E6E1}"/>
              </a:ext>
            </a:extLst>
          </p:cNvPr>
          <p:cNvSpPr txBox="1">
            <a:spLocks/>
          </p:cNvSpPr>
          <p:nvPr/>
        </p:nvSpPr>
        <p:spPr>
          <a:xfrm>
            <a:off x="457199" y="400808"/>
            <a:ext cx="6824382" cy="527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Golos Text DemiBold" panose="020B0703020202020204" pitchFamily="34" charset="-52"/>
                <a:ea typeface="+mj-ea"/>
                <a:cs typeface="+mj-cs"/>
              </a:defRPr>
            </a:lvl1pPr>
          </a:lstStyle>
          <a:p>
            <a:r>
              <a:rPr lang="ru-RU" dirty="0"/>
              <a:t>Определение монотонной последовательности</a:t>
            </a:r>
          </a:p>
        </p:txBody>
      </p:sp>
    </p:spTree>
    <p:extLst>
      <p:ext uri="{BB962C8B-B14F-4D97-AF65-F5344CB8AC3E}">
        <p14:creationId xmlns:p14="http://schemas.microsoft.com/office/powerpoint/2010/main" val="4113629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8" y="1056960"/>
            <a:ext cx="8361337" cy="3447143"/>
          </a:xfrm>
        </p:spPr>
        <p:txBody>
          <a:bodyPr>
            <a:noAutofit/>
          </a:bodyPr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Сходящаяся последовательность всегда ограничена (обратное неверно: например,  (−1)</a:t>
            </a:r>
            <a:r>
              <a:rPr lang="ru-RU" sz="1800" i="1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ограничена, но не сходится).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Монотонная и ограниченная последовательность сходится (теорема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Вейерштрасса</a:t>
            </a: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AA0D9719-1C0F-A57A-DAC5-5942C9549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Связь свойств</a:t>
            </a:r>
          </a:p>
        </p:txBody>
      </p:sp>
    </p:spTree>
    <p:extLst>
      <p:ext uri="{BB962C8B-B14F-4D97-AF65-F5344CB8AC3E}">
        <p14:creationId xmlns:p14="http://schemas.microsoft.com/office/powerpoint/2010/main" val="2928318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1800" dirty="0">
                    <a:solidFill>
                      <a:schemeClr val="tx1"/>
                    </a:solidFill>
                  </a:rPr>
                  <a:t>1. </a:t>
                </a:r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=0.2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sz="1800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(-0.2, 0.2)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  <a:endParaRPr lang="en-US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https://www.desmos.com/calculator/atzgwg4jq1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0.1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1800" baseline="-25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окрестность:</a:t>
                </a:r>
              </a:p>
              <a:p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(-0.115, 0.115)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ачиная с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=36 все </a:t>
                </a:r>
                <a:r>
                  <a:rPr lang="en-US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r>
                  <a:rPr lang="ru-RU" sz="1800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https://www.desmos.com/calculator/xcmyuypy49</a:t>
                </a:r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8" y="1056960"/>
                <a:ext cx="8361337" cy="3447143"/>
              </a:xfrm>
              <a:blipFill>
                <a:blip r:embed="rId4"/>
                <a:stretch>
                  <a:fillRect l="-583" t="-1060" b="-88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/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Анализ </a:t>
                </a:r>
                <a14:m>
                  <m:oMath xmlns:m="http://schemas.openxmlformats.org/officeDocument/2006/math">
                    <m:r>
                      <a:rPr lang="ru-RU" sz="2900" b="1" i="1" kern="100" smtClean="0">
                        <a:solidFill>
                          <a:srgbClr val="000000"/>
                        </a:solidFill>
                        <a:effectLst/>
                        <a:latin typeface="Golos Text DemiBold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ru-RU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2900" b="1" kern="1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sz="2900" b="1" i="1" kern="100">
                        <a:solidFill>
                          <a:srgbClr val="000000"/>
                        </a:solidFill>
                        <a:latin typeface="Golos Text DemiBold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𝜺</m:t>
                    </m:r>
                  </m:oMath>
                </a14:m>
                <a:r>
                  <a:rPr lang="en-US" sz="2900" b="1" kern="100" baseline="-25000" dirty="0">
                    <a:solidFill>
                      <a:srgbClr val="000000"/>
                    </a:solidFill>
                    <a:effectLst/>
                    <a:latin typeface="Golos Text DemiBold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endParaRPr lang="ru-RU" sz="2900" b="1" dirty="0">
                  <a:latin typeface="Golos Text DemiBold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0563A8-85CB-6863-2526-F634F555A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8" y="370092"/>
                <a:ext cx="5005952" cy="538609"/>
              </a:xfrm>
              <a:prstGeom prst="rect">
                <a:avLst/>
              </a:prstGeom>
              <a:blipFill>
                <a:blip r:embed="rId5"/>
                <a:stretch>
                  <a:fillRect l="-2558" t="-11364" b="-329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175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</p:spPr>
            <p:txBody>
              <a:bodyPr>
                <a:noAutofit/>
              </a:bodyPr>
              <a:lstStyle/>
              <a:p>
                <a:pPr lvl="0"/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=0.115</a:t>
                </a:r>
              </a:p>
              <a:p>
                <a14:m>
                  <m:oMath xmlns:m="http://schemas.openxmlformats.org/officeDocument/2006/math">
                    <m:r>
                      <a:rPr lang="ru-RU" sz="180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– окрестность: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(-0.114, 0.114)</a:t>
                </a:r>
              </a:p>
              <a:p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Начиная с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=22187 все </a:t>
                </a:r>
                <a:r>
                  <a:rPr 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ru-RU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лежат внутри окрестности</a:t>
                </a: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1800" u="sng" dirty="0">
                    <a:latin typeface="Times New Roman" panose="02020603050405020304" pitchFamily="18" charset="0"/>
                    <a:cs typeface="Times New Roman" panose="02020603050405020304" pitchFamily="18" charset="0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https://www.desmos.com/calculator/m8rr803qb8</a:t>
                </a:r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ru-RU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697064"/>
                <a:ext cx="8361337" cy="2357588"/>
              </a:xfrm>
              <a:blipFill>
                <a:blip r:embed="rId3"/>
                <a:stretch>
                  <a:fillRect l="-583" t="-12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ru-RU" dirty="0"/>
                  <a:t>Анализ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5" name="Заголовок 4">
                <a:extLst>
                  <a:ext uri="{FF2B5EF4-FFF2-40B4-BE49-F238E27FC236}">
                    <a16:creationId xmlns:a16="http://schemas.microsoft.com/office/drawing/2014/main" id="{3A8FD13D-CFE7-0230-8E6C-8D884017D9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1877" t="-11494" b="-3448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7865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</p:spPr>
            <p:txBody>
              <a:bodyPr>
                <a:normAutofit/>
              </a:bodyPr>
              <a:lstStyle/>
              <a:p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Дана последовательность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2C2D2E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 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и функция </a:t>
                </a:r>
                <a:r>
                  <a:rPr lang="en-US" dirty="0">
                    <a:solidFill>
                      <a:srgbClr val="2C2D2E"/>
                    </a:solidFill>
                    <a:latin typeface="Golos Text" panose="020B0503020202020204"/>
                  </a:rPr>
                  <a:t>f(x)</a:t>
                </a:r>
                <a:r>
                  <a:rPr lang="ru-RU" sz="1400" b="0" i="0" dirty="0">
                    <a:solidFill>
                      <a:srgbClr val="2C2D2E"/>
                    </a:solidFill>
                    <a:effectLst/>
                    <a:latin typeface="Golos Text" panose="020B0503020202020204"/>
                  </a:rPr>
                  <a:t>. Исследуйте поведение предложенных величин:</a:t>
                </a: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8"/>
                <a:ext cx="7467600" cy="322389"/>
              </a:xfrm>
              <a:blipFill>
                <a:blip r:embed="rId2"/>
                <a:stretch>
                  <a:fillRect l="-245" t="-1887" b="-15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последовательности</a:t>
                          </a:r>
                          <a:b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</a:b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Вычислите предел функции при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200" b="0" i="1" smtClean="0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→∞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исследуйте её на монотонность и ограниченность.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выберите три различных положительных числа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, </m:t>
                                  </m:r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20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для каждого такого числа изобразите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(«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-трубу»)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номер </a:t>
                          </a:r>
                          <a:r>
                            <a:rPr lang="en-US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N</a:t>
                          </a: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, начиная с которого все члены последовательности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такого номера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 найдите на графике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-окрестность, в которой все значения функции попадают в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-окрестность или установите, что такой окрестности нет.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Таблица 11">
                <a:extLst>
                  <a:ext uri="{FF2B5EF4-FFF2-40B4-BE49-F238E27FC236}">
                    <a16:creationId xmlns:a16="http://schemas.microsoft.com/office/drawing/2014/main" id="{25AAF9A3-5A43-C4C9-F8DE-48E729B7897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9100" y="1475413"/>
              <a:ext cx="8425105" cy="3108960"/>
            </p:xfrm>
            <a:graphic>
              <a:graphicData uri="http://schemas.openxmlformats.org/drawingml/2006/table">
                <a:tbl>
                  <a:tblPr>
                    <a:tableStyleId>{2D5ABB26-0587-4C30-8999-92F81FD0307C}</a:tableStyleId>
                  </a:tblPr>
                  <a:tblGrid>
                    <a:gridCol w="362967">
                      <a:extLst>
                        <a:ext uri="{9D8B030D-6E8A-4147-A177-3AD203B41FA5}">
                          <a16:colId xmlns:a16="http://schemas.microsoft.com/office/drawing/2014/main" val="3107197484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1181904038"/>
                        </a:ext>
                      </a:extLst>
                    </a:gridCol>
                    <a:gridCol w="4031069">
                      <a:extLst>
                        <a:ext uri="{9D8B030D-6E8A-4147-A177-3AD203B41FA5}">
                          <a16:colId xmlns:a16="http://schemas.microsoft.com/office/drawing/2014/main" val="2951406917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Последовательность</a:t>
                          </a: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Функция</a:t>
                          </a: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937315656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2222" r="-100151" b="-45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2222" b="-45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842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общего члена последовательности в зависимости от номера n.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Постройте график функции в зависимости от x.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834833020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(расходимость), ограниченность и монотонность последовательности: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Проиллюстрируйте сходимость (расходимость)ограниченность и монотонность функции на бесконечности: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4245434704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а)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последовательности;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вспомните определение сходимости (расходимости), ограниченность и монотонность функции в на бесконечности;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61452134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230000" b="-4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578617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в)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 grid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535" t="-1330000" b="-35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0658255"/>
                      </a:ext>
                    </a:extLst>
                  </a:tr>
                  <a:tr h="548640">
                    <a:tc>
                      <a:txBody>
                        <a:bodyPr/>
                        <a:lstStyle/>
                        <a:p>
                          <a:pPr>
                            <a:spcBef>
                              <a:spcPts val="300"/>
                            </a:spcBef>
                            <a:spcAft>
                              <a:spcPts val="300"/>
                            </a:spcAft>
                          </a:pPr>
                          <a:r>
                            <a:rPr lang="ru-RU" sz="12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г)</a:t>
                          </a:r>
                          <a:endParaRPr lang="ru-RU" sz="12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9077" t="-476667" r="-100151" b="-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08912" t="-476667" b="-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8402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98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ru-RU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Функция</a:t>
                </a:r>
                <a:r>
                  <a:rPr lang="en-US" sz="1600" b="1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: </a:t>
                </a:r>
              </a:p>
              <a:p>
                <a:endParaRPr lang="en-US" sz="1600" b="1" kern="1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Область определения</a:t>
                </a:r>
                <a:r>
                  <a:rPr lang="en-US" sz="16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Выражение под степенью должно быть положительно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2−10</m:t>
                          </m:r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&gt;0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Решим методом интервалов, а также найдем нули функции и разрывы второго рода:</a:t>
                </a: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 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=1</m:t>
                      </m:r>
                    </m:oMath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2−10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f>
                        <m:f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≠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0.2</m:t>
                      </m:r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27" t="-3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18.png">
            <a:extLst>
              <a:ext uri="{FF2B5EF4-FFF2-40B4-BE49-F238E27FC236}">
                <a16:creationId xmlns:a16="http://schemas.microsoft.com/office/drawing/2014/main" id="{002F8696-B829-06AC-DF00-D018AE97F4C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932768" y="1224997"/>
            <a:ext cx="1295400" cy="4445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776566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Задание функции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Расставим знаки на промежутках числовой прямой:</a:t>
                </a: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en-US" sz="1800" kern="100" dirty="0"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То есть, область определения функции: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;0.2</m:t>
                        </m:r>
                      </m:e>
                    </m:d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∪</m:t>
                    </m:r>
                    <m:d>
                      <m:dPr>
                        <m:begChr m:val="["/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1,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653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9717AB5-D0E0-AC59-CC3D-528932EE912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76" t="22391" r="8087" b="16905"/>
          <a:stretch>
            <a:fillRect/>
          </a:stretch>
        </p:blipFill>
        <p:spPr bwMode="auto">
          <a:xfrm>
            <a:off x="890715" y="1768406"/>
            <a:ext cx="1891665" cy="71628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82845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Предел функции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kern="100" smtClean="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10−</m:t>
                                      </m:r>
                                      <m:f>
                                        <m:f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num>
                                        <m:den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den>
                                      </m:f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b="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Текст 4">
                <a:extLst>
                  <a:ext uri="{FF2B5EF4-FFF2-40B4-BE49-F238E27FC236}">
                    <a16:creationId xmlns:a16="http://schemas.microsoft.com/office/drawing/2014/main" id="{2BEA39AC-0C16-00A4-A7D1-16251640B1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40224" y="2193010"/>
                <a:ext cx="8524067" cy="11391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7645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Для того чтобы проверить функцию на монотонность необходимо найти производную функции.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Используем метод логарифмического дифференцирования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fPr>
                                    <m:num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d>
                                        <m:dPr>
                                          <m:ctrlP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2−10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  <m:sup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199" y="1211943"/>
                <a:ext cx="8035871" cy="3447143"/>
              </a:xfrm>
              <a:blipFill>
                <a:blip r:embed="rId2"/>
                <a:stretch>
                  <a:fillRect l="-607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2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Дифференцируем сложную функцию аккуратно и последовательно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=5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  <m:f>
                            <m:f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8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</m:t>
                                  </m:r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943"/>
                <a:ext cx="8190854" cy="3447143"/>
              </a:xfrm>
              <a:blipFill>
                <a:blip r:embed="rId2"/>
                <a:stretch>
                  <a:fillRect l="-595" t="-10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3117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Из выражения видно, что производная равна нулю в точке 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=1(которая является разрывом из ОДЗ), а также в точке, в которой выполняется следующее равенство: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5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𝑙𝑛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−3</m:t>
                          </m:r>
                        </m:e>
                      </m:d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8</m:t>
                          </m:r>
                        </m:num>
                        <m:den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2−10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𝟏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</m:t>
                      </m:r>
                      <m:r>
                        <a:rPr lang="en-US" sz="1800" b="1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𝟎𝟗𝟖𝟓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C2A11E20-DB6D-766F-585D-B8A6771420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95945" y="1986859"/>
                <a:ext cx="8167607" cy="2112443"/>
              </a:xfrm>
              <a:blipFill>
                <a:blip r:embed="rId2"/>
                <a:stretch>
                  <a:fillRect l="-597" t="-1734" r="-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060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Монотонность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A11E20-DB6D-766F-585D-B8A6771420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5946" y="1681567"/>
            <a:ext cx="8152108" cy="2698550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Проверим как ведет себя функция на интервалах (-∞, 0.2) и [1, +∞).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(-∞, 0.2) функция убывает, проверяем это численно подставляя значения интервала в производную. Также очевидно, что это не нарушается, так как экстремум только один в другом интервале. 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На интервале [1, +∞) функция сначала возрастает, а затем убывает проверяем это также численно подставляя значения меньше и больше </a:t>
            </a:r>
            <a:r>
              <a:rPr lang="en-US" sz="1800" kern="1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800" kern="100" baseline="-25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в производную.</a:t>
            </a:r>
            <a:endParaRPr lang="ru-RU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2265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 функции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01FB699-5D51-69BC-6941-FB2F4D270F3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25"/>
          <a:stretch>
            <a:fillRect/>
          </a:stretch>
        </p:blipFill>
        <p:spPr bwMode="auto">
          <a:xfrm>
            <a:off x="2758122" y="1091662"/>
            <a:ext cx="3627755" cy="36576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57631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Вычислим пределы при стремлении функции к крайним точкам: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0.2−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0.2−</m:t>
                              </m:r>
                              <m:d>
                                <m:d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5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−3</m:t>
                                  </m:r>
                                </m:e>
                              </m:d>
                            </m:sub>
                          </m:sSub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∞</m:t>
                              </m:r>
                            </m:e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𝑙𝑖𝑚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 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∞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∞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ru-RU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000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 первом интервале функция ограничена снизу нулём.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97634"/>
                <a:ext cx="8159857" cy="4137736"/>
              </a:xfrm>
              <a:prstGeom prst="rect">
                <a:avLst/>
              </a:prstGeom>
              <a:blipFill>
                <a:blip r:embed="rId2"/>
                <a:stretch>
                  <a:fillRect l="-597" t="-8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9360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228600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Ограниченность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Проверим второй интервал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→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1+</m:t>
                          </m:r>
                        </m:sub>
                      </m:sSub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2−10</m:t>
                                      </m:r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−3</m:t>
                              </m:r>
                            </m:e>
                          </m:d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Исходя из полученного ранее экстремума на втором интервале, а также первого предела и предела выше, можно сделать вывод что на втором интервале, функция ограничена снизу нулём, а сверху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1.3∗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−5</m:t>
                            </m:r>
                          </m:e>
                        </m:d>
                      </m:sup>
                    </m:sSup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1.0985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1−1.0985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2−10∗1.0985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5∗1.0985−3</m:t>
                              </m:r>
                            </m:e>
                          </m:d>
                        </m:sup>
                      </m:sSup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≈1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.3∗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−5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37" y="997634"/>
                <a:ext cx="8043621" cy="3446136"/>
              </a:xfrm>
              <a:prstGeom prst="rect">
                <a:avLst/>
              </a:prstGeom>
              <a:blipFill>
                <a:blip r:embed="rId2"/>
                <a:stretch>
                  <a:fillRect l="-606" t="-1062" r="-2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299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D03A893-ECFA-DEED-F342-DE63BD722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" y="306435"/>
            <a:ext cx="7377193" cy="527284"/>
          </a:xfrm>
        </p:spPr>
        <p:txBody>
          <a:bodyPr>
            <a:noAutofit/>
          </a:bodyPr>
          <a:lstStyle/>
          <a:p>
            <a:pPr marL="228600" algn="ctr">
              <a:lnSpc>
                <a:spcPct val="107000"/>
              </a:lnSpc>
              <a:spcAft>
                <a:spcPts val="800"/>
              </a:spcAft>
            </a:pPr>
            <a:r>
              <a:rPr lang="ru-RU" sz="29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Определения сходимости, монотонности, ограниченности</a:t>
            </a:r>
            <a:endParaRPr lang="ru-RU" sz="2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/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Сходимость к пределу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m:rPr>
                        <m:nor/>
                      </m:rPr>
                      <a: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  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)−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 данном случае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Ограниченность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&gt;0,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&gt;0: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⇒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∣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07000"/>
                  </a:lnSpc>
                  <a:spcAft>
                    <a:spcPts val="800"/>
                  </a:spcAft>
                  <a:buSzPts val="1000"/>
                  <a:buFont typeface="Symbol" panose="05050102010706020507" pitchFamily="18" charset="2"/>
                  <a:buChar char=""/>
                </a:pPr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Монотонность при 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→+</m:t>
                    </m:r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ru-RU" sz="1800" b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b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такое, что на интервале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,+</m:t>
                        </m:r>
                        <m:r>
                          <a:rPr lang="ru-RU" sz="1800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функция либо только возрастает, либо только убывает.</a:t>
                </a:r>
                <a:endParaRPr lang="ru-RU" sz="18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endParaRPr lang="ru-RU" sz="1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26173-6560-BC6F-A1E1-89B73ABB3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85830"/>
                <a:ext cx="8159858" cy="3022751"/>
              </a:xfrm>
              <a:prstGeom prst="rect">
                <a:avLst/>
              </a:prstGeom>
              <a:blipFill>
                <a:blip r:embed="rId2"/>
                <a:stretch>
                  <a:fillRect l="-597" t="-14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9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dirty="0"/>
                  <a:t>Анализ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ru-RU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8391" b="-436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4426173-6560-BC6F-A1E1-89B73ABB3EB8}"/>
              </a:ext>
            </a:extLst>
          </p:cNvPr>
          <p:cNvSpPr txBox="1"/>
          <p:nvPr/>
        </p:nvSpPr>
        <p:spPr>
          <a:xfrm>
            <a:off x="457200" y="997634"/>
            <a:ext cx="815985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б) 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=2⋅10-5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=10-5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=5⋅10-6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Эти значения близки с максимальным значением функции на правой ветви </a:t>
            </a:r>
            <a:r>
              <a:rPr lang="en-US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ru-RU" baseline="-2500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≈1.3⋅10-5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endParaRPr lang="en-US" altLang="ru-RU" dirty="0">
              <a:latin typeface="Cambria Math" panose="020405030504060302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=15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Эти значения для левой ветви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в) Изображение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-окрестностей на графике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 каждого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на графике функции изобразим горизонтальную полосу (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-трубу):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2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7767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4426173-6560-BC6F-A1E1-89B73ABB3EB8}"/>
              </a:ext>
            </a:extLst>
          </p:cNvPr>
          <p:cNvSpPr txBox="1"/>
          <p:nvPr/>
        </p:nvSpPr>
        <p:spPr>
          <a:xfrm>
            <a:off x="457199" y="1129369"/>
            <a:ext cx="840008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г) Нахождение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для каждого </a:t>
            </a:r>
            <a:r>
              <a:rPr lang="ru-RU" altLang="ru-RU" b="1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Поскольку при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функция строго убывает, то для</a:t>
            </a:r>
            <a:r>
              <a:rPr lang="en-US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любого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ε&gt;0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условие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f(x)&lt;ε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выполняется для всех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x&gt;X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где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— корень уравнения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(если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ε&lt;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ru-RU" altLang="ru-RU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), либо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X=1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(если 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ε≥f</a:t>
            </a:r>
            <a:r>
              <a:rPr lang="ru-RU" altLang="ru-RU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altLang="ru-RU" dirty="0"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Численное решение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altLang="ru-RU" sz="8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=2⋅10-5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Так как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altLang="ru-RU" dirty="0" err="1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ru-RU" altLang="ru-RU" baseline="-25000" dirty="0" err="1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неравенство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f(x)&lt;ε1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выполняется для всех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x&gt;1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Уравнение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f(x)=10-5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имеет корень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x≈1.17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(правее максимума).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≈1.17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Для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ε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=5⋅10-6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Уравнение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f(x)=5⋅10-6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имеет корень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x≈1.26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Берём 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altLang="ru-RU" baseline="-25000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altLang="ru-RU" dirty="0">
                <a:latin typeface="Cambria Math" panose="020405030504060302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≈1.26</a:t>
            </a:r>
            <a:r>
              <a:rPr lang="ru-RU" altLang="ru-RU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altLang="ru-RU" sz="800" dirty="0"/>
          </a:p>
        </p:txBody>
      </p:sp>
    </p:spTree>
    <p:extLst>
      <p:ext uri="{BB962C8B-B14F-4D97-AF65-F5344CB8AC3E}">
        <p14:creationId xmlns:p14="http://schemas.microsoft.com/office/powerpoint/2010/main" val="24605711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AEE20EF-F57B-A651-F1AF-C4CF8C2929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06" b="12058"/>
          <a:stretch>
            <a:fillRect/>
          </a:stretch>
        </p:blipFill>
        <p:spPr bwMode="auto">
          <a:xfrm>
            <a:off x="615304" y="1100380"/>
            <a:ext cx="7960280" cy="296017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Заметим что предложенные</a:t>
                </a:r>
                <a:r>
                  <a:rPr kumimoji="0" lang="en-US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ru-RU" altLang="ru-RU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-трубы не подходят для левой ветки, также как и вторая тройка значений, потому что функция возрастает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ru-RU" altLang="ru-RU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kumimoji="0" lang="ru-RU" altLang="ru-RU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7AD8B13-E3AA-FC9A-FE5F-C3A0F0CAFD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5304" y="4043120"/>
                <a:ext cx="8077110" cy="923330"/>
              </a:xfrm>
              <a:prstGeom prst="rect">
                <a:avLst/>
              </a:prstGeom>
              <a:blipFill>
                <a:blip r:embed="rId4"/>
                <a:stretch>
                  <a:fillRect l="-679" t="-328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3317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pPr marL="228600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u-RU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Анализ</a:t>
                </a:r>
                <a:r>
                  <a:rPr lang="en-US" sz="29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2900" kern="1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>
                            <a:latin typeface="Cambria Math" panose="02040503050406030204" pitchFamily="18" charset="0"/>
                          </a:rPr>
                          <m:t>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b>
                    </m:sSub>
                  </m:oMath>
                </a14:m>
                <a:endParaRPr lang="ru-RU" sz="29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Заголовок 3">
                <a:extLst>
                  <a:ext uri="{FF2B5EF4-FFF2-40B4-BE49-F238E27FC236}">
                    <a16:creationId xmlns:a16="http://schemas.microsoft.com/office/drawing/2014/main" id="{BD03A893-ECFA-DEED-F342-DE63BD7222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1494" b="-367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7AD8B13-E3AA-FC9A-FE5F-C3A0F0CAF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304" y="4320119"/>
            <a:ext cx="807711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/>
              <a:t>Вывод</a:t>
            </a:r>
            <a:r>
              <a:rPr lang="ru-RU" dirty="0"/>
              <a:t>: Окрестности, в которую бы попадали все значения функций нет.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CB4D716-51F4-61FD-B7D5-48B7C957CE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60" b="15197"/>
          <a:stretch>
            <a:fillRect/>
          </a:stretch>
        </p:blipFill>
        <p:spPr bwMode="auto">
          <a:xfrm>
            <a:off x="1585087" y="1080554"/>
            <a:ext cx="6137543" cy="296256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021093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</a:t>
            </a:r>
            <a:r>
              <a:rPr lang="en-US" dirty="0"/>
              <a:t>2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8"/>
            <a:ext cx="7467600" cy="3598744"/>
          </a:xfrm>
        </p:spPr>
        <p:txBody>
          <a:bodyPr>
            <a:noAutofit/>
          </a:bodyPr>
          <a:lstStyle/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Дана задача. Проведите исследование: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1)	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2)	Решите задачу аналитически.</a:t>
            </a:r>
          </a:p>
          <a:p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3)	Сделайте графическую иллюстрацию к решению задачи. Сверьтесь с аналитическим решением.</a:t>
            </a:r>
          </a:p>
          <a:p>
            <a:pPr marL="342900" indent="-342900">
              <a:buAutoNum type="arabicParenR" startAt="4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Запишите ответ.</a:t>
            </a:r>
            <a:endParaRPr lang="en-US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Период колебания маятника                   , где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– длина маятника в сантиметрах. Как нужно изменить длину маятника 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l=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20 см, чтобы период колебания уменьшился на 0,1 с?</a:t>
            </a:r>
            <a:endParaRPr lang="ru-RU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ru-RU" sz="1800" b="0" i="0" dirty="0">
              <a:solidFill>
                <a:srgbClr val="2C2D2E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12.png">
            <a:extLst>
              <a:ext uri="{FF2B5EF4-FFF2-40B4-BE49-F238E27FC236}">
                <a16:creationId xmlns:a16="http://schemas.microsoft.com/office/drawing/2014/main" id="{FA3BABBD-1955-2337-9102-B2D128671DDA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456641" y="3965752"/>
            <a:ext cx="825500" cy="2540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6709220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Период маятника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en-US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𝜋</m:t>
                    </m:r>
                    <m:rad>
                      <m:radPr>
                        <m:degHide m:val="on"/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num>
                          <m:den>
                            <m:r>
                              <a:rPr lang="ru-RU" sz="1600" i="1" kern="100">
                                <a:effectLst/>
                                <a:latin typeface="Cambria Math" panose="02040503050406030204" pitchFamily="18" charset="0"/>
                                <a:ea typeface="Aptos" panose="020B0004020202020204" pitchFamily="34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den>
                        </m:f>
                      </m:e>
                    </m:rad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; </a:t>
                </a:r>
                <a14:m>
                  <m:oMath xmlns:m="http://schemas.openxmlformats.org/officeDocument/2006/math"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ru-RU" sz="1600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0,1</m:t>
                    </m:r>
                    <m:r>
                      <a:rPr lang="ru-RU" sz="1600" i="1" kern="100"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𝑐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Длина маятника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Найти: 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=?</m:t>
                    </m:r>
                  </m:oMath>
                </a14:m>
                <a:r>
                  <a:rPr lang="ru-RU" sz="1600" i="1" kern="10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т.е. требуется, чтобы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d>
                        <m:dPr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𝑇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Подставляя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6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=20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6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=−0,1</m:t>
                    </m:r>
                  </m:oMath>
                </a14:m>
                <a:r>
                  <a:rPr lang="ru-RU" sz="16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получаем уравнение с одним неизвестным:</a:t>
                </a: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6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6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6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6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Объект 2">
                <a:extLst>
                  <a:ext uri="{FF2B5EF4-FFF2-40B4-BE49-F238E27FC236}">
                    <a16:creationId xmlns:a16="http://schemas.microsoft.com/office/drawing/2014/main" id="{6E0EEADE-D0B5-4104-9527-86E91F999C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211263"/>
                <a:ext cx="7467600" cy="3448050"/>
              </a:xfrm>
              <a:blipFill>
                <a:blip r:embed="rId2"/>
                <a:stretch>
                  <a:fillRect l="-4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143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) Решаем исходное уравнение без приближений: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𝜋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0,1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20+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𝛥</m:t>
                              </m:r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𝑙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20</m:t>
                              </m:r>
                            </m:num>
                            <m:den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ru-RU" sz="16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73802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20+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</m:t>
                          </m:r>
                        </m:e>
                      </m:ra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</m:t>
                              </m:r>
                            </m:e>
                          </m:rad>
                        </m:num>
                        <m:den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  <m:r>
                            <m:rPr>
                              <m:sty m:val="p"/>
                            </m:rP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π</m:t>
                          </m:r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20</m:t>
                          </m:r>
                        </m:e>
                      </m:rad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en-US" sz="1800" i="1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</m:e>
                              </m:rad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ru-RU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800" kern="100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981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20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800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π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sz="1800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20= </m:t>
                      </m:r>
                      <m:sSup>
                        <m:sSup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3,97</m:t>
                          </m:r>
                        </m:e>
                        <m:sup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−20 = −4,23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4359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</p:spPr>
            <p:txBody>
              <a:bodyPr>
                <a:noAutofit/>
              </a:bodyPr>
              <a:lstStyle/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Воспользуемся теоремой о дифференциале функции одной переменной.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Функция </a:t>
                </a: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непрерывно дифференцируема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0;+∞</m:t>
                        </m:r>
                      </m:e>
                    </m:d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, поэтому в окрестности точки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</m:t>
                        </m:r>
                      </m:e>
                      <m:sub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=20см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применимо линейное приближение. Для малого изменения кривую заменим касательной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≈</m:t>
                    </m:r>
                    <m:sSup>
                      <m:sSup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ⅆ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p>
                        <m: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𝛥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</m:oMath>
                </a14:m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just">
                  <a:spcAft>
                    <a:spcPts val="800"/>
                  </a:spcAft>
                </a:pP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95207" y="1840083"/>
                <a:ext cx="8353586" cy="1790054"/>
              </a:xfrm>
              <a:blipFill>
                <a:blip r:embed="rId2"/>
                <a:stretch>
                  <a:fillRect l="-657" t="-20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4088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</p:spPr>
            <p:txBody>
              <a:bodyPr>
                <a:noAutofit/>
              </a:bodyPr>
              <a:lstStyle/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Находим производную (наклон касательной):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ru-RU" sz="1800" i="1" kern="1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𝑙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⋅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𝜋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ru-RU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981⋅</m:t>
                            </m:r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𝑙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 kern="100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kern="1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3,14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981⋅20</m:t>
                              </m:r>
                            </m:e>
                          </m:rad>
                        </m:den>
                      </m:f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=0,2=0,0224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:r>
                  <a:rPr lang="ru-RU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Отсюда</a:t>
                </a:r>
                <a:r>
                  <a:rPr lang="en-US" sz="1800" kern="1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algn="just"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𝛥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𝑙</m:t>
                      </m:r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𝛥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ru-RU" sz="1800" i="1" kern="100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ru-RU" sz="1800" i="1" kern="100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</m:t>
                      </m:r>
                      <m:f>
                        <m:fPr>
                          <m:ctrlP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0,1</m:t>
                          </m:r>
                        </m:num>
                        <m:den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ru-RU" sz="1800" i="1" kern="1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0224</m:t>
                          </m:r>
                        </m:den>
                      </m:f>
                      <m:r>
                        <a:rPr lang="ru-RU" sz="1800" i="1" kern="1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=−4,46 </m:t>
                      </m:r>
                    </m:oMath>
                  </m:oMathPara>
                </a14:m>
                <a:endParaRPr lang="ru-RU" sz="1800" kern="10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BFEF9A1-78B4-FD4E-6902-56D70310F4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57200" y="1050747"/>
                <a:ext cx="7467600" cy="3786317"/>
              </a:xfrm>
              <a:blipFill>
                <a:blip r:embed="rId2"/>
                <a:stretch>
                  <a:fillRect l="-653" t="-8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92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FEF9A1-78B4-FD4E-6902-56D70310F4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050747"/>
            <a:ext cx="7467600" cy="3786317"/>
          </a:xfrm>
        </p:spPr>
        <p:txBody>
          <a:bodyPr>
            <a:no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Почему ответы чуть различаются?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Линеаризация даёт первое приближение; погрешность 0,23 см (≈ 5 %) допустима.</a:t>
            </a: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Точное значение: –4,23 см.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44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48C89AD-ADEB-18E6-A59E-277E28CA0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11943"/>
            <a:ext cx="7563174" cy="3447143"/>
          </a:xfrm>
        </p:spPr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Зависимость периода T от длины l и касательная в точке l₀ = 20 см</a:t>
            </a:r>
          </a:p>
          <a:p>
            <a:r>
              <a:rPr lang="ru-RU" sz="180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ПОМЕНЯТЬ РИСУНОК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E0BFA6-23C1-204F-40CA-A40263BD63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682" y="1925127"/>
            <a:ext cx="5930900" cy="2641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99225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D127A73-0C63-0E27-C6D6-7288AB1A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105" y="1170305"/>
            <a:ext cx="5939790" cy="28028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66026-0CB2-D357-0F09-0B54A772F91E}"/>
              </a:ext>
            </a:extLst>
          </p:cNvPr>
          <p:cNvSpPr txBox="1"/>
          <p:nvPr/>
        </p:nvSpPr>
        <p:spPr>
          <a:xfrm>
            <a:off x="2275630" y="4078353"/>
            <a:ext cx="5005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kern="100" dirty="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ru-RU" sz="1800" i="1" u="sng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https://www.desmos.com/calculator/0fqbqvrqkt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499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348712" y="2040326"/>
            <a:ext cx="84465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b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8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Чтобы уменьшить период маятника на 0,1 с, длину нити следует укоротить на 4,2 см (точное значение –4,23 см).</a:t>
            </a: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1176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300"/>
              </a:spcBef>
              <a:spcAft>
                <a:spcPts val="300"/>
              </a:spcAft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Дана задача. Проведите исследование: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Составьте математическую модель задачи: введите обозначения, выпишите данные, составьте уравнение (систему уравнений), содержащее неизвестное.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Решите задачу аналитически.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Сделайте графическую иллюстрацию к решению задачи. Сверьтесь с аналитическим решением.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 fontAlgn="base">
              <a:spcAft>
                <a:spcPts val="300"/>
              </a:spcAft>
              <a:buClr>
                <a:srgbClr val="000000"/>
              </a:buClr>
              <a:buFont typeface="+mj-lt"/>
              <a:buAutoNum type="arabicParenR"/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Запишите ответ.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683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Условие задания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762D35-70E3-87F4-CAC5-F67786FB3166}"/>
              </a:ext>
            </a:extLst>
          </p:cNvPr>
          <p:cNvSpPr txBox="1"/>
          <p:nvPr/>
        </p:nvSpPr>
        <p:spPr>
          <a:xfrm>
            <a:off x="666427" y="1164673"/>
            <a:ext cx="78111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kern="1200" dirty="0">
                <a:solidFill>
                  <a:schemeClr val="dk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По результатам агрономического опыта была установлена квадратичная зависимость между среднесуточной температурой, при которой выращивалась пшеница нового сорта и ее урожайностью. Результаты опыта представлены в таблице. Найдите оптимальную температуру, которая обеспечит максимальный урожай</a:t>
            </a:r>
            <a:endParaRPr lang="en-US" sz="1800" kern="1200" dirty="0">
              <a:solidFill>
                <a:schemeClr val="dk1"/>
              </a:solidFill>
              <a:effectLst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9D11B036-0AC8-2B35-90B0-EB3D53EC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934928"/>
              </p:ext>
            </p:extLst>
          </p:nvPr>
        </p:nvGraphicFramePr>
        <p:xfrm>
          <a:off x="1672526" y="3292312"/>
          <a:ext cx="5798948" cy="822960"/>
        </p:xfrm>
        <a:graphic>
          <a:graphicData uri="http://schemas.openxmlformats.org/drawingml/2006/table">
            <a:tbl>
              <a:tblPr firstRow="1" bandRow="1"/>
              <a:tblGrid>
                <a:gridCol w="1880498">
                  <a:extLst>
                    <a:ext uri="{9D8B030D-6E8A-4147-A177-3AD203B41FA5}">
                      <a16:colId xmlns:a16="http://schemas.microsoft.com/office/drawing/2014/main" val="691833952"/>
                    </a:ext>
                  </a:extLst>
                </a:gridCol>
                <a:gridCol w="1018976">
                  <a:extLst>
                    <a:ext uri="{9D8B030D-6E8A-4147-A177-3AD203B41FA5}">
                      <a16:colId xmlns:a16="http://schemas.microsoft.com/office/drawing/2014/main" val="1866276283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476102175"/>
                    </a:ext>
                  </a:extLst>
                </a:gridCol>
                <a:gridCol w="1449737">
                  <a:extLst>
                    <a:ext uri="{9D8B030D-6E8A-4147-A177-3AD203B41FA5}">
                      <a16:colId xmlns:a16="http://schemas.microsoft.com/office/drawing/2014/main" val="1054355377"/>
                    </a:ext>
                  </a:extLst>
                </a:gridCol>
              </a:tblGrid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Температура, </a:t>
                      </a:r>
                      <a:r>
                        <a:rPr lang="ru-RU" sz="1800" baseline="30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</a:t>
                      </a:r>
                      <a:r>
                        <a:rPr lang="ru-RU" sz="18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01226343"/>
                  </a:ext>
                </a:extLst>
              </a:tr>
              <a:tr h="257737"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Урожайность, кг/м</a:t>
                      </a:r>
                      <a:r>
                        <a:rPr lang="ru-RU" sz="1800" baseline="30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0,91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1,06</a:t>
                      </a:r>
                      <a:endParaRPr lang="ru-RU" sz="18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0,88</a:t>
                      </a:r>
                      <a:endParaRPr lang="ru-RU" sz="18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7112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746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85337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x — среднесуточная температура, °C 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Calibri" panose="020F0502020204030204" pitchFamily="34" charset="0"/>
                  </a:rPr>
                  <a:t>y — урожайность пшеницы, кг/м²</a:t>
                </a:r>
                <a:endParaRPr lang="en-US" sz="180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>
                    <a:latin typeface="Calibri" panose="020F0502020204030204" pitchFamily="34" charset="0"/>
                    <a:ea typeface="Calibri" panose="020F0502020204030204" pitchFamily="34" charset="0"/>
                  </a:rPr>
                  <a:t>По условию, между </a:t>
                </a:r>
                <a:r>
                  <a:rPr lang="ru-RU" dirty="0"/>
                  <a:t>температурой и урожайностью установлена квадратичная зависимость, то есть: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𝑎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𝑏𝑥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𝑐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где a,</a:t>
                </a:r>
                <a:r>
                  <a:rPr lang="en-US" dirty="0"/>
                  <a:t> </a:t>
                </a:r>
                <a:r>
                  <a:rPr lang="ru-RU" dirty="0"/>
                  <a:t>b,</a:t>
                </a:r>
                <a:r>
                  <a:rPr lang="en-US" dirty="0"/>
                  <a:t> c</a:t>
                </a:r>
                <a:r>
                  <a:rPr lang="ru-RU" dirty="0"/>
                  <a:t>— неизвестные коэффициенты.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Подставим</a:t>
                </a:r>
                <a:r>
                  <a:rPr lang="en-US" dirty="0"/>
                  <a:t> </a:t>
                </a:r>
                <a:r>
                  <a:rPr lang="ru-RU" dirty="0"/>
                  <a:t>экспериментальные данные в модель и получим систему уравнений: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eqArr>
                                      <m:eqArr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196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+14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=0,91</m:t>
                                        </m:r>
                                      </m:e>
                                      <m:e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256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a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+16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b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+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c</m:t>
                                        </m:r>
                                        <m:r>
                                          <m:rPr>
                                            <m:nor/>
                                          </m:rPr>
                                          <a:rPr lang="en-US"/>
                                          <m:t>=1,06</m:t>
                                        </m:r>
                                      </m:e>
                                    </m:eqArr>
                                  </m:e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484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a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+22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b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+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c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/>
                                      <m:t>=0,88​</m:t>
                                    </m:r>
                                  </m:e>
                                </m:eqArr>
                              </m:e>
                            </m:mr>
                            <m:mr>
                              <m:e/>
                            </m:mr>
                          </m:m>
                        </m:e>
                      </m:d>
                    </m:oMath>
                  </m:oMathPara>
                </a14:m>
                <a:endParaRPr lang="ru-RU" dirty="0"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4673"/>
                <a:ext cx="8020373" cy="4072653"/>
              </a:xfrm>
              <a:prstGeom prst="rect">
                <a:avLst/>
              </a:prstGeom>
              <a:blipFill>
                <a:blip r:embed="rId2"/>
                <a:stretch>
                  <a:fillRect l="-608" t="-749" r="-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806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Найдем коэффициенты </a:t>
                </a:r>
                <a:r>
                  <a:rPr lang="en-US" dirty="0"/>
                  <a:t>a, b, c</a:t>
                </a:r>
                <a:r>
                  <a:rPr lang="ru-RU" dirty="0"/>
                  <a:t> параболы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0,96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0,91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ru-RU"/>
                        <m:t>0,375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4249305"/>
              </a:xfrm>
              <a:prstGeom prst="rect">
                <a:avLst/>
              </a:prstGeom>
              <a:blipFill>
                <a:blip r:embed="rId2"/>
                <a:stretch>
                  <a:fillRect l="-684" t="-8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E1E115A4-63EB-0C00-049E-6184B05E8AC2}"/>
              </a:ext>
            </a:extLst>
          </p:cNvPr>
          <p:cNvCxnSpPr/>
          <p:nvPr/>
        </p:nvCxnSpPr>
        <p:spPr>
          <a:xfrm>
            <a:off x="5284922" y="1391992"/>
            <a:ext cx="0" cy="720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5933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96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14</m:t>
                                </m:r>
                              </m:e>
                              <m:e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,91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256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1,06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484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0,88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=−3,08 </m:t>
                      </m:r>
                    </m:oMath>
                  </m:oMathPara>
                </a14:m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=−0,013125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=0,46875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=−3,08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dirty="0"/>
                  <a:t>Итого</a:t>
                </a:r>
                <a:r>
                  <a:rPr lang="en-US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𝑦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=−0,013125</m:t>
                      </m:r>
                      <m:sSup>
                        <m:sSup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0,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46875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</a:rPr>
                        <m:t>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−3,08</m:t>
                      </m:r>
                    </m:oMath>
                  </m:oMathPara>
                </a14:m>
                <a:endParaRPr lang="en-US" sz="1800" b="0" dirty="0">
                  <a:effectLst/>
                  <a:latin typeface="Calibri" panose="020F0502020204030204" pitchFamily="34" charset="0"/>
                  <a:ea typeface="Calibri" panose="020F0502020204030204" pitchFamily="34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100977"/>
              </a:xfrm>
              <a:prstGeom prst="rect">
                <a:avLst/>
              </a:prstGeom>
              <a:blipFill>
                <a:blip r:embed="rId2"/>
                <a:stretch>
                  <a:fillRect l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61561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Аналитическое решение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/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нахождения максимальной температуры ищем точку максимума</a:t>
                </a:r>
                <a:r>
                  <a:rPr lang="en-US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Для этого находим производную</a:t>
                </a:r>
                <a:r>
                  <a:rPr lang="en-US" b="0" dirty="0"/>
                  <a:t>: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m:rPr>
                          <m:nor/>
                        </m:rPr>
                        <a:rPr lang="ru-RU" b="0" i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/>
                        <m:t>−0,02625</m:t>
                      </m:r>
                      <m:r>
                        <m:rPr>
                          <m:nor/>
                        </m:rPr>
                        <a:rPr lang="en-US"/>
                        <m:t>x</m:t>
                      </m:r>
                      <m:r>
                        <m:rPr>
                          <m:nor/>
                        </m:rPr>
                        <a:rPr lang="en-US"/>
                        <m:t>+0,46875</m:t>
                      </m:r>
                    </m:oMath>
                  </m:oMathPara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И находим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nor/>
                      </m:rPr>
                      <a:rPr lang="ru-RU" b="0" i="0" smtClean="0">
                        <a:latin typeface="Cambria Math" panose="02040503050406030204" pitchFamily="18" charset="0"/>
                      </a:rPr>
                      <m:t> = 0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𝑒𝑥𝑡𝑟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≈17,85714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Так как ветви параболы направлены вниз(</a:t>
                </a:r>
                <a:r>
                  <a:rPr lang="en-US" b="0" dirty="0"/>
                  <a:t>a&lt;0), </a:t>
                </a:r>
                <a:r>
                  <a:rPr lang="ru-RU" b="0" dirty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𝑒𝑥𝑡𝑟</m:t>
                        </m:r>
                      </m:sub>
                    </m:sSub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точка максимума, а результат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𝑒𝑥𝑡𝑟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b="0" dirty="0"/>
                  <a:t> - максимальный</a:t>
                </a:r>
                <a:r>
                  <a:rPr lang="en-US" b="0" dirty="0"/>
                  <a:t>.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dirty="0"/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/>
                  <a:t>Ответ</a:t>
                </a:r>
                <a:r>
                  <a:rPr lang="en-US" b="0" dirty="0"/>
                  <a:t>: </a:t>
                </a:r>
                <a:r>
                  <a:rPr lang="ru-RU" b="0" dirty="0"/>
                  <a:t>оптимальная температура </a:t>
                </a:r>
                <a:r>
                  <a:rPr lang="en-US" b="0" dirty="0"/>
                  <a:t>= 17,85714</a:t>
                </a:r>
              </a:p>
              <a:p>
                <a:pPr algn="just">
                  <a:spcBef>
                    <a:spcPts val="300"/>
                  </a:spcBef>
                  <a:spcAft>
                    <a:spcPts val="300"/>
                  </a:spcAft>
                </a:pPr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762D35-70E3-87F4-CAC5-F67786FB3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32" y="1040687"/>
                <a:ext cx="8020373" cy="3400931"/>
              </a:xfrm>
              <a:prstGeom prst="rect">
                <a:avLst/>
              </a:prstGeom>
              <a:blipFill>
                <a:blip r:embed="rId2"/>
                <a:stretch>
                  <a:fillRect l="-684" t="-1075" r="-6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111904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График</a:t>
            </a:r>
          </a:p>
        </p:txBody>
      </p:sp>
      <p:pic>
        <p:nvPicPr>
          <p:cNvPr id="7" name="Рисунок 6" descr="Изображение выглядит как текст, линия, График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F8E44E5C-9D0A-6643-50BE-736D37BC79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216" b="21917"/>
          <a:stretch/>
        </p:blipFill>
        <p:spPr>
          <a:xfrm>
            <a:off x="2233846" y="1216617"/>
            <a:ext cx="4676308" cy="24254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20BB4D-47C2-D7DA-A521-2720F972B947}"/>
              </a:ext>
            </a:extLst>
          </p:cNvPr>
          <p:cNvSpPr txBox="1"/>
          <p:nvPr/>
        </p:nvSpPr>
        <p:spPr>
          <a:xfrm>
            <a:off x="976394" y="3790196"/>
            <a:ext cx="7857640" cy="102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График построен в </a:t>
            </a:r>
            <a:r>
              <a:rPr lang="ru-RU" sz="1800" kern="1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Desmos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: </a:t>
            </a:r>
            <a:r>
              <a:rPr lang="en-US" b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https://www.desmos.com/calculator/xltbzzzlr8?lang=ru</a:t>
            </a:r>
            <a:endParaRPr lang="en-US" b="0" dirty="0"/>
          </a:p>
          <a:p>
            <a:pPr>
              <a:spcAft>
                <a:spcPts val="800"/>
              </a:spcAft>
            </a:pPr>
            <a:endParaRPr lang="ru-RU" sz="1800" kern="100" dirty="0"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3544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Ответ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/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Оптимальная температура</a:t>
                </a:r>
                <a:r>
                  <a:rPr lang="en-US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17,85714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sup>
                    </m:sSup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5B027E-5E11-221C-4ADA-EDF97C0AC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571750"/>
                <a:ext cx="8268346" cy="375552"/>
              </a:xfrm>
              <a:prstGeom prst="rect">
                <a:avLst/>
              </a:prstGeom>
              <a:blipFill>
                <a:blip r:embed="rId2"/>
                <a:stretch>
                  <a:fillRect t="-8197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53793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5603</TotalTime>
  <Words>2665</Words>
  <Application>Microsoft Office PowerPoint</Application>
  <PresentationFormat>Экран (16:9)</PresentationFormat>
  <Paragraphs>316</Paragraphs>
  <Slides>50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50</vt:i4>
      </vt:variant>
    </vt:vector>
  </HeadingPairs>
  <TitlesOfParts>
    <vt:vector size="60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Open Sans</vt:lpstr>
      <vt:lpstr>Symbol</vt:lpstr>
      <vt:lpstr>Times New Roman</vt:lpstr>
      <vt:lpstr>Тема1</vt:lpstr>
      <vt:lpstr>Предел и производная функции одной переменной</vt:lpstr>
      <vt:lpstr>Варианты к заданиям</vt:lpstr>
      <vt:lpstr>Условие задания 1</vt:lpstr>
      <vt:lpstr>Условие задания 1</vt:lpstr>
      <vt:lpstr>Предел последовательности</vt:lpstr>
      <vt:lpstr>Монотонность, ограниченность</vt:lpstr>
      <vt:lpstr>График общего члена</vt:lpstr>
      <vt:lpstr>Определение сходимости последовательности</vt:lpstr>
      <vt:lpstr>Определение ограниченности последовательности</vt:lpstr>
      <vt:lpstr>Презентация PowerPoint</vt:lpstr>
      <vt:lpstr>Презентация PowerPoint</vt:lpstr>
      <vt:lpstr>Связь свойств</vt:lpstr>
      <vt:lpstr>Презентация PowerPoint</vt:lpstr>
      <vt:lpstr>Анализ ε_3</vt:lpstr>
      <vt:lpstr>Условие задания 1</vt:lpstr>
      <vt:lpstr>Задание функции</vt:lpstr>
      <vt:lpstr>Задание функции</vt:lpstr>
      <vt:lpstr>Предел функции</vt:lpstr>
      <vt:lpstr>Монотонность</vt:lpstr>
      <vt:lpstr>Монотонность</vt:lpstr>
      <vt:lpstr>Монотонность</vt:lpstr>
      <vt:lpstr>Монотонность</vt:lpstr>
      <vt:lpstr>График функции</vt:lpstr>
      <vt:lpstr>Ограниченность</vt:lpstr>
      <vt:lpstr>Ограниченность</vt:lpstr>
      <vt:lpstr>Определения сходимости, монотонности, ограниченности</vt:lpstr>
      <vt:lpstr>Анализ ε_1, ε_2, ε_3</vt:lpstr>
      <vt:lpstr>Анализ ε_1, ε_2, ε_3</vt:lpstr>
      <vt:lpstr>Анализ ε_1, ε_2, ε_3</vt:lpstr>
      <vt:lpstr>Анализ ε_1, ε_2, ε_3</vt:lpstr>
      <vt:lpstr>Условие задания 2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Аналитическое решение</vt:lpstr>
      <vt:lpstr>График</vt:lpstr>
      <vt:lpstr>График</vt:lpstr>
      <vt:lpstr>Ответ</vt:lpstr>
      <vt:lpstr>Условие задания 3</vt:lpstr>
      <vt:lpstr>Условие задания 3</vt:lpstr>
      <vt:lpstr>Математическая модель</vt:lpstr>
      <vt:lpstr>Математическая модель</vt:lpstr>
      <vt:lpstr>Аналитическое решение</vt:lpstr>
      <vt:lpstr>Аналитическое решение</vt:lpstr>
      <vt:lpstr>Аналитическое решение</vt:lpstr>
      <vt:lpstr>График</vt:lpstr>
      <vt:lpstr>Ответ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Миша Добкес</cp:lastModifiedBy>
  <cp:revision>221</cp:revision>
  <dcterms:created xsi:type="dcterms:W3CDTF">2014-06-27T12:30:22Z</dcterms:created>
  <dcterms:modified xsi:type="dcterms:W3CDTF">2025-12-22T14:17:09Z</dcterms:modified>
</cp:coreProperties>
</file>