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57"/>
  </p:notesMasterIdLst>
  <p:handoutMasterIdLst>
    <p:handoutMasterId r:id="rId58"/>
  </p:handoutMasterIdLst>
  <p:sldIdLst>
    <p:sldId id="265" r:id="rId2"/>
    <p:sldId id="324" r:id="rId3"/>
    <p:sldId id="382" r:id="rId4"/>
    <p:sldId id="372" r:id="rId5"/>
    <p:sldId id="376" r:id="rId6"/>
    <p:sldId id="388" r:id="rId7"/>
    <p:sldId id="389" r:id="rId8"/>
    <p:sldId id="390" r:id="rId9"/>
    <p:sldId id="284" r:id="rId10"/>
    <p:sldId id="379" r:id="rId11"/>
    <p:sldId id="331" r:id="rId12"/>
    <p:sldId id="380" r:id="rId13"/>
    <p:sldId id="332" r:id="rId14"/>
    <p:sldId id="333" r:id="rId15"/>
    <p:sldId id="381" r:id="rId16"/>
    <p:sldId id="383" r:id="rId17"/>
    <p:sldId id="386" r:id="rId18"/>
    <p:sldId id="393" r:id="rId19"/>
    <p:sldId id="340" r:id="rId20"/>
    <p:sldId id="391" r:id="rId21"/>
    <p:sldId id="392" r:id="rId22"/>
    <p:sldId id="337" r:id="rId23"/>
    <p:sldId id="339" r:id="rId24"/>
    <p:sldId id="344" r:id="rId25"/>
    <p:sldId id="394" r:id="rId26"/>
    <p:sldId id="395" r:id="rId27"/>
    <p:sldId id="385" r:id="rId28"/>
    <p:sldId id="396" r:id="rId29"/>
    <p:sldId id="343" r:id="rId30"/>
    <p:sldId id="346" r:id="rId31"/>
    <p:sldId id="345" r:id="rId32"/>
    <p:sldId id="347" r:id="rId33"/>
    <p:sldId id="397" r:id="rId34"/>
    <p:sldId id="398" r:id="rId35"/>
    <p:sldId id="400" r:id="rId36"/>
    <p:sldId id="399" r:id="rId37"/>
    <p:sldId id="352" r:id="rId38"/>
    <p:sldId id="353" r:id="rId39"/>
    <p:sldId id="356" r:id="rId40"/>
    <p:sldId id="357" r:id="rId41"/>
    <p:sldId id="361" r:id="rId42"/>
    <p:sldId id="401" r:id="rId43"/>
    <p:sldId id="402" r:id="rId44"/>
    <p:sldId id="355" r:id="rId45"/>
    <p:sldId id="359" r:id="rId46"/>
    <p:sldId id="362" r:id="rId47"/>
    <p:sldId id="363" r:id="rId48"/>
    <p:sldId id="375" r:id="rId49"/>
    <p:sldId id="366" r:id="rId50"/>
    <p:sldId id="367" r:id="rId51"/>
    <p:sldId id="368" r:id="rId52"/>
    <p:sldId id="369" r:id="rId53"/>
    <p:sldId id="370" r:id="rId54"/>
    <p:sldId id="371" r:id="rId55"/>
    <p:sldId id="263" r:id="rId5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10" autoAdjust="0"/>
    <p:restoredTop sz="94705" autoAdjust="0"/>
  </p:normalViewPr>
  <p:slideViewPr>
    <p:cSldViewPr snapToGrid="0" snapToObjects="1" showGuides="1">
      <p:cViewPr varScale="1">
        <p:scale>
          <a:sx n="116" d="100"/>
          <a:sy n="116" d="100"/>
        </p:scale>
        <p:origin x="688" y="60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12/25/2025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www.desmos.com/calculator/wqd6nq1gy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hyperlink" Target="https://www.google.com/search?q=%D0%BA%D1%80%D0%B8%D1%82%D0%B5%D1%80%D0%B8%D0%B9+%D0%9A%D0%BE%D1%88%D0%B8&amp;oq=%D0%BE%D0%BF%D1%80%D0%B5%D0%B4%D0%B5%D0%BB%D0%B5%D0%BD%D0%B8%D0%B5+%D1%81%D1%85%D0%BE%D0%B4%D0%B8%D0%BC%D0%BE%D1%81%D1%82%D0%B8+%D0%BF%D0%BE%D1%81%D0%BB%D0%B5%D0%B4%D0%BE%D0%B2%D0%B0%D1%82%D0%B5%D0%BB%D1%8C%D0%BD%D0%BE%D1%81%D1%82%D0%B8&amp;gs_lcrp=EgZjaHJvbWUyBggAEEUYOTIICAEQABgWGB4yBwgCEAAY7wUyBwgDEAAY7wUyBwgEEAAY7wXSAQkxMTU1NWowajeoAgCwAgA&amp;sourceid=chrome&amp;ie=UTF-8&amp;mstk=AUtExfBEoLPgWZ5SL4VJ5iwFGpRmIFH8AWup0AoiZLISJCVj-9Fwk7-zqTz3Prz0fMeo-pe43sDqd_F10IqhDpaXeN4YZ57-GcRWaPoqQUv8HRym5m5pafJ3hd0TceeiTixG1PInAy3vtEQvpcEbLnZCkuMsID4mZVmM7Q4K4pS57vLDHgg&amp;csui=3&amp;ved=2ahUKEwiZg66s2tCRAxUbD1kFHQ1zI50QgK4QegQIAhAD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cmyuypy49" TargetMode="External"/><Relationship Id="rId2" Type="http://schemas.openxmlformats.org/officeDocument/2006/relationships/hyperlink" Target="https://www.desmos.com/calculator/atzgwg4jq1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9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www.desmos.com/calculator/m8rr803qb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q5sgbjvggj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0fqbqvrqkt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ltbzzzlr8?lang=ru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0" y="1848761"/>
            <a:ext cx="9144000" cy="1166878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Предел и производная функции одной переменной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18E84-DB0E-6607-38A4-5660155DB0D2}"/>
              </a:ext>
            </a:extLst>
          </p:cNvPr>
          <p:cNvSpPr txBox="1"/>
          <p:nvPr/>
        </p:nvSpPr>
        <p:spPr>
          <a:xfrm>
            <a:off x="-1" y="4774168"/>
            <a:ext cx="9143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2025, </a:t>
            </a:r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НИУ ИТМО, Санкт-Петербург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55FEE0-6ADA-7B44-AC09-40DE1A0518BE}"/>
              </a:ext>
            </a:extLst>
          </p:cNvPr>
          <p:cNvSpPr txBox="1"/>
          <p:nvPr/>
        </p:nvSpPr>
        <p:spPr>
          <a:xfrm>
            <a:off x="1" y="0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Математический анализ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0031-8C49-B020-08DE-79F90710D11C}"/>
              </a:ext>
            </a:extLst>
          </p:cNvPr>
          <p:cNvSpPr txBox="1"/>
          <p:nvPr/>
        </p:nvSpPr>
        <p:spPr>
          <a:xfrm>
            <a:off x="6462793" y="3943171"/>
            <a:ext cx="2681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</a:rPr>
              <a:t>Добкес Михаил </a:t>
            </a:r>
            <a:r>
              <a:rPr lang="en-US" dirty="0">
                <a:solidFill>
                  <a:schemeClr val="bg1"/>
                </a:solidFill>
              </a:rPr>
              <a:t>P3106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Неевин</a:t>
            </a:r>
            <a:r>
              <a:rPr lang="ru-RU" dirty="0">
                <a:solidFill>
                  <a:schemeClr val="bg1"/>
                </a:solidFill>
              </a:rPr>
              <a:t> Олег</a:t>
            </a:r>
            <a:r>
              <a:rPr lang="en-US" dirty="0">
                <a:solidFill>
                  <a:schemeClr val="bg1"/>
                </a:solidFill>
              </a:rPr>
              <a:t> P3110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Хайдаров Роберт</a:t>
            </a:r>
            <a:r>
              <a:rPr lang="en-US" dirty="0">
                <a:solidFill>
                  <a:schemeClr val="bg1"/>
                </a:solidFill>
              </a:rPr>
              <a:t> P3118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Прохоревич</a:t>
            </a:r>
            <a:r>
              <a:rPr lang="ru-RU" dirty="0">
                <a:solidFill>
                  <a:schemeClr val="bg1"/>
                </a:solidFill>
              </a:rPr>
              <a:t> Иван </a:t>
            </a:r>
            <a:r>
              <a:rPr lang="en-US" dirty="0">
                <a:solidFill>
                  <a:schemeClr val="bg1"/>
                </a:solidFill>
              </a:rPr>
              <a:t>P3110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E0DF9-CB66-F102-7EFA-03119786EF8D}"/>
              </a:ext>
            </a:extLst>
          </p:cNvPr>
          <p:cNvSpPr txBox="1"/>
          <p:nvPr/>
        </p:nvSpPr>
        <p:spPr>
          <a:xfrm>
            <a:off x="-2" y="3124031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Вариант 4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Варианты к заданиям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ru-RU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−3</m:t>
                                            </m:r>
                                          </m:e>
                                        </m:d>
                                      </m:e>
                                    </m:rad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5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6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+2</m:t>
                                        </m:r>
                                      </m:e>
                                    </m:rad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9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−2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+3</m:t>
                                        </m:r>
                                      </m:e>
                                    </m:rad>
                                  </m:den>
                                </m:f>
                                <m:r>
                                  <a:rPr lang="en-US" sz="1800" b="0" i="0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;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num>
                                          <m:den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2−10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              </a:r>
                          <a:endParaRPr lang="en-US" sz="1400" kern="1200" dirty="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9594" t="-42857" r="-177" b="-247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</a:t>
                          </a:r>
                          <a:r>
                            <a:rPr lang="ru-RU" sz="1400" kern="120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максимальный урожай</a:t>
                          </a:r>
                          <a:endParaRPr lang="en-US" sz="1400" kern="120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image12.png">
            <a:extLst>
              <a:ext uri="{FF2B5EF4-FFF2-40B4-BE49-F238E27FC236}">
                <a16:creationId xmlns:a16="http://schemas.microsoft.com/office/drawing/2014/main" id="{5B8414A0-41D8-6E49-D599-2A4EA58CBCA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029561" y="2571750"/>
            <a:ext cx="825500" cy="254000"/>
          </a:xfrm>
          <a:prstGeom prst="rect">
            <a:avLst/>
          </a:prstGeom>
          <a:ln/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C2659BA9-CD7A-5B69-F998-FD12CB2B9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198448"/>
              </p:ext>
            </p:extLst>
          </p:nvPr>
        </p:nvGraphicFramePr>
        <p:xfrm>
          <a:off x="2247253" y="4129220"/>
          <a:ext cx="5798948" cy="515474"/>
        </p:xfrm>
        <a:graphic>
          <a:graphicData uri="http://schemas.openxmlformats.org/drawingml/2006/table">
            <a:tbl>
              <a:tblPr firstRow="1" bandRow="1"/>
              <a:tblGrid>
                <a:gridCol w="1449737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Температура, </a:t>
                      </a:r>
                      <a:r>
                        <a:rPr lang="ru-RU" sz="1000" baseline="30000" dirty="0" err="1">
                          <a:effectLst/>
                        </a:rPr>
                        <a:t>о</a:t>
                      </a:r>
                      <a:r>
                        <a:rPr lang="ru-RU" sz="1000" dirty="0" err="1">
                          <a:effectLst/>
                        </a:rPr>
                        <a:t>С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14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22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Урожайность, кг/м</a:t>
                      </a:r>
                      <a:r>
                        <a:rPr lang="ru-RU" sz="1000" baseline="30000">
                          <a:effectLst/>
                        </a:rPr>
                        <a:t>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0,91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1,06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0,88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59094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/>
              <p:nvPr/>
            </p:nvSpPr>
            <p:spPr>
              <a:xfrm>
                <a:off x="2013488" y="2391291"/>
                <a:ext cx="5005952" cy="10286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200" smtClean="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 kern="1200">
                          <a:solidFill>
                            <a:schemeClr val="dk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3488" y="2391291"/>
                <a:ext cx="5005952" cy="10286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726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</a:t>
            </a:r>
            <a:r>
              <a:rPr lang="en-US" dirty="0"/>
              <a:t> </a:t>
            </a:r>
            <a:r>
              <a:rPr lang="ru-RU" dirty="0"/>
              <a:t>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4113" y="1043940"/>
                <a:ext cx="8199847" cy="3749040"/>
              </a:xfrm>
              <a:prstGeom prst="rect">
                <a:avLst/>
              </a:prstGeom>
            </p:spPr>
            <p:txBody>
              <a:bodyPr>
                <a:normAutofit fontScale="70000" lnSpcReduction="20000"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−3</m:t>
                                      </m:r>
                                    </m:e>
                                  </m:d>
                                </m:e>
                              </m:rad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+2</m:t>
                                  </m:r>
                                </m:e>
                              </m:rad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+3</m:t>
                                  </m:r>
                                </m:e>
                              </m:rad>
                            </m:den>
                          </m:f>
                          <m:r>
                            <a:rPr lang="en-US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func>
                            <m:funcPr>
                              <m:ctrlPr>
                                <a:rPr lang="en-US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en-US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→∞</m:t>
                                  </m:r>
                                </m:lim>
                              </m:limLow>
                            </m:fName>
                            <m:e>
                              <m:f>
                                <m:f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5−3</m:t>
                                          </m:r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rad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5+2</m:t>
                                      </m:r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9−2</m:t>
                                      </m:r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+3/(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en-US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5−</m:t>
                                      </m:r>
                                      <m:f>
                                        <m:fPr>
                                          <m:ctrlP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rad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5+</m:t>
                                  </m:r>
                                  <m:f>
                                    <m:fPr>
                                      <m:ctrlPr>
                                        <a:rPr lang="en-US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rad>
                              <m:r>
                                <a:rPr lang="en-US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endParaRPr lang="en-US" sz="1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ru-RU" sz="1800" i="1" dirty="0">
                          <a:latin typeface="Cambria Math" panose="02040503050406030204" pitchFamily="18" charset="0"/>
                        </a:rPr>
                        <m:t>По формуле Тейлора:</m:t>
                      </m:r>
                    </m:oMath>
                  </m:oMathPara>
                </a14:m>
                <a:endParaRPr lang="ru-RU" sz="1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ad>
                        <m:ra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ru-RU" sz="1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5−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ra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∗3</m:t>
                          </m:r>
                        </m:num>
                        <m:den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m:rPr>
                          <m:nor/>
                        </m:rPr>
                        <a:rPr lang="en-US" sz="1800" i="1" dirty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ra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ad>
                        <m:ra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ru-RU" sz="1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ra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rad>
                          <m:rad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>
                            <m:r>
                              <m:rPr>
                                <m:brk m:alnAt="7"/>
                              </m:r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p>
                          </m:den>
                        </m:f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>
                            <m:r>
                              <m:rPr>
                                <m:brk m:alnAt="7"/>
                              </m:r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6</m:t>
                                </m:r>
                              </m:sup>
                            </m:sSup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∗3∗</m:t>
                            </m:r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p>
                          </m:den>
                        </m:f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p>
                          </m:den>
                        </m:f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∗3∗</m:t>
                            </m:r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sup>
                            </m:sSup>
                          </m:den>
                        </m:f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m:rPr>
                        <m:nor/>
                      </m:rPr>
                      <a:rPr lang="en-US" sz="1800" dirty="0"/>
                      <m:t>=</m:t>
                    </m:r>
                    <m:r>
                      <m:rPr>
                        <m:nor/>
                      </m:rPr>
                      <a:rPr lang="ru-RU" sz="1800" b="0" i="0" dirty="0" smtClean="0"/>
                      <m:t> −</m:t>
                    </m:r>
                    <m:r>
                      <m:rPr>
                        <m:nor/>
                      </m:rPr>
                      <a:rPr lang="en-US" sz="1800" dirty="0"/>
                      <m:t> </m:t>
                    </m:r>
                    <m:f>
                      <m:f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3∗</m:t>
                        </m:r>
                        <m:sSup>
                          <m:sSup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f>
                              <m:fPr>
                                <m:ctrlP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en-US" sz="1800" i="1" dirty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sup>
                        </m:sSup>
                      </m:den>
                    </m:f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ru-RU" sz="18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−0.11399839</m:t>
                    </m:r>
                    <m:r>
                      <a:rPr lang="ru-RU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ru-RU" sz="1800" dirty="0"/>
                  <a:t>-</a:t>
                </a:r>
                <a:r>
                  <a:rPr lang="ru-RU" sz="1800" dirty="0">
                    <a:latin typeface="+mn-lt"/>
                  </a:rPr>
                  <a:t>0.114</a:t>
                </a:r>
                <a:endParaRPr lang="en-US" sz="1800" dirty="0"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endParaRPr lang="en-US" sz="14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13" y="1043940"/>
                <a:ext cx="8199847" cy="37490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-4761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ru-RU" altLang="ru-RU" sz="900" b="0" i="0" u="none" strike="noStrike" cap="none" normalizeH="0" baseline="0">
                <a:ln>
                  <a:noFill/>
                </a:ln>
                <a:solidFill>
                  <a:srgbClr val="98D5DE"/>
                </a:solidFill>
                <a:effectLst/>
                <a:latin typeface="WebRoboto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-4761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rgbClr val="98D5DE"/>
                </a:solidFill>
                <a:effectLst/>
                <a:latin typeface="WebRoboto"/>
              </a:rPr>
            </a:b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304800" y="304800"/>
            <a:ext cx="9144000" cy="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-4761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rgbClr val="98D5DE"/>
                </a:solidFill>
                <a:effectLst/>
                <a:latin typeface="WebRoboto"/>
              </a:rPr>
            </a:b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266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1016738"/>
                <a:ext cx="8276094" cy="3921066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Монотонность</a:t>
                </a:r>
                <a:r>
                  <a:rPr lang="en-US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  <a:endParaRPr lang="ru-RU" sz="1800" b="1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sz="1800" b="1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ad>
                      <m:rad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d>
                          <m:d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e>
                        </m:d>
                      </m:e>
                    </m:rad>
                    <m:r>
                      <a:rPr lang="ru-RU" sz="18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rad>
                  </m:oMath>
                </a14:m>
                <a:r>
                  <a:rPr lang="ru-RU" dirty="0"/>
                  <a:t> Так как для всех </a:t>
                </a:r>
                <a:r>
                  <a:rPr lang="en-US" dirty="0"/>
                  <a:t>n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dirty="0"/>
                  <a:t>, числитель всегда </a:t>
                </a:r>
                <a:r>
                  <a:rPr lang="ru-RU" b="1" dirty="0"/>
                  <a:t>отрицателен</a:t>
                </a:r>
                <a:r>
                  <a:rPr lang="ru-RU" dirty="0"/>
                  <a:t>. А знаменатель всегда положителен. Значит, вся последовательность</a:t>
                </a:r>
                <a:r>
                  <a:rPr lang="en-US" dirty="0"/>
                  <a:t> </a:t>
                </a:r>
                <a:r>
                  <a:rPr lang="ru-RU" dirty="0"/>
                  <a:t>отрицательна. 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Воспользуемся формулой кубов: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A-B=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18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8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8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𝐴𝐵</m:t>
                        </m:r>
                        <m:r>
                          <a:rPr lang="en-US" sz="18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sz="1800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800" b="0" i="0" kern="1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ru-RU" sz="1800" b="0" i="0" kern="1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где </m:t>
                    </m:r>
                    <m:r>
                      <m:rPr>
                        <m:sty m:val="p"/>
                      </m:rPr>
                      <a:rPr lang="en-US" sz="1800" b="0" i="0" kern="1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en-US" sz="1800" b="0" i="0" kern="1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d>
                          <m:d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e>
                        </m:d>
                      </m:e>
                    </m:rad>
                  </m:oMath>
                </a14:m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а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B=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rad>
                  </m:oMath>
                </a14:m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Тогда получим числитель: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d>
                          <m:d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e>
                        </m:d>
                        <m:r>
                          <a:rPr lang="ru-RU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sSupPr>
                            <m:ctrlP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𝐴𝐵</m:t>
                        </m:r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sz="1800" i="1" smtClean="0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b="0" i="1" smtClean="0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−(3</m:t>
                            </m:r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ru-RU" sz="18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ru-RU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𝐴𝐵</m:t>
                        </m:r>
                        <m:r>
                          <a:rPr lang="en-US" sz="18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sz="18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16738"/>
                <a:ext cx="8276094" cy="3921066"/>
              </a:xfrm>
              <a:prstGeom prst="rect">
                <a:avLst/>
              </a:prstGeom>
              <a:blipFill>
                <a:blip r:embed="rId2"/>
                <a:stretch>
                  <a:fillRect l="-736" t="-9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3405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1016738"/>
                <a:ext cx="8276094" cy="3921066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6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6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−(3</m:t>
                              </m:r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  <m:r>
                            <a:rPr lang="ru-RU" sz="16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+2)</m:t>
                          </m:r>
                        </m:num>
                        <m:den>
                          <m:sSup>
                            <m:sSupPr>
                              <m:ctrlP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600" b="0" i="1" kern="10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16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𝐴𝐵</m:t>
                          </m:r>
                          <m:r>
                            <a:rPr lang="en-US" sz="16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1600" i="1" kern="1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sz="16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ad>
                            <m:radPr>
                              <m:degHide m:val="on"/>
                              <m:ctrlP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6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6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6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6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ru-RU" sz="16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Давайте упростим выражение, вынеся старшие степени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6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r>
                          <a:rPr lang="en-US" sz="16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(3</m:t>
                        </m:r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sSupPr>
                            <m:ctrlPr>
                              <a:rPr lang="en-US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p>
                            </m:sSup>
                            <m:r>
                              <a:rPr lang="ru-RU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(</m:t>
                            </m:r>
                            <m:rad>
                              <m:radPr>
                                <m:ctrlPr>
                                  <a:rPr lang="ru-RU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>
                                <m:r>
                                  <a:rPr lang="ru-RU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g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ru-RU" sz="1600" i="1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5−</m:t>
                                    </m:r>
                                    <m:f>
                                      <m:fPr>
                                        <m:ctrlPr>
                                          <a:rPr lang="en-US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ru-RU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lang="en-US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</m:rad>
                          </m:e>
                          <m:sup>
                            <m:r>
                              <a:rPr lang="en-US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600" b="0" i="1" kern="1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…</m:t>
                        </m:r>
                        <m:r>
                          <a:rPr lang="ru-RU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en-US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ad>
                          <m:radPr>
                            <m:degHide m:val="on"/>
                            <m:ctrlP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9−2</m:t>
                            </m:r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+3/(</m:t>
                            </m:r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sz="160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(3</m:t>
                        </m:r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sSupPr>
                            <m:ctrlPr>
                              <a:rPr lang="en-US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smtClean="0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ru-RU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(</m:t>
                            </m:r>
                            <m:rad>
                              <m:radPr>
                                <m:ctrlPr>
                                  <a:rPr lang="ru-RU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>
                                <m:r>
                                  <a:rPr lang="ru-RU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g>
                              <m:e>
                                <m:d>
                                  <m:dPr>
                                    <m:ctrlPr>
                                      <a:rPr lang="ru-RU" sz="1600" i="1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ru-RU" sz="1600" i="1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5−</m:t>
                                    </m:r>
                                    <m:f>
                                      <m:fPr>
                                        <m:ctrlPr>
                                          <a:rPr lang="en-US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ru-RU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lang="en-US" sz="1600" i="1">
                                            <a:solidFill>
                                              <a:schemeClr val="dk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</m:rad>
                          </m:e>
                          <m:sup>
                            <m:r>
                              <a:rPr lang="en-US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+…</m:t>
                        </m:r>
                        <m:r>
                          <a:rPr lang="ru-RU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ad>
                          <m:radPr>
                            <m:degHide m:val="on"/>
                            <m:ctrlP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9−2</m:t>
                            </m:r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+3/(</m:t>
                            </m:r>
                            <m:sSup>
                              <m:sSup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rad>
                      </m:den>
                    </m:f>
                  </m:oMath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увеличении 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Числитель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(по модулю)  </a:t>
                </a: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уменьшается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Знаменатель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увеличивается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так как:</a:t>
                </a:r>
              </a:p>
              <a:p>
                <a:pPr lvl="1"/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ad>
                      <m:radPr>
                        <m:degHide m:val="on"/>
                        <m:ctrlP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9−2</m:t>
                        </m:r>
                        <m:r>
                          <a:rPr lang="en-US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+3/(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растет (вычитаемое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ru-RU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 уменьшается).</a:t>
                </a:r>
              </a:p>
              <a:p>
                <a:pPr lvl="1"/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Слагаемые типа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ru-RU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d>
                          <m:dPr>
                            <m:ctrlP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</a:rPr>
                              <m:t>5−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1600" i="1">
                                    <a:solidFill>
                                      <a:schemeClr val="dk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d>
                      </m:e>
                    </m:ra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 в первой скобке также растут.</a:t>
                </a:r>
              </a:p>
              <a:p>
                <a:endParaRPr lang="ru-RU" sz="16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16738"/>
                <a:ext cx="8276094" cy="3921066"/>
              </a:xfrm>
              <a:prstGeom prst="rect">
                <a:avLst/>
              </a:prstGeom>
              <a:blipFill>
                <a:blip r:embed="rId2"/>
                <a:stretch>
                  <a:fillRect l="-3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4228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1394847"/>
                <a:ext cx="8276094" cy="320815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Так как дробь имеет вид 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уменьшающееся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увеличивающееся, то её абсолютная величина  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уменьшается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Поскольку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отрицательное число, и его модуль уменьшается (оно становится ближе к нулю), это означает, что сама последовательность 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возрастает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Ответ: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Последовательность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8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монотонно возрастает.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Ограниченность: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Сверху ограничена пределом последовательности, то есть -0.114.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Снизу ограничена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 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так как последовательность монотонно возрастает.</a:t>
                </a: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394847"/>
                <a:ext cx="8276094" cy="3208150"/>
              </a:xfrm>
              <a:prstGeom prst="rect">
                <a:avLst/>
              </a:prstGeom>
              <a:blipFill>
                <a:blip r:embed="rId2"/>
                <a:stretch>
                  <a:fillRect l="-589" t="-1141" r="-6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9464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Autofit/>
          </a:bodyPr>
          <a:lstStyle/>
          <a:p>
            <a:r>
              <a:rPr lang="ru-RU" sz="2900" dirty="0"/>
              <a:t>График общего члена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DDC359-62A8-E81D-8598-739B970E3A55}"/>
              </a:ext>
            </a:extLst>
          </p:cNvPr>
          <p:cNvSpPr txBox="1"/>
          <p:nvPr/>
        </p:nvSpPr>
        <p:spPr>
          <a:xfrm>
            <a:off x="1270859" y="3528163"/>
            <a:ext cx="6602279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https://www.desmos.com/calculator/wqd6nq1gyt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0807A6-D220-00F8-332D-C8E16B1481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18" t="38123" b="5380"/>
          <a:stretch/>
        </p:blipFill>
        <p:spPr>
          <a:xfrm>
            <a:off x="1270861" y="1295332"/>
            <a:ext cx="6602278" cy="175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сходимости 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Сходимость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последовательности — это свойство числовой последовательности иметь конечный предел при стремлении индекса 𝑛 к бесконечности, то есть её члены «приближаются» к определённому числу 𝑎.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предел существует и конечен, последовательность сходится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нет (стремится к бесконечности или не имеет предела), она расходится.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Ключевые признаки сходимости включают </a:t>
                </a:r>
                <a:r>
                  <a:rPr lang="ru-RU" sz="1800" b="1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критерий Коши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(для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&gt; 0 существует 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такой, что для  𝑚,𝑛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выполняется|𝑥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𝑚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−𝑥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|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&lt;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и теоремы о монотонных и ограниченных последовательностях (монотонная и ограниченная последовательность всегда сходится). </a:t>
                </a:r>
                <a:endParaRPr lang="ru-RU" sz="1800" b="0" i="0" dirty="0">
                  <a:solidFill>
                    <a:srgbClr val="2C2D2E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  <a:blipFill>
                <a:blip r:embed="rId3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422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7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ограниченности 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072459"/>
                <a:ext cx="8291594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Числовая последовательность называется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ограниченной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если все её элементы ограничены как снизу, так и сверху, то есть находятся в некотором конечном интервале на числовой прямой; это эквивалентно существованию такого числа 𝐶&gt;0, что для всех членов последовательности 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выполняется неравенство |𝑥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|&lt;𝐶. Иными словами, она не уходит в бесконечность ни в положительном, ни в отрицательном направлении. </a:t>
                </a: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Основные определения: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 сверху: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Существует такое число 𝑀, что 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≤𝑀 для всех𝑛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 снизу: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Существует такое число 𝑚, что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≥𝑚 для всех 𝑛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Последовательность ограничена и сверху, и снизу. </a:t>
                </a:r>
              </a:p>
              <a:p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072459"/>
                <a:ext cx="8291594" cy="3447143"/>
              </a:xfrm>
              <a:blipFill>
                <a:blip r:embed="rId2"/>
                <a:stretch>
                  <a:fillRect l="-613" t="-735" b="-11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57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959" y="1470740"/>
            <a:ext cx="8252848" cy="3447143"/>
          </a:xfrm>
        </p:spPr>
        <p:txBody>
          <a:bodyPr>
            <a:noAutofit/>
          </a:bodyPr>
          <a:lstStyle/>
          <a:p>
            <a:pPr>
              <a:buSzPts val="1000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последовательность</a:t>
            </a:r>
            <a:r>
              <a:rPr lang="ru-RU" sz="1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- </a:t>
            </a:r>
            <a:r>
              <a:rPr lang="ru-RU" sz="18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это числовая последовательность, значения которой во времени (с увеличением номера члена) изменяются только в одном направлении: либо только не убывают, либо только не возрастают. 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Различают следующие виды монотонности для последовательности (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больше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меньше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&lt;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SzPts val="1000"/>
              <a:tabLst>
                <a:tab pos="45720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2CBB43A-9030-23D9-3A41-EF773B4E3921}"/>
              </a:ext>
            </a:extLst>
          </p:cNvPr>
          <p:cNvSpPr txBox="1">
            <a:spLocks/>
          </p:cNvSpPr>
          <p:nvPr/>
        </p:nvSpPr>
        <p:spPr>
          <a:xfrm>
            <a:off x="457200" y="306435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596793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304933"/>
            <a:ext cx="8276096" cy="3447143"/>
          </a:xfrm>
        </p:spPr>
        <p:txBody>
          <a:bodyPr>
            <a:no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2. Нестрого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меньше (больше или равен) предыдущего.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     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≥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больше (меньше или равен)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≤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E2FED0E-8EE7-9C63-D7C1-75BAB379E6E1}"/>
              </a:ext>
            </a:extLst>
          </p:cNvPr>
          <p:cNvSpPr txBox="1">
            <a:spLocks/>
          </p:cNvSpPr>
          <p:nvPr/>
        </p:nvSpPr>
        <p:spPr>
          <a:xfrm>
            <a:off x="457199" y="400808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41136295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8" y="1056960"/>
            <a:ext cx="8361337" cy="3447143"/>
          </a:xfrm>
        </p:spPr>
        <p:txBody>
          <a:bodyPr>
            <a:noAutofit/>
          </a:bodyPr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Сходящаяся последовательность всегда ограничена (обратное неверно: например,  (−1)</a:t>
            </a:r>
            <a:r>
              <a:rPr lang="ru-RU" sz="1800" i="1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ограничена, но не сходится).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и ограниченная последовательность сходится (теорема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Вейерштрасса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A0D9719-1C0F-A57A-DAC5-5942C954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Связь свойств</a:t>
            </a:r>
          </a:p>
        </p:txBody>
      </p:sp>
    </p:spTree>
    <p:extLst>
      <p:ext uri="{BB962C8B-B14F-4D97-AF65-F5344CB8AC3E}">
        <p14:creationId xmlns:p14="http://schemas.microsoft.com/office/powerpoint/2010/main" val="2928318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1.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01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(-0.124, 0.124)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=4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  <a:endParaRPr lang="en-US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https://www.desmos.com/calculator/atzgwg4jq1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2.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001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(-0.115, 0.115)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=36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https://www.desmos.com/calculator/xcmyuypy49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  <a:blipFill>
                <a:blip r:embed="rId4"/>
                <a:stretch>
                  <a:fillRect l="-583" t="-883" b="-88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/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Анализ </a:t>
                </a:r>
                <a14:m>
                  <m:oMath xmlns:m="http://schemas.openxmlformats.org/officeDocument/2006/math">
                    <m:r>
                      <a:rPr lang="ru-RU" sz="2900" b="1" i="1" kern="10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ru-RU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sz="2900" b="1" i="1" kern="1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en-US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endParaRPr lang="ru-RU" sz="2900" b="1" dirty="0">
                  <a:latin typeface="Golos Text DemiBold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blipFill>
                <a:blip r:embed="rId5"/>
                <a:stretch>
                  <a:fillRect l="-2558" t="-11364" b="-329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175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/>
                  <a:t>3.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=0.0001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окрестность: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(-0.114, 0.114)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Начиная с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=22187 все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https://www.desmos.com/calculator/m8rr803qb8</a:t>
                </a:r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  <a:blipFill>
                <a:blip r:embed="rId3"/>
                <a:stretch>
                  <a:fillRect l="-583" t="-12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Анализ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1877" t="-11494" b="-34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865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9862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/>
              <p:nvPr/>
            </p:nvSpPr>
            <p:spPr>
              <a:xfrm>
                <a:off x="2069024" y="2185105"/>
                <a:ext cx="5005952" cy="773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024" y="2185105"/>
                <a:ext cx="5005952" cy="7732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8411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kern="10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10−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7645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Производная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1077132"/>
                <a:ext cx="8524067" cy="3642102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ru-RU" sz="1800" smtClean="0"/>
                        <m:t>Применяем натуральный логарифм к обеим частям уравнения:</m:t>
                      </m:r>
                    </m:oMath>
                  </m:oMathPara>
                </a14:m>
                <a:endParaRPr lang="ru-RU" sz="1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sz="1800" i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ru-RU" sz="1800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sz="1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func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−3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</m:t>
                      </m:r>
                      <m:func>
                        <m:func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sz="1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(5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−3)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=5⋅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+(5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−3)⋅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ru-RU" sz="1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(5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−3)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+(5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−3)⋅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)(2−10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  <m:oMath xmlns:m="http://schemas.openxmlformats.org/officeDocument/2006/math">
                      <m:r>
                        <a:rPr lang="ru-RU" sz="1800" i="1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−24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)(2−10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/>
              </a:p>
              <a:p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1077132"/>
                <a:ext cx="8524067" cy="364210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5934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Производная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1658318"/>
                <a:ext cx="8524067" cy="2255004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ru-RU" sz="18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sz="1800" i="1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−24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)(2−10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⁡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40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−24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)(2−10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⁡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40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−24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)(2−10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1658318"/>
                <a:ext cx="8524067" cy="225500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17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ru-RU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Функция</a:t>
                </a:r>
                <a:r>
                  <a:rPr lang="en-US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: </a:t>
                </a:r>
              </a:p>
              <a:p>
                <a:endParaRPr lang="en-US" sz="1600" b="1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Область определения</a:t>
                </a:r>
                <a:r>
                  <a:rPr lang="en-US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Выражение под степенью должно быть всегда положительно, иначе функция станет не дифференцируемой, кроме того точка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 не должна входить(см решение выше):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2−10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&gt;0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Решим методом интервалов, а также найдем нули функции и разрывы второго рода: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2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18.png">
            <a:extLst>
              <a:ext uri="{FF2B5EF4-FFF2-40B4-BE49-F238E27FC236}">
                <a16:creationId xmlns:a16="http://schemas.microsoft.com/office/drawing/2014/main" id="{002F8696-B829-06AC-DF00-D018AE97F4C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32768" y="1224997"/>
            <a:ext cx="1295400" cy="4445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77656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Расставим знаки на промежутках числовой прямой: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есть, область определения функции: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;0.2</m:t>
                        </m:r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∪</m:t>
                    </m:r>
                    <m:d>
                      <m:dPr>
                        <m:begChr m:val="[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1,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endParaRPr lang="en-US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(0,2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; 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1) - неустранимый разрыв второго рода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653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717AB5-D0E0-AC59-CC3D-528932EE912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76" t="22391" r="8087" b="16905"/>
          <a:stretch>
            <a:fillRect/>
          </a:stretch>
        </p:blipFill>
        <p:spPr bwMode="auto">
          <a:xfrm>
            <a:off x="890715" y="1768406"/>
            <a:ext cx="1891665" cy="71628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82845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 функции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1FB699-5D51-69BC-6941-FB2F4D270F3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25"/>
          <a:stretch>
            <a:fillRect/>
          </a:stretch>
        </p:blipFill>
        <p:spPr bwMode="auto">
          <a:xfrm>
            <a:off x="2758122" y="1091662"/>
            <a:ext cx="3627755" cy="36576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57631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Определения для анализа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B19E03-FDDC-3441-5B46-71C0214E2CC1}"/>
                  </a:ext>
                </a:extLst>
              </p:cNvPr>
              <p:cNvSpPr txBox="1"/>
              <p:nvPr/>
            </p:nvSpPr>
            <p:spPr>
              <a:xfrm>
                <a:off x="340964" y="1021045"/>
                <a:ext cx="9035510" cy="2976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Сходимость функции на бесконечности (Определение по Коши)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Число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называется пределом функции 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 при 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стремящемся к бесконечности, если для любого сколь угодно малого числа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ε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 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найдется такое число 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ε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 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0 (зависящее от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), что для всех выполняется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неравенство: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</m:d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2. Ограниченность функции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 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 называется ограниченной на бесконечном промежутке, если существует такое число 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&gt;0, что для всех 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из области определения выполняется условие: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≤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B19E03-FDDC-3441-5B46-71C0214E2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964" y="1021045"/>
                <a:ext cx="9035510" cy="2976199"/>
              </a:xfrm>
              <a:prstGeom prst="rect">
                <a:avLst/>
              </a:prstGeom>
              <a:blipFill>
                <a:blip r:embed="rId2"/>
                <a:stretch>
                  <a:fillRect l="-607" t="-1022" r="-3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60054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Определения для анализа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B19E03-FDDC-3441-5B46-71C0214E2CC1}"/>
                  </a:ext>
                </a:extLst>
              </p:cNvPr>
              <p:cNvSpPr txBox="1"/>
              <p:nvPr/>
            </p:nvSpPr>
            <p:spPr>
              <a:xfrm>
                <a:off x="340964" y="1021045"/>
                <a:ext cx="9035510" cy="15855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3. Монотонность функции на бесконечности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</a:t>
                </a:r>
                <a:r>
                  <a:rPr lang="ru-RU" sz="1800" i="1" kern="100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называется строго убывающей на промежутке, если для любых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и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из этого промежутка из условия 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следует: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𝒇</m:t>
                      </m:r>
                      <m:d>
                        <m:dPr>
                          <m:ctrlPr>
                            <a:rPr lang="ru-RU" sz="1800" b="1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&lt;</m:t>
                      </m:r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𝒇</m:t>
                      </m:r>
                      <m:d>
                        <m:dPr>
                          <m:ctrlPr>
                            <a:rPr lang="ru-RU" sz="1800" b="1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ru-RU" sz="1800" b="1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B19E03-FDDC-3441-5B46-71C0214E2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964" y="1021045"/>
                <a:ext cx="9035510" cy="1585562"/>
              </a:xfrm>
              <a:prstGeom prst="rect">
                <a:avLst/>
              </a:prstGeom>
              <a:blipFill>
                <a:blip r:embed="rId2"/>
                <a:stretch>
                  <a:fillRect l="-607" t="-19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95682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5945" y="1340603"/>
                <a:ext cx="8167607" cy="2758699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Из </a:t>
                </a: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ранее полученной производной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видно, что она равна нулю в точке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=1(которая является разрывом из ОДЗ), а также в точке, в которой выполняется следующее равенство: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⁡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40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−24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)(2−10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sz="1800" i="1" kern="100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5945" y="1340603"/>
                <a:ext cx="8167607" cy="2758699"/>
              </a:xfrm>
              <a:blipFill>
                <a:blip r:embed="rId2"/>
                <a:stretch>
                  <a:fillRect l="-597" t="-1327" b="-7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060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Здесь будет удобно применить метод Ньютона для приближенных вычислений. 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1.0982816186465438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1.3016603753455615</m:t>
                      </m:r>
                      <m:r>
                        <m:rPr>
                          <m:sty m:val="p"/>
                        </m:rP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e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05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  <a:blipFill>
                <a:blip r:embed="rId2"/>
                <a:stretch>
                  <a:fillRect l="-597" t="-17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9283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A11E20-DB6D-766F-585D-B8A677142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946" y="1053886"/>
            <a:ext cx="8152108" cy="2698550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Проверим как ведет себя функция на интервалах (-∞, 0.2) и (1, +∞).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(-∞, 0.2) функция убывает, проверяем это численно подставляя значения интервала в производную. Также очевидно, что это не нарушается, так как экстремум только один в другом интервале. 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[1, +∞) функция сначала возрастает, а затем убывает проверяем это также численно подставляя значения меньше и больше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Xmax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в производную.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F1BDE12-0D0E-DEBC-4937-FE42DD6EF2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797" t="39538" b="42705"/>
          <a:stretch>
            <a:fillRect/>
          </a:stretch>
        </p:blipFill>
        <p:spPr bwMode="auto">
          <a:xfrm>
            <a:off x="2071867" y="3185298"/>
            <a:ext cx="5000265" cy="157460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422657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Вычислим пределы при стремлении функции к крайним точкам: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0.2−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b>
                          </m:sSub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∞</m:t>
                              </m:r>
                            </m:e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∞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000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 первом интервале функция ограничена снизу нулём.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blipFill>
                <a:blip r:embed="rId2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9360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573437" y="1315349"/>
                <a:ext cx="8043621" cy="2995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Проверим второй интервал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1+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Исходя из полученного ранее экстремума на втором интервале, а также первого предела и предела выше, можно сделать вывод что на втором интервале, функция ограничена снизу нулём, а сверху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1.3∗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−5</m:t>
                            </m:r>
                          </m:e>
                        </m:d>
                      </m:sup>
                    </m:sSup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37" y="1315349"/>
                <a:ext cx="8043621" cy="2995885"/>
              </a:xfrm>
              <a:prstGeom prst="rect">
                <a:avLst/>
              </a:prstGeom>
              <a:blipFill>
                <a:blip r:embed="rId2"/>
                <a:stretch>
                  <a:fillRect l="-606" t="-1222" r="-2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2992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" y="306435"/>
            <a:ext cx="7377193" cy="527284"/>
          </a:xfrm>
        </p:spPr>
        <p:txBody>
          <a:bodyPr>
            <a:noAutofit/>
          </a:bodyPr>
          <a:lstStyle/>
          <a:p>
            <a:pPr marL="228600" algn="ctr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Определения сходимости, монотонности, ограниченности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Сходимость к пределу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m:rPr>
                        <m:nor/>
                      </m:rPr>
                      <a: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  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)−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данном случае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&gt;0,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такое, что на интервале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,+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функция либо только возрастает, либо только убывает.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blipFill>
                <a:blip r:embed="rId2"/>
                <a:stretch>
                  <a:fillRect l="-597" t="-14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93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BAC953-706D-8BB3-9836-1B7DEBD2D1BF}"/>
                  </a:ext>
                </a:extLst>
              </p:cNvPr>
              <p:cNvSpPr txBox="1"/>
              <p:nvPr/>
            </p:nvSpPr>
            <p:spPr>
              <a:xfrm>
                <a:off x="499820" y="1032188"/>
                <a:ext cx="8512444" cy="26418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б) Для правого интервала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=2⋅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=5⋅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Эти значения близки с максимальным значением функции на правой ветви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 kern="1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max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≈1.3⋅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в) Изображение </a:t>
                </a:r>
                <a14:m>
                  <m:oMath xmlns:m="http://schemas.openxmlformats.org/officeDocument/2006/math">
                    <m:r>
                      <a:rPr lang="ru-RU" sz="1800" b="1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-окрестностей на графике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b="1" u="sng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https://www.desmos.com/calculator/q5sgbjvggj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BAC953-706D-8BB3-9836-1B7DEBD2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20" y="1032188"/>
                <a:ext cx="8512444" cy="2641877"/>
              </a:xfrm>
              <a:prstGeom prst="rect">
                <a:avLst/>
              </a:prstGeom>
              <a:blipFill>
                <a:blip r:embed="rId4"/>
                <a:stretch>
                  <a:fillRect l="-645" t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08132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2">
            <a:extLst>
              <a:ext uri="{FF2B5EF4-FFF2-40B4-BE49-F238E27FC236}">
                <a16:creationId xmlns:a16="http://schemas.microsoft.com/office/drawing/2014/main" id="{87614C88-514E-54CC-871F-8CC68B6B1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176" y="1066822"/>
            <a:ext cx="180049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i="1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=2*10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ru-RU" b="0" i="1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-5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5" name="Рисунок 2">
            <a:extLst>
              <a:ext uri="{FF2B5EF4-FFF2-40B4-BE49-F238E27FC236}">
                <a16:creationId xmlns:a16="http://schemas.microsoft.com/office/drawing/2014/main" id="{F214E09C-03E4-C3B9-E61C-481AE652B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176" y="148008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0993A6A-0F46-C822-48AF-1F14CE095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17596"/>
            <a:ext cx="8351794" cy="256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73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2">
            <a:extLst>
              <a:ext uri="{FF2B5EF4-FFF2-40B4-BE49-F238E27FC236}">
                <a16:creationId xmlns:a16="http://schemas.microsoft.com/office/drawing/2014/main" id="{87614C88-514E-54CC-871F-8CC68B6B1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176" y="1066822"/>
            <a:ext cx="267573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kumimoji="0" lang="ru-RU" altLang="ru-RU" b="0" i="1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=1*10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ru-RU" b="0" i="1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-5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δ=0.05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5" name="Рисунок 2">
            <a:extLst>
              <a:ext uri="{FF2B5EF4-FFF2-40B4-BE49-F238E27FC236}">
                <a16:creationId xmlns:a16="http://schemas.microsoft.com/office/drawing/2014/main" id="{F214E09C-03E4-C3B9-E61C-481AE652B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176" y="148008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1FDE8F6-B8B5-E895-6E52-33B5F5FAC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77" y="1669256"/>
            <a:ext cx="7083422" cy="2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9162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2">
            <a:extLst>
              <a:ext uri="{FF2B5EF4-FFF2-40B4-BE49-F238E27FC236}">
                <a16:creationId xmlns:a16="http://schemas.microsoft.com/office/drawing/2014/main" id="{EB67B381-849C-C5C0-45A3-F8707C90E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176" y="1066822"/>
            <a:ext cx="276069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i="1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altLang="ru-RU" i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*10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ru-RU" b="0" i="1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altLang="ru-RU" i="1" baseline="30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altLang="ru-RU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δ=0.015</a:t>
            </a:r>
            <a:r>
              <a:rPr kumimoji="0" lang="en-US" altLang="ru-RU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AC43D44-BEDA-2E5A-B66C-ED80A21B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3" y="1838325"/>
            <a:ext cx="8214994" cy="202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861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</a:t>
            </a:r>
            <a:r>
              <a:rPr lang="en-US" dirty="0"/>
              <a:t>2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8"/>
            <a:ext cx="7467600" cy="3598744"/>
          </a:xfrm>
        </p:spPr>
        <p:txBody>
          <a:bodyPr>
            <a:noAutofit/>
          </a:bodyPr>
          <a:lstStyle/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Дана задача. Проведите исследование: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1)	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2)	Решите задачу аналитически.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3)	Сделайте графическую иллюстрацию к решению задачи. Сверьтесь с аналитическим решением.</a:t>
            </a:r>
          </a:p>
          <a:p>
            <a:pPr marL="342900" indent="-342900">
              <a:buAutoNum type="arabicParenR" startAt="4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Запишите ответ.</a:t>
            </a:r>
            <a:endParaRPr lang="en-US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Период колебания маятника                   , где </a:t>
            </a:r>
            <a:r>
              <a:rPr lang="ru-RU" sz="1800" i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en-US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– длина маятника в сантиметрах. Как нужно изменить длину маятника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l=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20 см, чтобы период колебания уменьшился на 0,1 с?</a:t>
            </a:r>
            <a:endParaRPr lang="ru-RU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12.png">
            <a:extLst>
              <a:ext uri="{FF2B5EF4-FFF2-40B4-BE49-F238E27FC236}">
                <a16:creationId xmlns:a16="http://schemas.microsoft.com/office/drawing/2014/main" id="{FA3BABBD-1955-2337-9102-B2D128671DDA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362960" y="3860800"/>
            <a:ext cx="919181" cy="358952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6709220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Период маятника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en-US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num>
                          <m:den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den>
                        </m:f>
                      </m:e>
                    </m:rad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ru-RU" sz="1600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0,1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𝑐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Длина маятника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Найти: 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=?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  <a:blipFill>
                <a:blip r:embed="rId2"/>
                <a:stretch>
                  <a:fillRect l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1435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</p:spPr>
            <p:txBody>
              <a:bodyPr>
                <a:no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Воспользуемся теоремой о дифференциале функции одной переменной.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непрерывно дифференцируема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0;+∞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, поэтому в окрестности точки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применимо линейное приближение. Для малого изменения кривую заменим касательной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≈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ⅆ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  <a:blipFill>
                <a:blip r:embed="rId2"/>
                <a:stretch>
                  <a:fillRect l="-657" t="-20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0888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Находим производную: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981⋅</m:t>
                            </m:r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981⋅20</m:t>
                              </m:r>
                            </m:e>
                          </m:ra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=0,2=0,0224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Отсюда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0,1</m:t>
                          </m:r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0224</m:t>
                          </m:r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=−4,46 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924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127A73-0C63-0E27-C6D6-7288AB1A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05" y="1361586"/>
            <a:ext cx="5939790" cy="28028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66026-0CB2-D357-0F09-0B54A772F91E}"/>
              </a:ext>
            </a:extLst>
          </p:cNvPr>
          <p:cNvSpPr txBox="1"/>
          <p:nvPr/>
        </p:nvSpPr>
        <p:spPr>
          <a:xfrm>
            <a:off x="2275630" y="4078353"/>
            <a:ext cx="5005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ru-RU" sz="1800" i="1" u="sng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https://www.desmos.com/calculator/0fqbqvrqkt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2ABE-6F31-F4EC-FC1F-ABC372376A9E}"/>
              </a:ext>
            </a:extLst>
          </p:cNvPr>
          <p:cNvSpPr txBox="1"/>
          <p:nvPr/>
        </p:nvSpPr>
        <p:spPr>
          <a:xfrm>
            <a:off x="1159809" y="992254"/>
            <a:ext cx="6824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периода T от длины l и касательная в точке l₀ = 20 см</a:t>
            </a:r>
          </a:p>
        </p:txBody>
      </p:sp>
    </p:spTree>
    <p:extLst>
      <p:ext uri="{BB962C8B-B14F-4D97-AF65-F5344CB8AC3E}">
        <p14:creationId xmlns:p14="http://schemas.microsoft.com/office/powerpoint/2010/main" val="1898499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63D4F-CC4F-C856-9575-A05C03D24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A32B9-DD53-0599-8A93-53203533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C66466C1-AA60-80CB-B223-EE1A4F83C6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б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 Проверим наше решение, реш</a:t>
                </a: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им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уравнение без приближений: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𝛥</m:t>
                        </m:r>
                        <m: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</m:d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Подставляя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=20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=−0,1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получаем уравнение с одним неизвестным:</a:t>
                </a:r>
                <a:endParaRPr lang="ru-RU" sz="1800" kern="100" dirty="0"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800" kern="1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800" kern="100" dirty="0"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C66466C1-AA60-80CB-B223-EE1A4F83C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 r="-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17038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5E746-8FF2-262F-EDD7-AE7F7BABC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07B582-B827-E4CB-A3A0-5CD27A96C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AC12D95-6587-CA84-DD30-EB919F458E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AC12D95-6587-CA84-DD30-EB919F458E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8160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20+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e>
                          </m:rad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</m:e>
                      </m:ra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</m:e>
                              </m:rad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800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981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π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20= 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3,97</m:t>
                          </m:r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−20 = −4,23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3598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6222"/>
            <a:ext cx="7467600" cy="3786317"/>
          </a:xfrm>
        </p:spPr>
        <p:txBody>
          <a:bodyPr>
            <a:no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Почему ответы различаются?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Линеаризация даёт первое приближение; погрешность 0,23 см (≈ 5 %) допустима.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Точное значение: –4,23 см.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44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348712" y="2040326"/>
                <a:ext cx="8446576" cy="1405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Чтобы уменьшить период маятника на 0,1 с, длину нити следует укоротить на 4,46 см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1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a:rPr lang="en-US" sz="1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=−4,46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712" y="2040326"/>
                <a:ext cx="8446576" cy="14055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1176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Дана задача. Проведите исследование: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Решите задачу аналитически.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Сделайте графическую иллюстрацию к решению задачи. Сверьтесь с аналитическим решением.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Aft>
                <a:spcPts val="30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Запишите ответ.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6834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kern="1200" dirty="0">
                <a:solidFill>
                  <a:schemeClr val="dk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</a:r>
            <a:endParaRPr lang="en-US" sz="1800" kern="1200" dirty="0">
              <a:solidFill>
                <a:schemeClr val="dk1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D11B036-0AC8-2B35-90B0-EB3D53EC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934928"/>
              </p:ext>
            </p:extLst>
          </p:nvPr>
        </p:nvGraphicFramePr>
        <p:xfrm>
          <a:off x="1672526" y="3292312"/>
          <a:ext cx="5798948" cy="822960"/>
        </p:xfrm>
        <a:graphic>
          <a:graphicData uri="http://schemas.openxmlformats.org/drawingml/2006/table">
            <a:tbl>
              <a:tblPr firstRow="1" bandRow="1"/>
              <a:tblGrid>
                <a:gridCol w="1880498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018976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Температура, </a:t>
                      </a:r>
                      <a:r>
                        <a:rPr lang="ru-RU" sz="1800" baseline="30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Урожайность, кг/м</a:t>
                      </a:r>
                      <a:r>
                        <a:rPr lang="ru-RU" sz="1800" baseline="30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0,91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0,88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74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8064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Найдем коэффициенты </a:t>
                </a:r>
                <a:r>
                  <a:rPr lang="en-US" dirty="0"/>
                  <a:t>a, b, c</a:t>
                </a:r>
                <a:r>
                  <a:rPr lang="ru-RU" dirty="0"/>
                  <a:t> параболы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0,375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blipFill>
                <a:blip r:embed="rId2"/>
                <a:stretch>
                  <a:fillRect l="-684" t="-8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1E115A4-63EB-0C00-049E-6184B05E8AC2}"/>
              </a:ext>
            </a:extLst>
          </p:cNvPr>
          <p:cNvCxnSpPr/>
          <p:nvPr/>
        </p:nvCxnSpPr>
        <p:spPr>
          <a:xfrm>
            <a:off x="5284922" y="1391992"/>
            <a:ext cx="0" cy="72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5933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=−3,08 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=−0,013125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=0,46875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=−3,08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=−0,013125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46875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−3,08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blipFill>
                <a:blip r:embed="rId2"/>
                <a:stretch>
                  <a:fillRect l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61561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нахождения максимальной температуры ищем точку максимума</a:t>
                </a:r>
                <a:r>
                  <a:rPr lang="en-US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этого находим производную</a:t>
                </a:r>
                <a:r>
                  <a:rPr lang="en-US" b="0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nor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/>
                        <m:t>−0,02625</m:t>
                      </m:r>
                      <m:r>
                        <m:rPr>
                          <m:nor/>
                        </m:rPr>
                        <a:rPr lang="en-US"/>
                        <m:t>x</m:t>
                      </m:r>
                      <m:r>
                        <m:rPr>
                          <m:nor/>
                        </m:rPr>
                        <a:rPr lang="en-US"/>
                        <m:t>+0,46875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И находим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nor/>
                      </m:rPr>
                      <a:rPr lang="ru-RU" b="0" i="0" smtClean="0">
                        <a:latin typeface="Cambria Math" panose="02040503050406030204" pitchFamily="18" charset="0"/>
                      </a:rPr>
                      <m:t> = 0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𝑒𝑥𝑡𝑟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≈17,85714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Так как ветви параболы направлены вниз(</a:t>
                </a:r>
                <a:r>
                  <a:rPr lang="en-US" b="0" dirty="0"/>
                  <a:t>a&lt;0), </a:t>
                </a:r>
                <a:r>
                  <a:rPr lang="ru-RU" b="0" dirty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𝑒𝑥𝑡𝑟</m:t>
                        </m:r>
                      </m:sub>
                    </m:sSub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точка максимума, а результат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𝑒𝑥𝑡𝑟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b="0" dirty="0"/>
                  <a:t> - максимальный</a:t>
                </a:r>
                <a:r>
                  <a:rPr lang="en-US" b="0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Ответ</a:t>
                </a:r>
                <a:r>
                  <a:rPr lang="en-US" b="0" dirty="0"/>
                  <a:t>: </a:t>
                </a:r>
                <a:r>
                  <a:rPr lang="ru-RU" b="0" dirty="0"/>
                  <a:t>оптимальная температура </a:t>
                </a:r>
                <a:r>
                  <a:rPr lang="en-US" b="0" dirty="0"/>
                  <a:t>= 17,85714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blipFill>
                <a:blip r:embed="rId2"/>
                <a:stretch>
                  <a:fillRect l="-684" t="-1075" r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1119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7" name="Рисунок 6" descr="Изображение выглядит как текст, линия, График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F8E44E5C-9D0A-6643-50BE-736D37BC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216" b="21917"/>
          <a:stretch/>
        </p:blipFill>
        <p:spPr>
          <a:xfrm>
            <a:off x="2233846" y="1216617"/>
            <a:ext cx="4676308" cy="24254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20BB4D-47C2-D7DA-A521-2720F972B947}"/>
              </a:ext>
            </a:extLst>
          </p:cNvPr>
          <p:cNvSpPr txBox="1"/>
          <p:nvPr/>
        </p:nvSpPr>
        <p:spPr>
          <a:xfrm>
            <a:off x="976394" y="3790196"/>
            <a:ext cx="785764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b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https://www.desmos.com/calculator/xltbzzzlr8?lang=ru</a:t>
            </a:r>
            <a:endParaRPr lang="en-US" b="0" dirty="0"/>
          </a:p>
          <a:p>
            <a:pPr>
              <a:spcAft>
                <a:spcPts val="800"/>
              </a:spcAft>
            </a:pP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3544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/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Оптимальная температура</a:t>
                </a:r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17,85714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blipFill>
                <a:blip r:embed="rId2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3793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7372</TotalTime>
  <Words>2791</Words>
  <Application>Microsoft Office PowerPoint</Application>
  <PresentationFormat>Экран (16:9)</PresentationFormat>
  <Paragraphs>335</Paragraphs>
  <Slides>55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55</vt:i4>
      </vt:variant>
    </vt:vector>
  </HeadingPairs>
  <TitlesOfParts>
    <vt:vector size="66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Open Sans</vt:lpstr>
      <vt:lpstr>Symbol</vt:lpstr>
      <vt:lpstr>Times New Roman</vt:lpstr>
      <vt:lpstr>WebRoboto</vt:lpstr>
      <vt:lpstr>Тема1</vt:lpstr>
      <vt:lpstr>Предел и производная функции одной переменной</vt:lpstr>
      <vt:lpstr>Варианты к заданиям</vt:lpstr>
      <vt:lpstr>Условие задания 1</vt:lpstr>
      <vt:lpstr>Условие задания 1</vt:lpstr>
      <vt:lpstr>Предел последовательности</vt:lpstr>
      <vt:lpstr>Монотонность, ограниченность</vt:lpstr>
      <vt:lpstr>Монотонность, ограниченность</vt:lpstr>
      <vt:lpstr>Монотонность, ограниченность</vt:lpstr>
      <vt:lpstr>График общего члена</vt:lpstr>
      <vt:lpstr>Определение сходимости последовательности</vt:lpstr>
      <vt:lpstr>Определение ограниченности последовательности</vt:lpstr>
      <vt:lpstr>Презентация PowerPoint</vt:lpstr>
      <vt:lpstr>Презентация PowerPoint</vt:lpstr>
      <vt:lpstr>Связь свойств</vt:lpstr>
      <vt:lpstr>Презентация PowerPoint</vt:lpstr>
      <vt:lpstr>Анализ ε_3</vt:lpstr>
      <vt:lpstr>Условие задания 1</vt:lpstr>
      <vt:lpstr>Условие задания 1</vt:lpstr>
      <vt:lpstr>Предел функции</vt:lpstr>
      <vt:lpstr>Производная функции</vt:lpstr>
      <vt:lpstr>Производная функции</vt:lpstr>
      <vt:lpstr>Задание функции</vt:lpstr>
      <vt:lpstr>Задание функции</vt:lpstr>
      <vt:lpstr>График функции</vt:lpstr>
      <vt:lpstr>Определения для анализа функции</vt:lpstr>
      <vt:lpstr>Определения для анализа функции</vt:lpstr>
      <vt:lpstr>Монотонность</vt:lpstr>
      <vt:lpstr>Монотонность</vt:lpstr>
      <vt:lpstr>Монотонность</vt:lpstr>
      <vt:lpstr>Ограниченность</vt:lpstr>
      <vt:lpstr>Ограниченность</vt:lpstr>
      <vt:lpstr>Определения сходимости, монотонности, ограниченности</vt:lpstr>
      <vt:lpstr>Анализ ε_1, ε_2, ε_3</vt:lpstr>
      <vt:lpstr>Анализ ε_1, ε_2, ε_3</vt:lpstr>
      <vt:lpstr>Анализ ε_1, ε_2, ε_3</vt:lpstr>
      <vt:lpstr>Анализ ε_1, ε_2, ε_3</vt:lpstr>
      <vt:lpstr>Условие задания 2</vt:lpstr>
      <vt:lpstr>Математическая модель</vt:lpstr>
      <vt:lpstr>Аналитическое решение</vt:lpstr>
      <vt:lpstr>Аналитическое решение</vt:lpstr>
      <vt:lpstr>График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Ответ</vt:lpstr>
      <vt:lpstr>Условие задания 3</vt:lpstr>
      <vt:lpstr>Условие задания 3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Миша Добкес</dc:creator>
  <cp:lastModifiedBy>Пользователь</cp:lastModifiedBy>
  <cp:revision>253</cp:revision>
  <dcterms:created xsi:type="dcterms:W3CDTF">2014-06-27T12:30:22Z</dcterms:created>
  <dcterms:modified xsi:type="dcterms:W3CDTF">2025-12-25T07:13:04Z</dcterms:modified>
</cp:coreProperties>
</file>