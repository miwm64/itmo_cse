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56"/>
  </p:notesMasterIdLst>
  <p:handoutMasterIdLst>
    <p:handoutMasterId r:id="rId57"/>
  </p:handoutMasterIdLst>
  <p:sldIdLst>
    <p:sldId id="265" r:id="rId2"/>
    <p:sldId id="324" r:id="rId3"/>
    <p:sldId id="382" r:id="rId4"/>
    <p:sldId id="372" r:id="rId5"/>
    <p:sldId id="376" r:id="rId6"/>
    <p:sldId id="388" r:id="rId7"/>
    <p:sldId id="389" r:id="rId8"/>
    <p:sldId id="390" r:id="rId9"/>
    <p:sldId id="284" r:id="rId10"/>
    <p:sldId id="379" r:id="rId11"/>
    <p:sldId id="331" r:id="rId12"/>
    <p:sldId id="380" r:id="rId13"/>
    <p:sldId id="332" r:id="rId14"/>
    <p:sldId id="333" r:id="rId15"/>
    <p:sldId id="381" r:id="rId16"/>
    <p:sldId id="383" r:id="rId17"/>
    <p:sldId id="386" r:id="rId18"/>
    <p:sldId id="393" r:id="rId19"/>
    <p:sldId id="340" r:id="rId20"/>
    <p:sldId id="391" r:id="rId21"/>
    <p:sldId id="392" r:id="rId22"/>
    <p:sldId id="337" r:id="rId23"/>
    <p:sldId id="339" r:id="rId24"/>
    <p:sldId id="344" r:id="rId25"/>
    <p:sldId id="394" r:id="rId26"/>
    <p:sldId id="395" r:id="rId27"/>
    <p:sldId id="385" r:id="rId28"/>
    <p:sldId id="396" r:id="rId29"/>
    <p:sldId id="343" r:id="rId30"/>
    <p:sldId id="346" r:id="rId31"/>
    <p:sldId id="345" r:id="rId32"/>
    <p:sldId id="347" r:id="rId33"/>
    <p:sldId id="397" r:id="rId34"/>
    <p:sldId id="398" r:id="rId35"/>
    <p:sldId id="400" r:id="rId36"/>
    <p:sldId id="399" r:id="rId37"/>
    <p:sldId id="352" r:id="rId38"/>
    <p:sldId id="353" r:id="rId39"/>
    <p:sldId id="354" r:id="rId40"/>
    <p:sldId id="355" r:id="rId41"/>
    <p:sldId id="356" r:id="rId42"/>
    <p:sldId id="357" r:id="rId43"/>
    <p:sldId id="359" r:id="rId44"/>
    <p:sldId id="361" r:id="rId45"/>
    <p:sldId id="362" r:id="rId46"/>
    <p:sldId id="363" r:id="rId47"/>
    <p:sldId id="375" r:id="rId48"/>
    <p:sldId id="366" r:id="rId49"/>
    <p:sldId id="367" r:id="rId50"/>
    <p:sldId id="368" r:id="rId51"/>
    <p:sldId id="369" r:id="rId52"/>
    <p:sldId id="370" r:id="rId53"/>
    <p:sldId id="371" r:id="rId54"/>
    <p:sldId id="263" r:id="rId5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705" autoAdjust="0"/>
  </p:normalViewPr>
  <p:slideViewPr>
    <p:cSldViewPr snapToGrid="0" snapToObjects="1" showGuides="1">
      <p:cViewPr varScale="1">
        <p:scale>
          <a:sx n="123" d="100"/>
          <a:sy n="123" d="100"/>
        </p:scale>
        <p:origin x="1188" y="10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desmos.com/calculator/wqd6nq1gy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hyperlink" Target="https://www.google.com/search?q=%D0%BA%D1%80%D0%B8%D1%82%D0%B5%D1%80%D0%B8%D0%B9+%D0%9A%D0%BE%D1%88%D0%B8&amp;oq=%D0%BE%D0%BF%D1%80%D0%B5%D0%B4%D0%B5%D0%BB%D0%B5%D0%BD%D0%B8%D0%B5+%D1%81%D1%85%D0%BE%D0%B4%D0%B8%D0%BC%D0%BE%D1%81%D1%82%D0%B8+%D0%BF%D0%BE%D1%81%D0%BB%D0%B5%D0%B4%D0%BE%D0%B2%D0%B0%D1%82%D0%B5%D0%BB%D1%8C%D0%BD%D0%BE%D1%81%D1%82%D0%B8&amp;gs_lcrp=EgZjaHJvbWUyBggAEEUYOTIICAEQABgWGB4yBwgCEAAY7wUyBwgDEAAY7wUyBwgEEAAY7wXSAQkxMTU1NWowajeoAgCwAgA&amp;sourceid=chrome&amp;ie=UTF-8&amp;mstk=AUtExfBEoLPgWZ5SL4VJ5iwFGpRmIFH8AWup0AoiZLISJCVj-9Fwk7-zqTz3Prz0fMeo-pe43sDqd_F10IqhDpaXeN4YZ57-GcRWaPoqQUv8HRym5m5pafJ3hd0TceeiTixG1PInAy3vtEQvpcEbLnZCkuMsID4mZVmM7Q4K4pS57vLDHgg&amp;csui=3&amp;ved=2ahUKEwiZg66s2tCRAxUbD1kFHQ1zI50QgK4QegQIAhAD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xcmyuypy49" TargetMode="External"/><Relationship Id="rId2" Type="http://schemas.openxmlformats.org/officeDocument/2006/relationships/hyperlink" Target="https://www.desmos.com/calculator/atzgwg4jq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9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desmos.com/calculator/m8rr803qb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q5sgbjvggj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0fqbqvrqkt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xltbzzzlr8?lang=ru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848761"/>
            <a:ext cx="9144000" cy="1166878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Предел и производная функции одной переменной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518E84-DB0E-6607-38A4-5660155DB0D2}"/>
              </a:ext>
            </a:extLst>
          </p:cNvPr>
          <p:cNvSpPr txBox="1"/>
          <p:nvPr/>
        </p:nvSpPr>
        <p:spPr>
          <a:xfrm>
            <a:off x="-1" y="4774168"/>
            <a:ext cx="914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2025, </a:t>
            </a:r>
            <a:r>
              <a:rPr lang="ru-R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НИУ ИТМО, Санкт-Петербург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5FEE0-6ADA-7B44-AC09-40DE1A0518BE}"/>
              </a:ext>
            </a:extLst>
          </p:cNvPr>
          <p:cNvSpPr txBox="1"/>
          <p:nvPr/>
        </p:nvSpPr>
        <p:spPr>
          <a:xfrm>
            <a:off x="1" y="0"/>
            <a:ext cx="914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Математический анализ</a:t>
            </a:r>
            <a:endParaRPr lang="en-US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A0031-8C49-B020-08DE-79F90710D11C}"/>
              </a:ext>
            </a:extLst>
          </p:cNvPr>
          <p:cNvSpPr txBox="1"/>
          <p:nvPr/>
        </p:nvSpPr>
        <p:spPr>
          <a:xfrm>
            <a:off x="6462793" y="3943171"/>
            <a:ext cx="2681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Добкес Михаил </a:t>
            </a:r>
            <a:r>
              <a:rPr lang="en-US" dirty="0">
                <a:solidFill>
                  <a:schemeClr val="bg1"/>
                </a:solidFill>
              </a:rPr>
              <a:t>P3106</a:t>
            </a:r>
          </a:p>
          <a:p>
            <a:pPr algn="r"/>
            <a:r>
              <a:rPr lang="ru-RU" dirty="0" err="1">
                <a:solidFill>
                  <a:schemeClr val="bg1"/>
                </a:solidFill>
              </a:rPr>
              <a:t>Неевин</a:t>
            </a:r>
            <a:r>
              <a:rPr lang="ru-RU" dirty="0">
                <a:solidFill>
                  <a:schemeClr val="bg1"/>
                </a:solidFill>
              </a:rPr>
              <a:t> Олег</a:t>
            </a:r>
            <a:r>
              <a:rPr lang="en-US" dirty="0">
                <a:solidFill>
                  <a:schemeClr val="bg1"/>
                </a:solidFill>
              </a:rPr>
              <a:t> P3110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Хайдаров Роберт</a:t>
            </a:r>
            <a:r>
              <a:rPr lang="en-US" dirty="0">
                <a:solidFill>
                  <a:schemeClr val="bg1"/>
                </a:solidFill>
              </a:rPr>
              <a:t> P3118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ru-RU" dirty="0" err="1">
                <a:solidFill>
                  <a:schemeClr val="bg1"/>
                </a:solidFill>
              </a:rPr>
              <a:t>Прохоревич</a:t>
            </a:r>
            <a:r>
              <a:rPr lang="ru-RU" dirty="0">
                <a:solidFill>
                  <a:schemeClr val="bg1"/>
                </a:solidFill>
              </a:rPr>
              <a:t> Иван </a:t>
            </a:r>
            <a:r>
              <a:rPr lang="en-US" dirty="0">
                <a:solidFill>
                  <a:schemeClr val="bg1"/>
                </a:solidFill>
              </a:rPr>
              <a:t>P3110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2E0DF9-CB66-F102-7EFA-03119786EF8D}"/>
              </a:ext>
            </a:extLst>
          </p:cNvPr>
          <p:cNvSpPr txBox="1"/>
          <p:nvPr/>
        </p:nvSpPr>
        <p:spPr>
          <a:xfrm>
            <a:off x="-2" y="3124031"/>
            <a:ext cx="914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Вариант 4</a:t>
            </a:r>
            <a:endParaRPr lang="en-US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Варианты к заданиям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A45047D7-F310-A595-E570-2EFC1671E5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7290135"/>
                  </p:ext>
                </p:extLst>
              </p:nvPr>
            </p:nvGraphicFramePr>
            <p:xfrm>
              <a:off x="457200" y="1115878"/>
              <a:ext cx="8245098" cy="3616386"/>
            </p:xfrm>
            <a:graphic>
              <a:graphicData uri="http://schemas.openxmlformats.org/drawingml/2006/table">
                <a:tbl>
                  <a:tblPr firstRow="1" bandRow="1">
                    <a:tableStyleId>{1FECB4D8-DB02-4DC6-A0A2-4F2EBAE1DC90}</a:tableStyleId>
                  </a:tblPr>
                  <a:tblGrid>
                    <a:gridCol w="1340603">
                      <a:extLst>
                        <a:ext uri="{9D8B030D-6E8A-4147-A177-3AD203B41FA5}">
                          <a16:colId xmlns:a16="http://schemas.microsoft.com/office/drawing/2014/main" val="3979332117"/>
                        </a:ext>
                      </a:extLst>
                    </a:gridCol>
                    <a:gridCol w="6904495">
                      <a:extLst>
                        <a:ext uri="{9D8B030D-6E8A-4147-A177-3AD203B41FA5}">
                          <a16:colId xmlns:a16="http://schemas.microsoft.com/office/drawing/2014/main" val="2274788888"/>
                        </a:ext>
                      </a:extLst>
                    </a:gridCol>
                  </a:tblGrid>
                  <a:tr h="370151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№ Задания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Условие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4710618"/>
                      </a:ext>
                    </a:extLst>
                  </a:tr>
                  <a:tr h="9381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8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ru-RU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ru-RU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ctrlP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radPr>
                                      <m:deg>
                                        <m: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deg>
                                      <m:e>
                                        <m:sSup>
                                          <m:sSupPr>
                                            <m:ctrlP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5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5</m:t>
                                            </m:r>
                                            <m: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−3</m:t>
                                            </m:r>
                                          </m:e>
                                        </m:d>
                                      </m:e>
                                    </m:rad>
                                    <m:r>
                                      <a:rPr lang="ru-RU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ctrlP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radPr>
                                      <m:deg>
                                        <m: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deg>
                                      <m:e>
                                        <m: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5</m:t>
                                        </m:r>
                                        <m:sSup>
                                          <m:sSupPr>
                                            <m:ctrlP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6</m:t>
                                            </m:r>
                                          </m:sup>
                                        </m:sSup>
                                        <m: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+2</m:t>
                                        </m:r>
                                      </m:e>
                                    </m:rad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9</m:t>
                                        </m:r>
                                        <m:sSup>
                                          <m:sSupPr>
                                            <m:ctrlP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r>
                                              <a:rPr lang="ru-RU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−2</m:t>
                                        </m:r>
                                        <m: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𝑛</m:t>
                                        </m:r>
                                        <m:r>
                                          <a:rPr lang="ru-RU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+3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sz="18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;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num>
                                          <m:den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2−10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5397228"/>
                      </a:ext>
                    </a:extLst>
                  </a:tr>
                  <a:tr h="744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Период колебания маятника                   , где </a:t>
                          </a:r>
                          <a:r>
                            <a:rPr lang="ru-RU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ru-RU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– длина маятника в сантиметрах. Как нужно изменить длину маятника </a:t>
                          </a:r>
                          <a:r>
                            <a:rPr lang="ru-RU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l=</a:t>
                          </a:r>
                          <a:r>
                            <a:rPr lang="ru-RU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20 см, чтобы период колебания уменьшился на 0,1 с?</a:t>
                          </a:r>
                          <a:endParaRPr lang="ru-RU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93591834"/>
                      </a:ext>
                    </a:extLst>
                  </a:tr>
                  <a:tr h="15635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По результатам агрономического опыта была установлена квадратичная зависимость между среднесуточной температурой, при которой выращивалась пшеница нового сорта и ее урожайностью. Результаты опыта представлены в таблице. Найдите оптимальную температуру, которая обеспечит максимальный урожай</a:t>
                          </a:r>
                          <a:endParaRPr lang="en-US" sz="14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ru-RU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3702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1">
                <a:extLst>
                  <a:ext uri="{FF2B5EF4-FFF2-40B4-BE49-F238E27FC236}">
                    <a16:creationId xmlns:a16="http://schemas.microsoft.com/office/drawing/2014/main" id="{A45047D7-F310-A595-E570-2EFC1671E5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7290135"/>
                  </p:ext>
                </p:extLst>
              </p:nvPr>
            </p:nvGraphicFramePr>
            <p:xfrm>
              <a:off x="457200" y="1115878"/>
              <a:ext cx="8245098" cy="3616386"/>
            </p:xfrm>
            <a:graphic>
              <a:graphicData uri="http://schemas.openxmlformats.org/drawingml/2006/table">
                <a:tbl>
                  <a:tblPr firstRow="1" bandRow="1">
                    <a:tableStyleId>{1FECB4D8-DB02-4DC6-A0A2-4F2EBAE1DC90}</a:tableStyleId>
                  </a:tblPr>
                  <a:tblGrid>
                    <a:gridCol w="1340603">
                      <a:extLst>
                        <a:ext uri="{9D8B030D-6E8A-4147-A177-3AD203B41FA5}">
                          <a16:colId xmlns:a16="http://schemas.microsoft.com/office/drawing/2014/main" val="3979332117"/>
                        </a:ext>
                      </a:extLst>
                    </a:gridCol>
                    <a:gridCol w="6904495">
                      <a:extLst>
                        <a:ext uri="{9D8B030D-6E8A-4147-A177-3AD203B41FA5}">
                          <a16:colId xmlns:a16="http://schemas.microsoft.com/office/drawing/2014/main" val="2274788888"/>
                        </a:ext>
                      </a:extLst>
                    </a:gridCol>
                  </a:tblGrid>
                  <a:tr h="370151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№ Задания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Условие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4710618"/>
                      </a:ext>
                    </a:extLst>
                  </a:tr>
                  <a:tr h="9381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9594" t="-42857" r="-177" b="-2474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5397228"/>
                      </a:ext>
                    </a:extLst>
                  </a:tr>
                  <a:tr h="744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Период колебания маятника                   , где </a:t>
                          </a:r>
                          <a:r>
                            <a:rPr lang="ru-RU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</a:t>
                          </a:r>
                          <a:r>
                            <a:rPr lang="ru-RU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– длина маятника в сантиметрах. Как нужно изменить длину маятника </a:t>
                          </a:r>
                          <a:r>
                            <a:rPr lang="ru-RU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l=</a:t>
                          </a:r>
                          <a:r>
                            <a:rPr lang="ru-RU" sz="14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20 см, чтобы период колебания уменьшился на 0,1 с?</a:t>
                          </a:r>
                          <a:endParaRPr lang="ru-RU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93591834"/>
                      </a:ext>
                    </a:extLst>
                  </a:tr>
                  <a:tr h="15635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По результатам агрономического опыта была установлена квадратичная зависимость между среднесуточной температурой, при которой выращивалась пшеница нового сорта и ее урожайностью. Результаты опыта представлены в таблице. Найдите оптимальную температуру, которая обеспечит </a:t>
                          </a:r>
                          <a:r>
                            <a:rPr lang="ru-RU" sz="1400" kern="120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максимальный урожай</a:t>
                          </a:r>
                          <a:endParaRPr lang="en-US" sz="1400" kern="120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ru-RU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370269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image12.png">
            <a:extLst>
              <a:ext uri="{FF2B5EF4-FFF2-40B4-BE49-F238E27FC236}">
                <a16:creationId xmlns:a16="http://schemas.microsoft.com/office/drawing/2014/main" id="{5B8414A0-41D8-6E49-D599-2A4EA58CBCA7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4029561" y="2571750"/>
            <a:ext cx="825500" cy="254000"/>
          </a:xfrm>
          <a:prstGeom prst="rect">
            <a:avLst/>
          </a:prstGeom>
          <a:ln/>
        </p:spPr>
      </p:pic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C2659BA9-CD7A-5B69-F998-FD12CB2B9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198448"/>
              </p:ext>
            </p:extLst>
          </p:nvPr>
        </p:nvGraphicFramePr>
        <p:xfrm>
          <a:off x="2247253" y="4129220"/>
          <a:ext cx="5798948" cy="515474"/>
        </p:xfrm>
        <a:graphic>
          <a:graphicData uri="http://schemas.openxmlformats.org/drawingml/2006/table">
            <a:tbl>
              <a:tblPr firstRow="1" bandRow="1"/>
              <a:tblGrid>
                <a:gridCol w="1449737">
                  <a:extLst>
                    <a:ext uri="{9D8B030D-6E8A-4147-A177-3AD203B41FA5}">
                      <a16:colId xmlns:a16="http://schemas.microsoft.com/office/drawing/2014/main" val="691833952"/>
                    </a:ext>
                  </a:extLst>
                </a:gridCol>
                <a:gridCol w="1449737">
                  <a:extLst>
                    <a:ext uri="{9D8B030D-6E8A-4147-A177-3AD203B41FA5}">
                      <a16:colId xmlns:a16="http://schemas.microsoft.com/office/drawing/2014/main" val="1866276283"/>
                    </a:ext>
                  </a:extLst>
                </a:gridCol>
                <a:gridCol w="1449737">
                  <a:extLst>
                    <a:ext uri="{9D8B030D-6E8A-4147-A177-3AD203B41FA5}">
                      <a16:colId xmlns:a16="http://schemas.microsoft.com/office/drawing/2014/main" val="476102175"/>
                    </a:ext>
                  </a:extLst>
                </a:gridCol>
                <a:gridCol w="1449737">
                  <a:extLst>
                    <a:ext uri="{9D8B030D-6E8A-4147-A177-3AD203B41FA5}">
                      <a16:colId xmlns:a16="http://schemas.microsoft.com/office/drawing/2014/main" val="1054355377"/>
                    </a:ext>
                  </a:extLst>
                </a:gridCol>
              </a:tblGrid>
              <a:tr h="257737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000" dirty="0">
                          <a:effectLst/>
                        </a:rPr>
                        <a:t>Температура, </a:t>
                      </a:r>
                      <a:r>
                        <a:rPr lang="ru-RU" sz="1000" baseline="30000" dirty="0" err="1">
                          <a:effectLst/>
                        </a:rPr>
                        <a:t>о</a:t>
                      </a:r>
                      <a:r>
                        <a:rPr lang="ru-RU" sz="1000" dirty="0" err="1">
                          <a:effectLst/>
                        </a:rPr>
                        <a:t>С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000">
                          <a:effectLst/>
                        </a:rPr>
                        <a:t>14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000">
                          <a:effectLst/>
                        </a:rPr>
                        <a:t>16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000">
                          <a:effectLst/>
                        </a:rPr>
                        <a:t>22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1226343"/>
                  </a:ext>
                </a:extLst>
              </a:tr>
              <a:tr h="257737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000">
                          <a:effectLst/>
                        </a:rPr>
                        <a:t>Урожайность, кг/м</a:t>
                      </a:r>
                      <a:r>
                        <a:rPr lang="ru-RU" sz="1000" baseline="30000">
                          <a:effectLst/>
                        </a:rPr>
                        <a:t>2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000">
                          <a:effectLst/>
                        </a:rPr>
                        <a:t>0,91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000">
                          <a:effectLst/>
                        </a:rPr>
                        <a:t>1,06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000" dirty="0">
                          <a:effectLst/>
                        </a:rPr>
                        <a:t>0,88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120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Условие задания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050748"/>
                <a:ext cx="7467600" cy="322389"/>
              </a:xfrm>
            </p:spPr>
            <p:txBody>
              <a:bodyPr>
                <a:normAutofit/>
              </a:bodyPr>
              <a:lstStyle/>
              <a:p>
                <a:r>
                  <a:rPr lang="ru-RU" sz="1400" b="0" i="0" dirty="0">
                    <a:solidFill>
                      <a:srgbClr val="2C2D2E"/>
                    </a:solidFill>
                    <a:effectLst/>
                    <a:latin typeface="Golos Text" panose="020B0503020202020204"/>
                  </a:rPr>
                  <a:t>Дана последовательность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2C2D2E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2C2D2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2C2D2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b="0" i="0" dirty="0">
                    <a:solidFill>
                      <a:srgbClr val="2C2D2E"/>
                    </a:solidFill>
                    <a:effectLst/>
                    <a:latin typeface="Golos Text" panose="020B0503020202020204"/>
                  </a:rPr>
                  <a:t> </a:t>
                </a:r>
                <a:r>
                  <a:rPr lang="ru-RU" sz="1400" b="0" i="0" dirty="0">
                    <a:solidFill>
                      <a:srgbClr val="2C2D2E"/>
                    </a:solidFill>
                    <a:effectLst/>
                    <a:latin typeface="Golos Text" panose="020B0503020202020204"/>
                  </a:rPr>
                  <a:t>и функция </a:t>
                </a:r>
                <a:r>
                  <a:rPr lang="en-US" dirty="0">
                    <a:solidFill>
                      <a:srgbClr val="2C2D2E"/>
                    </a:solidFill>
                    <a:latin typeface="Golos Text" panose="020B0503020202020204"/>
                  </a:rPr>
                  <a:t>f(x)</a:t>
                </a:r>
                <a:r>
                  <a:rPr lang="ru-RU" sz="1400" b="0" i="0" dirty="0">
                    <a:solidFill>
                      <a:srgbClr val="2C2D2E"/>
                    </a:solidFill>
                    <a:effectLst/>
                    <a:latin typeface="Golos Text" panose="020B0503020202020204"/>
                  </a:rPr>
                  <a:t>. Исследуйте поведение предложенных величин: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050748"/>
                <a:ext cx="7467600" cy="322389"/>
              </a:xfrm>
              <a:blipFill>
                <a:blip r:embed="rId2"/>
                <a:stretch>
                  <a:fillRect l="-245" t="-1887" b="-15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id="{25AAF9A3-5A43-C4C9-F8DE-48E729B7897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100" y="1475413"/>
              <a:ext cx="8425105" cy="310896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62967">
                      <a:extLst>
                        <a:ext uri="{9D8B030D-6E8A-4147-A177-3AD203B41FA5}">
                          <a16:colId xmlns:a16="http://schemas.microsoft.com/office/drawing/2014/main" val="3107197484"/>
                        </a:ext>
                      </a:extLst>
                    </a:gridCol>
                    <a:gridCol w="4031069">
                      <a:extLst>
                        <a:ext uri="{9D8B030D-6E8A-4147-A177-3AD203B41FA5}">
                          <a16:colId xmlns:a16="http://schemas.microsoft.com/office/drawing/2014/main" val="1181904038"/>
                        </a:ext>
                      </a:extLst>
                    </a:gridCol>
                    <a:gridCol w="4031069">
                      <a:extLst>
                        <a:ext uri="{9D8B030D-6E8A-4147-A177-3AD203B41FA5}">
                          <a16:colId xmlns:a16="http://schemas.microsoft.com/office/drawing/2014/main" val="295140691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Последовательность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Функция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3731565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Вычислите предел последовательности</a:t>
                          </a:r>
                          <a:b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→∞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исследуйте её на монотонность и ограниченность.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Вычислите предел функции при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→∞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исследуйте её на монотонность и ограниченность.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7084202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Постройте график общего члена последовательности в зависимости от номера n.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Постройте график функции в зависимости от x.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348330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Проиллюстрируйте сходимость (расходимость), ограниченность и монотонность последовательности: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Проиллюстрируйте сходимость (расходимость)ограниченность и монотонность функции на бесконечности: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45434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а)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вспомните определение сходимости (расходимости), ограниченность и монотонность последовательности;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вспомните определение сходимости (расходимости), ограниченность и монотонность функции в на бесконечности;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614521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выберите три различных положительных числа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ru-RU" sz="120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и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578617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для каждого такого числа изобразите на графике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-окрестность («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-трубу»)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6582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г)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 найдите на графике номер 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начиная с которого все члены последовательности попадают в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-окрестность или установите, что такого номера нет.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 найдите на графике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𝛿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-окрестность, в которой все значения функции попадают в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-окрестность или установите, что такой окрестности нет.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840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id="{25AAF9A3-5A43-C4C9-F8DE-48E729B7897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100" y="1475413"/>
              <a:ext cx="8425105" cy="310896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62967">
                      <a:extLst>
                        <a:ext uri="{9D8B030D-6E8A-4147-A177-3AD203B41FA5}">
                          <a16:colId xmlns:a16="http://schemas.microsoft.com/office/drawing/2014/main" val="3107197484"/>
                        </a:ext>
                      </a:extLst>
                    </a:gridCol>
                    <a:gridCol w="4031069">
                      <a:extLst>
                        <a:ext uri="{9D8B030D-6E8A-4147-A177-3AD203B41FA5}">
                          <a16:colId xmlns:a16="http://schemas.microsoft.com/office/drawing/2014/main" val="1181904038"/>
                        </a:ext>
                      </a:extLst>
                    </a:gridCol>
                    <a:gridCol w="4031069">
                      <a:extLst>
                        <a:ext uri="{9D8B030D-6E8A-4147-A177-3AD203B41FA5}">
                          <a16:colId xmlns:a16="http://schemas.microsoft.com/office/drawing/2014/main" val="2951406917"/>
                        </a:ext>
                      </a:extLst>
                    </a:gridCol>
                  </a:tblGrid>
                  <a:tr h="18288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Последовательность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Функция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3731565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9077" t="-42222" r="-100151" b="-4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8912" t="-42222" b="-45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8420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Постройте график общего члена последовательности в зависимости от номера n.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Постройте график функции в зависимости от x.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3483302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Проиллюстрируйте сходимость (расходимость), ограниченность и монотонность последовательности: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Проиллюстрируйте сходимость (расходимость)ограниченность и монотонность функции на бесконечности: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4543470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а)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вспомните определение сходимости (расходимости), ограниченность и монотонность последовательности;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вспомните определение сходимости (расходимости), ограниченность и монотонность функции в на бесконечности;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61452134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535" t="-1230000" b="-45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5786176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535" t="-1330000" b="-35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65825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г)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9077" t="-476667" r="-100151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8912" t="-476667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8402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59094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Условие задания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E53DF7-EC6B-9DF3-1A80-E121B74F8D4A}"/>
                  </a:ext>
                </a:extLst>
              </p:cNvPr>
              <p:cNvSpPr txBox="1"/>
              <p:nvPr/>
            </p:nvSpPr>
            <p:spPr>
              <a:xfrm>
                <a:off x="2013488" y="2391291"/>
                <a:ext cx="5005952" cy="1028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kern="1200" smtClean="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 kern="120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1800" i="1" kern="120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 i="1" kern="1200">
                          <a:solidFill>
                            <a:schemeClr val="dk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 kern="120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ctrlP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</m:rad>
                          <m:r>
                            <a:rPr lang="ru-RU" sz="1800" i="1" kern="120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ctrlP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p>
                                <m:sSupPr>
                                  <m:ctrlP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sSupPr>
                                  <m:ctrlP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1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800" i="1" kern="1200" dirty="0">
                  <a:solidFill>
                    <a:schemeClr val="dk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ru-RU" sz="1800" i="1" kern="1200" dirty="0">
                  <a:solidFill>
                    <a:schemeClr val="dk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E53DF7-EC6B-9DF3-1A80-E121B74F8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488" y="2391291"/>
                <a:ext cx="5005952" cy="10286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726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Предел</a:t>
            </a:r>
            <a:r>
              <a:rPr lang="en-US" dirty="0"/>
              <a:t> </a:t>
            </a:r>
            <a:r>
              <a:rPr lang="ru-RU" dirty="0"/>
              <a:t>последовательности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4">
                <a:extLst>
                  <a:ext uri="{FF2B5EF4-FFF2-40B4-BE49-F238E27FC236}">
                    <a16:creationId xmlns:a16="http://schemas.microsoft.com/office/drawing/2014/main" id="{7532E009-739D-4367-CD3A-0E8284F49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4113" y="1043940"/>
                <a:ext cx="8199847" cy="3749040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SzPct val="100000"/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4pPr>
                <a:lvl5pPr marL="1828800" indent="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ctrlP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</m:rad>
                          <m:r>
                            <a:rPr lang="ru-RU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ctrlP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p>
                                <m:sSup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sSup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800" i="1" dirty="0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sSup>
                                    <m:sSupPr>
                                      <m:ctrlP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d>
                                </m:e>
                              </m:rad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sSup>
                                    <m:sSupPr>
                                      <m:ctrlP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ra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sSup>
                                    <m:sSupPr>
                                      <m:ctrlP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ad>
                                    <m:radPr>
                                      <m:ctrlP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g>
                                    <m:e>
                                      <m:d>
                                        <m:dPr>
                                          <m:ctrlPr>
                                            <a:rPr lang="ru-RU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5−3</m:t>
                                          </m:r>
                                          <m: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rad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ad>
                                    <m:radPr>
                                      <m:ctrlP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g>
                                    <m:e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5+2</m:t>
                                      </m:r>
                                      <m: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/(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9−2</m:t>
                                      </m:r>
                                      <m: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+3/(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en-US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d>
                                    <m:dPr>
                                      <m:ctrlP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5−</m:t>
                                      </m:r>
                                      <m:f>
                                        <m:fPr>
                                          <m:ctrlP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rad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5+</m:t>
                                  </m:r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8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rad>
                              <m:r>
                                <a:rPr lang="en-US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1800" i="1" dirty="0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  <a:p>
                <a:endParaRPr lang="en-US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800" i="1" dirty="0">
                          <a:latin typeface="Cambria Math" panose="02040503050406030204" pitchFamily="18" charset="0"/>
                        </a:rPr>
                        <m:t>По формуле Тейлора:</m:t>
                      </m:r>
                    </m:oMath>
                  </m:oMathPara>
                </a14:m>
                <a:endParaRPr lang="ru-RU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ru-RU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5−</m:t>
                          </m:r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3∗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∗3</m:t>
                          </m:r>
                        </m:num>
                        <m:den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m:rPr>
                          <m:nor/>
                        </m:rPr>
                        <a:rPr lang="en-US" sz="1800" i="1" dirty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ru-RU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3∗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f>
                        <m:fPr>
                          <m:ctrlPr>
                            <a:rPr lang="ru-RU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ru-RU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∗3∗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ru-RU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∗3∗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sz="1800" dirty="0"/>
                      <m:t>=</m:t>
                    </m:r>
                    <m:r>
                      <m:rPr>
                        <m:nor/>
                      </m:rPr>
                      <a:rPr lang="ru-RU" sz="1800" b="0" i="0" dirty="0" smtClean="0"/>
                      <m:t> −</m:t>
                    </m:r>
                    <m:r>
                      <m:rPr>
                        <m:nor/>
                      </m:rPr>
                      <a:rPr lang="en-US" sz="1800" dirty="0"/>
                      <m:t> 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3∗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a:rPr 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ru-RU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−0.11399839</m:t>
                    </m:r>
                    <m:r>
                      <a:rPr lang="ru-RU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ru-RU" sz="1800" dirty="0"/>
                  <a:t>-</a:t>
                </a:r>
                <a:r>
                  <a:rPr lang="ru-RU" sz="1800" dirty="0">
                    <a:latin typeface="+mn-lt"/>
                  </a:rPr>
                  <a:t>0.114</a:t>
                </a:r>
                <a:endParaRPr lang="en-US" sz="1800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1800" i="1" dirty="0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  <a:p>
                <a:endParaRPr lang="en-US" sz="1400" i="1" dirty="0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Текст 4">
                <a:extLst>
                  <a:ext uri="{FF2B5EF4-FFF2-40B4-BE49-F238E27FC236}">
                    <a16:creationId xmlns:a16="http://schemas.microsoft.com/office/drawing/2014/main" id="{7532E009-739D-4367-CD3A-0E8284F49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13" y="1043940"/>
                <a:ext cx="8199847" cy="374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-4761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98D5DE"/>
                </a:solidFill>
                <a:effectLst/>
                <a:latin typeface="WebRoboto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-4761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98D5DE"/>
                </a:solidFill>
                <a:effectLst/>
                <a:latin typeface="WebRoboto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-4761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rgbClr val="98D5DE"/>
                </a:solidFill>
                <a:effectLst/>
                <a:latin typeface="WebRoboto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26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Монотонность, ограниченность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4">
                <a:extLst>
                  <a:ext uri="{FF2B5EF4-FFF2-40B4-BE49-F238E27FC236}">
                    <a16:creationId xmlns:a16="http://schemas.microsoft.com/office/drawing/2014/main" id="{AE943858-DFC3-7D8A-BBD2-70054671F1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016738"/>
                <a:ext cx="8276094" cy="392106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SzPct val="100000"/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4pPr>
                <a:lvl5pPr marL="1828800" indent="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sz="1800" b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Монотонность</a:t>
                </a:r>
                <a:r>
                  <a:rPr lang="en-US" sz="1800" b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ru-RU" sz="1800" b="1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ctrlP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sSup>
                                <m:sSup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</m:rad>
                          <m:r>
                            <a:rPr lang="ru-RU" sz="18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ctrlP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p>
                                <m:sSup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sSupPr>
                                  <m:ctrlP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8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18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800" b="1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ctrlP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sSupPr>
                            <m:ctrlP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d>
                          <m:dPr>
                            <m:ctrlP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</m:rad>
                    <m:r>
                      <a:rPr lang="ru-RU" sz="18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ctrlP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rad>
                  </m:oMath>
                </a14:m>
                <a:r>
                  <a:rPr lang="ru-RU" dirty="0"/>
                  <a:t> Так как для всех </a:t>
                </a:r>
                <a:r>
                  <a:rPr lang="en-US" dirty="0"/>
                  <a:t>n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/>
                  <a:t>, числитель всегда </a:t>
                </a:r>
                <a:r>
                  <a:rPr lang="ru-RU" b="1" dirty="0"/>
                  <a:t>отрицателен</a:t>
                </a:r>
                <a:r>
                  <a:rPr lang="ru-RU" dirty="0"/>
                  <a:t>. А знаменатель всегда положителен. Значит, вся последовательность</a:t>
                </a:r>
                <a:r>
                  <a:rPr lang="en-US" dirty="0"/>
                  <a:t> </a:t>
                </a:r>
                <a:r>
                  <a:rPr lang="ru-RU" dirty="0"/>
                  <a:t>отрицательна. </a:t>
                </a:r>
              </a:p>
              <a:p>
                <a:r>
                  <a:rPr lang="ru-RU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Воспользуемся формулой кубов:</a:t>
                </a:r>
                <a:r>
                  <a:rPr lang="en-US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A-B=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8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ru-RU" sz="18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где </m:t>
                    </m:r>
                    <m:r>
                      <m:rPr>
                        <m:sty m:val="p"/>
                      </m:rPr>
                      <a:rPr lang="en-US" sz="18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18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sSupPr>
                            <m:ctrlP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d>
                          <m:dPr>
                            <m:ctrlP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</m:rad>
                  </m:oMath>
                </a14:m>
                <a:r>
                  <a:rPr lang="en-US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 </a:t>
                </a:r>
                <a:r>
                  <a:rPr lang="en-US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B=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rad>
                  </m:oMath>
                </a14:m>
                <a:endParaRPr lang="en-US" sz="1800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ru-RU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Тогда получим числитель: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d>
                          <m:dPr>
                            <m:ctrlP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  <m:r>
                          <a:rPr lang="ru-RU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sSupPr>
                            <m:ctrlP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sSup>
                          <m:sSup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  <m:r>
                          <a:rPr lang="en-US" sz="18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18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1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−(3</m:t>
                            </m:r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ru-RU" sz="18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ru-RU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  <m:r>
                          <a:rPr lang="en-US" sz="18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ru-RU" sz="1800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Текст 4">
                <a:extLst>
                  <a:ext uri="{FF2B5EF4-FFF2-40B4-BE49-F238E27FC236}">
                    <a16:creationId xmlns:a16="http://schemas.microsoft.com/office/drawing/2014/main" id="{AE943858-DFC3-7D8A-BBD2-70054671F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16738"/>
                <a:ext cx="8276094" cy="3921066"/>
              </a:xfrm>
              <a:prstGeom prst="rect">
                <a:avLst/>
              </a:prstGeom>
              <a:blipFill>
                <a:blip r:embed="rId2"/>
                <a:stretch>
                  <a:fillRect l="-736" t="-9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40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Монотонность, ограниченность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4">
                <a:extLst>
                  <a:ext uri="{FF2B5EF4-FFF2-40B4-BE49-F238E27FC236}">
                    <a16:creationId xmlns:a16="http://schemas.microsoft.com/office/drawing/2014/main" id="{AE943858-DFC3-7D8A-BBD2-70054671F1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016738"/>
                <a:ext cx="8276094" cy="392106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SzPct val="100000"/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4pPr>
                <a:lvl5pPr marL="1828800" indent="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6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16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−(3</m:t>
                              </m:r>
                              <m:r>
                                <a:rPr lang="ru-RU" sz="16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+2)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b="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6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𝐴𝐵</m:t>
                          </m:r>
                          <m:r>
                            <a:rPr lang="en-US" sz="16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1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6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ru-RU" sz="16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6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16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ru-RU" sz="16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16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600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Давайте упростим выражение, вынеся старшие степени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(3</m:t>
                        </m:r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ru-RU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ad>
                              <m:radPr>
                                <m:ctrlPr>
                                  <a:rPr lang="ru-RU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>
                                <m:r>
                                  <a:rPr lang="ru-RU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g>
                              <m:e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5−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rad>
                          </m:e>
                          <m:sup>
                            <m: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</m:t>
                        </m:r>
                        <m:r>
                          <a:rPr lang="ru-RU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ad>
                          <m:radPr>
                            <m:degHide m:val="on"/>
                            <m:ctrlP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9−2</m:t>
                            </m:r>
                            <m: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+3/(</m:t>
                            </m:r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6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(3</m:t>
                        </m:r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ad>
                              <m:radPr>
                                <m:ctrlPr>
                                  <a:rPr lang="ru-RU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>
                                <m:r>
                                  <a:rPr lang="ru-RU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g>
                              <m:e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6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5−</m:t>
                                    </m:r>
                                    <m:f>
                                      <m:fPr>
                                        <m:ctrlPr>
                                          <a:rPr lang="en-US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16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rad>
                          </m:e>
                          <m:sup>
                            <m: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+…</m:t>
                        </m:r>
                        <m:r>
                          <a:rPr lang="ru-RU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9−2</m:t>
                            </m:r>
                            <m: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+3/(</m:t>
                            </m:r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увеличении 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Числитель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(по модулю)  </a:t>
                </a: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уменьшается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Знаменатель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увеличивается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так как:</a:t>
                </a:r>
              </a:p>
              <a:p>
                <a:pPr lvl="1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9−2</m:t>
                        </m:r>
                        <m:r>
                          <a:rPr lang="en-US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+3/(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растет (вычитаемое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ru-RU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 уменьшается).</a:t>
                </a:r>
              </a:p>
              <a:p>
                <a:pPr lvl="1"/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Слагаемые типа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sz="1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d>
                          <m:dPr>
                            <m:ctrlP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5−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16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ra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 в первой скобке также растут.</a:t>
                </a:r>
              </a:p>
              <a:p>
                <a:endParaRPr lang="ru-RU" sz="1600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Текст 4">
                <a:extLst>
                  <a:ext uri="{FF2B5EF4-FFF2-40B4-BE49-F238E27FC236}">
                    <a16:creationId xmlns:a16="http://schemas.microsoft.com/office/drawing/2014/main" id="{AE943858-DFC3-7D8A-BBD2-70054671F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16738"/>
                <a:ext cx="8276094" cy="3921066"/>
              </a:xfrm>
              <a:prstGeom prst="rect">
                <a:avLst/>
              </a:prstGeom>
              <a:blipFill>
                <a:blip r:embed="rId2"/>
                <a:stretch>
                  <a:fillRect l="-3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228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Монотонность, ограниченность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4">
                <a:extLst>
                  <a:ext uri="{FF2B5EF4-FFF2-40B4-BE49-F238E27FC236}">
                    <a16:creationId xmlns:a16="http://schemas.microsoft.com/office/drawing/2014/main" id="{AE943858-DFC3-7D8A-BBD2-70054671F1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394847"/>
                <a:ext cx="8276094" cy="320815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SzPct val="100000"/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4pPr>
                <a:lvl5pPr marL="1828800" indent="0" algn="l" defTabSz="4572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Golos Text" panose="020B0503020202020204" pitchFamily="34" charset="-52"/>
                    <a:ea typeface="+mn-ea"/>
                    <a:cs typeface="Golos Text" panose="020B0503020202020204" pitchFamily="34" charset="-52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 как дробь имеет вид 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уменьшающееся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увеличивающееся, то её абсолютная величина  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уменьшается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Поскольку 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отрицательное число, и его модуль уменьшается (оно становится ближе к нулю), это означает, что сама последовательность 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возрастает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Ответ: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Последовательность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монотонно возрастает.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800" b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Ограниченность:</a:t>
                </a:r>
              </a:p>
              <a:p>
                <a:r>
                  <a:rPr lang="ru-RU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Сверху ограничена пределом последовательности, то есть -0.114.</a:t>
                </a:r>
              </a:p>
              <a:p>
                <a:r>
                  <a:rPr lang="ru-RU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Снизу ограничена </a:t>
                </a:r>
                <a:r>
                  <a:rPr lang="en-US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ru-RU" sz="1800" kern="100" baseline="-250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 </a:t>
                </a:r>
                <a:r>
                  <a:rPr lang="ru-RU" sz="18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так как последовательность монотонно возрастает.</a:t>
                </a: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Текст 4">
                <a:extLst>
                  <a:ext uri="{FF2B5EF4-FFF2-40B4-BE49-F238E27FC236}">
                    <a16:creationId xmlns:a16="http://schemas.microsoft.com/office/drawing/2014/main" id="{AE943858-DFC3-7D8A-BBD2-70054671F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94847"/>
                <a:ext cx="8276094" cy="3208150"/>
              </a:xfrm>
              <a:prstGeom prst="rect">
                <a:avLst/>
              </a:prstGeom>
              <a:blipFill>
                <a:blip r:embed="rId2"/>
                <a:stretch>
                  <a:fillRect l="-589" t="-1141" r="-6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9464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06435"/>
            <a:ext cx="7601919" cy="527284"/>
          </a:xfrm>
        </p:spPr>
        <p:txBody>
          <a:bodyPr>
            <a:noAutofit/>
          </a:bodyPr>
          <a:lstStyle/>
          <a:p>
            <a:r>
              <a:rPr lang="ru-RU" sz="2900" dirty="0"/>
              <a:t>График общего члена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DC359-62A8-E81D-8598-739B970E3A55}"/>
              </a:ext>
            </a:extLst>
          </p:cNvPr>
          <p:cNvSpPr txBox="1"/>
          <p:nvPr/>
        </p:nvSpPr>
        <p:spPr>
          <a:xfrm>
            <a:off x="1270859" y="3528163"/>
            <a:ext cx="6602279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График построен в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Desmos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https://www.desmos.com/calculator/wqd6nq1gyt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0807A6-D220-00F8-332D-C8E16B1481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8" t="38123" b="5380"/>
          <a:stretch/>
        </p:blipFill>
        <p:spPr>
          <a:xfrm>
            <a:off x="1270861" y="1295332"/>
            <a:ext cx="6602278" cy="175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06435"/>
            <a:ext cx="7601919" cy="527284"/>
          </a:xfrm>
        </p:spPr>
        <p:txBody>
          <a:bodyPr>
            <a:normAutofit/>
          </a:bodyPr>
          <a:lstStyle/>
          <a:p>
            <a:r>
              <a:rPr lang="ru-RU" sz="2400" dirty="0"/>
              <a:t>Определение сходимости последовательности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8" y="1389922"/>
                <a:ext cx="8159859" cy="3447143"/>
              </a:xfrm>
            </p:spPr>
            <p:txBody>
              <a:bodyPr>
                <a:noAutofit/>
              </a:bodyPr>
              <a:lstStyle/>
              <a:p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Сходимость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последовательности — это свойство числовой последовательности иметь конечный предел при стремлении индекса 𝑛 к бесконечности, то есть её члены «приближаются» к определённому числу 𝑎. 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предел существует и конечен, последовательность сходится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нет (стремится к бесконечности или не имеет предела), она расходится. 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Ключевые признаки сходимости включают </a:t>
                </a:r>
                <a:r>
                  <a:rPr lang="ru-RU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критерий Коши</a:t>
                </a:r>
                <a:r>
                  <a:rPr lang="ru-RU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(для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0 существует 𝑛</a:t>
                </a:r>
                <a:r>
                  <a:rPr lang="ru-RU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такой, что для  𝑚,𝑛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𝑛</a:t>
                </a:r>
                <a:r>
                  <a:rPr lang="ru-RU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выполняется|𝑥</a:t>
                </a:r>
                <a:r>
                  <a:rPr lang="ru-RU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𝑚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−𝑥</a:t>
                </a:r>
                <a:r>
                  <a:rPr lang="ru-RU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𝑛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и теоремы о монотонных и ограниченных последовательностях (монотонная и ограниченная последовательность всегда сходится). </a:t>
                </a:r>
                <a:endParaRPr lang="ru-RU" sz="1800" b="0" i="0" dirty="0">
                  <a:solidFill>
                    <a:srgbClr val="2C2D2E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8" y="1389922"/>
                <a:ext cx="8159859" cy="3447143"/>
              </a:xfrm>
              <a:blipFill>
                <a:blip r:embed="rId3"/>
                <a:stretch>
                  <a:fillRect l="-597" t="-8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422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7" y="306435"/>
            <a:ext cx="7601919" cy="527284"/>
          </a:xfrm>
        </p:spPr>
        <p:txBody>
          <a:bodyPr>
            <a:normAutofit/>
          </a:bodyPr>
          <a:lstStyle/>
          <a:p>
            <a:r>
              <a:rPr lang="ru-RU" sz="2400" dirty="0"/>
              <a:t>Определение ограниченности последовательности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9" y="1072459"/>
                <a:ext cx="8291594" cy="3447143"/>
              </a:xfrm>
            </p:spPr>
            <p:txBody>
              <a:bodyPr>
                <a:no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Числовая последовательность называется </a:t>
                </a: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ограниченной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если все её элементы ограничены как снизу, так и сверху, то есть находятся в некотором конечном интервале на числовой прямой; это эквивалентно существованию такого числа 𝐶&gt;0, что для всех членов последовательности 𝑥</a:t>
                </a:r>
                <a:r>
                  <a:rPr lang="en-US" sz="18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выполняется неравенство |𝑥</a:t>
                </a:r>
                <a:r>
                  <a:rPr lang="en-US" sz="18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|&lt;𝐶. Иными словами, она не уходит в бесконечность ни в положительном, ни в отрицательном направлении. 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Основные определения: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34290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228600" algn="l"/>
                  </a:tabLs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Ограниченная сверху: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Существует такое число 𝑀, что 𝑥</a:t>
                </a:r>
                <a:r>
                  <a:rPr lang="en-US" sz="1800" baseline="-25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≤𝑀 для всех𝑛</a:t>
                </a:r>
              </a:p>
              <a:p>
                <a:pPr marL="34290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228600" algn="l"/>
                  </a:tabLs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Ограниченная снизу: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Существует такое число 𝑚,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≥𝑚 для всех 𝑛</a:t>
                </a:r>
              </a:p>
              <a:p>
                <a:pPr marL="342900" lvl="0" indent="-342900">
                  <a:buSzPts val="1000"/>
                  <a:buFont typeface="Symbol" panose="05050102010706020507" pitchFamily="18" charset="2"/>
                  <a:buChar char=""/>
                  <a:tabLst>
                    <a:tab pos="228600" algn="l"/>
                  </a:tabLs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Ограниченная: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Последовательность ограничена и сверху, и снизу. </a:t>
                </a:r>
              </a:p>
              <a:p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9" y="1072459"/>
                <a:ext cx="8291594" cy="3447143"/>
              </a:xfrm>
              <a:blipFill>
                <a:blip r:embed="rId2"/>
                <a:stretch>
                  <a:fillRect l="-613" t="-735" b="-110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57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959" y="1470740"/>
            <a:ext cx="8252848" cy="3447143"/>
          </a:xfrm>
        </p:spPr>
        <p:txBody>
          <a:bodyPr>
            <a:noAutofit/>
          </a:bodyPr>
          <a:lstStyle/>
          <a:p>
            <a:pPr>
              <a:buSzPts val="1000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Монотонная последовательность</a:t>
            </a:r>
            <a: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ru-RU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это числовая последовательность, значения которой во времени (с увеличением номера члена) изменяются только в одном направлении: либо только не убывают, либо только не возрастают. 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Различают следующие виды монотонности для последовательности (</a:t>
            </a: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𝑎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Строго монотонные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Строго возрастающая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каждый следующий член больше предыдущего.</a:t>
            </a:r>
            <a:b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𝑎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n</a:t>
            </a:r>
            <a:r>
              <a:rPr lang="ru-RU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+1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a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n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всех </a:t>
            </a: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𝑛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Строго убывающая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каждый следующий член меньше предыдущего.</a:t>
            </a:r>
            <a:b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𝑎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n</a:t>
            </a:r>
            <a:r>
              <a:rPr lang="ru-RU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+1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a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n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всех </a:t>
            </a: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𝑛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SzPts val="1000"/>
              <a:tabLst>
                <a:tab pos="457200" algn="l"/>
              </a:tabLs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2CBB43A-9030-23D9-3A41-EF773B4E3921}"/>
              </a:ext>
            </a:extLst>
          </p:cNvPr>
          <p:cNvSpPr txBox="1">
            <a:spLocks/>
          </p:cNvSpPr>
          <p:nvPr/>
        </p:nvSpPr>
        <p:spPr>
          <a:xfrm>
            <a:off x="457200" y="306435"/>
            <a:ext cx="6824382" cy="527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Golos Text DemiBold" panose="020B0703020202020204" pitchFamily="34" charset="-52"/>
                <a:ea typeface="+mj-ea"/>
                <a:cs typeface="+mj-cs"/>
              </a:defRPr>
            </a:lvl1pPr>
          </a:lstStyle>
          <a:p>
            <a:r>
              <a:rPr lang="ru-RU" dirty="0"/>
              <a:t>Определение монотонной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596793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304933"/>
            <a:ext cx="8276096" cy="3447143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Нестрого монотонные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Неубывающая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каждый следующий член не меньше (больше или равен) предыдущего.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       </a:t>
            </a: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𝑎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n</a:t>
            </a:r>
            <a:r>
              <a:rPr lang="ru-RU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+1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≥</a:t>
            </a: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a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всех </a:t>
            </a: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𝑛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Невозрастающая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каждый следующий член не больше (меньше или равен) предыдущего.</a:t>
            </a:r>
            <a:b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𝑎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n</a:t>
            </a:r>
            <a:r>
              <a:rPr lang="ru-RU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+1</a:t>
            </a:r>
            <a:r>
              <a:rPr lang="ru-RU" sz="18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≤</a:t>
            </a: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a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n</a:t>
            </a:r>
            <a:r>
              <a:rPr lang="en-U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всех </a:t>
            </a:r>
            <a:r>
              <a:rPr lang="ru-RU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𝑛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E2FED0E-8EE7-9C63-D7C1-75BAB379E6E1}"/>
              </a:ext>
            </a:extLst>
          </p:cNvPr>
          <p:cNvSpPr txBox="1">
            <a:spLocks/>
          </p:cNvSpPr>
          <p:nvPr/>
        </p:nvSpPr>
        <p:spPr>
          <a:xfrm>
            <a:off x="457199" y="400808"/>
            <a:ext cx="6824382" cy="527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Golos Text DemiBold" panose="020B0703020202020204" pitchFamily="34" charset="-52"/>
                <a:ea typeface="+mj-ea"/>
                <a:cs typeface="+mj-cs"/>
              </a:defRPr>
            </a:lvl1pPr>
          </a:lstStyle>
          <a:p>
            <a:r>
              <a:rPr lang="ru-RU" dirty="0"/>
              <a:t>Определение монотонной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4113629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8" y="1056960"/>
            <a:ext cx="8361337" cy="3447143"/>
          </a:xfrm>
        </p:spPr>
        <p:txBody>
          <a:bodyPr>
            <a:noAutofit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Сходящаяся последовательность всегда ограничена (обратное неверно: например,  (−1)</a:t>
            </a:r>
            <a:r>
              <a:rPr lang="ru-RU" sz="1800" i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ограничена, но не сходится).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Монотонная и ограниченная последовательность сходится (теорема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Вейерштрасса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A0D9719-1C0F-A57A-DAC5-5942C954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Связь свойств</a:t>
            </a:r>
          </a:p>
        </p:txBody>
      </p:sp>
    </p:spTree>
    <p:extLst>
      <p:ext uri="{BB962C8B-B14F-4D97-AF65-F5344CB8AC3E}">
        <p14:creationId xmlns:p14="http://schemas.microsoft.com/office/powerpoint/2010/main" val="2928318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8" y="1056960"/>
                <a:ext cx="8361337" cy="3447143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en-US" sz="1800" dirty="0">
                    <a:solidFill>
                      <a:schemeClr val="tx1"/>
                    </a:solidFill>
                  </a:rPr>
                  <a:t>1.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  <a:p>
                <a14:m>
                  <m:oMath xmlns:m="http://schemas.openxmlformats.org/officeDocument/2006/math">
                    <m:r>
                      <a:rPr lang="ru-RU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sz="180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окрестность:</a:t>
                </a:r>
              </a:p>
              <a:p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(-0.124, 0.124)</a:t>
                </a:r>
              </a:p>
              <a:p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ачиная с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=4 все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лежат внутри окрестности</a:t>
                </a:r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800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https://www.desmos.com/calculator/atzgwg4jq1</a:t>
                </a:r>
                <a:endParaRPr lang="ru-RU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sz="1800" dirty="0">
                    <a:solidFill>
                      <a:schemeClr val="tx1"/>
                    </a:solidFill>
                  </a:rPr>
                  <a:t>2. </a:t>
                </a:r>
                <a14:m>
                  <m:oMath xmlns:m="http://schemas.openxmlformats.org/officeDocument/2006/math">
                    <m:r>
                      <a:rPr lang="ru-RU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001</a:t>
                </a:r>
              </a:p>
              <a:p>
                <a14:m>
                  <m:oMath xmlns:m="http://schemas.openxmlformats.org/officeDocument/2006/math">
                    <m:r>
                      <a:rPr lang="ru-RU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окрестность:</a:t>
                </a:r>
              </a:p>
              <a:p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(-0.115, 0.115)</a:t>
                </a:r>
              </a:p>
              <a:p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ачиная с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=36 все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ru-RU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лежат внутри окрестности</a:t>
                </a:r>
              </a:p>
              <a:p>
                <a:r>
                  <a:rPr lang="ru-RU" sz="1800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https://www.desmos.com/calculator/xcmyuypy49</a:t>
                </a:r>
                <a:endParaRPr lang="ru-RU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8" y="1056960"/>
                <a:ext cx="8361337" cy="3447143"/>
              </a:xfrm>
              <a:blipFill>
                <a:blip r:embed="rId4"/>
                <a:stretch>
                  <a:fillRect l="-583" t="-883" b="-88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563A8-85CB-6863-2526-F634F555AF5C}"/>
                  </a:ext>
                </a:extLst>
              </p:cNvPr>
              <p:cNvSpPr txBox="1"/>
              <p:nvPr/>
            </p:nvSpPr>
            <p:spPr>
              <a:xfrm>
                <a:off x="457198" y="370092"/>
                <a:ext cx="5005952" cy="538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900" b="1" kern="100" dirty="0">
                    <a:solidFill>
                      <a:srgbClr val="000000"/>
                    </a:solidFill>
                    <a:effectLst/>
                    <a:latin typeface="Golos Text DemiBold"/>
                    <a:ea typeface="Calibri" panose="020F0502020204030204" pitchFamily="34" charset="0"/>
                    <a:cs typeface="Times New Roman" panose="02020603050405020304" pitchFamily="18" charset="0"/>
                  </a:rPr>
                  <a:t>Анализ </a:t>
                </a:r>
                <a14:m>
                  <m:oMath xmlns:m="http://schemas.openxmlformats.org/officeDocument/2006/math">
                    <m:r>
                      <a:rPr lang="ru-RU" sz="2900" b="1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r>
                  <a:rPr lang="ru-RU" sz="2900" b="1" kern="100" baseline="-25000" dirty="0">
                    <a:solidFill>
                      <a:srgbClr val="000000"/>
                    </a:solidFill>
                    <a:effectLst/>
                    <a:latin typeface="Golos Text DemiBold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2900" b="1" kern="100" dirty="0">
                    <a:solidFill>
                      <a:srgbClr val="000000"/>
                    </a:solidFill>
                    <a:effectLst/>
                    <a:latin typeface="Golos Text DemiBold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29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r>
                  <a:rPr lang="en-US" sz="2900" b="1" kern="100" baseline="-25000" dirty="0">
                    <a:solidFill>
                      <a:srgbClr val="000000"/>
                    </a:solidFill>
                    <a:effectLst/>
                    <a:latin typeface="Golos Text DemiBold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ru-RU" sz="2900" b="1" dirty="0">
                  <a:latin typeface="Golos Text DemiBold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563A8-85CB-6863-2526-F634F555A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8" y="370092"/>
                <a:ext cx="5005952" cy="538609"/>
              </a:xfrm>
              <a:prstGeom prst="rect">
                <a:avLst/>
              </a:prstGeom>
              <a:blipFill>
                <a:blip r:embed="rId5"/>
                <a:stretch>
                  <a:fillRect l="-2558" t="-11364" b="-329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175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9" y="1697064"/>
                <a:ext cx="8361337" cy="2357588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en-US" sz="1800" dirty="0"/>
                  <a:t>3.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=0.0001</a:t>
                </a:r>
              </a:p>
              <a:p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окрестность:</a:t>
                </a:r>
              </a:p>
              <a:p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(-0.114, 0.114)</a:t>
                </a:r>
              </a:p>
              <a:p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Начиная с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=22187 все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лежат внутри окрестности</a:t>
                </a:r>
              </a:p>
              <a:p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https://www.desmos.com/calculator/m8rr803qb8</a:t>
                </a:r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9" y="1697064"/>
                <a:ext cx="8361337" cy="2357588"/>
              </a:xfrm>
              <a:blipFill>
                <a:blip r:embed="rId3"/>
                <a:stretch>
                  <a:fillRect l="-583" t="-12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Заголовок 4">
                <a:extLst>
                  <a:ext uri="{FF2B5EF4-FFF2-40B4-BE49-F238E27FC236}">
                    <a16:creationId xmlns:a16="http://schemas.microsoft.com/office/drawing/2014/main" id="{3A8FD13D-CFE7-0230-8E6C-8D884017D97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/>
                  <a:t>Анализ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5" name="Заголовок 4">
                <a:extLst>
                  <a:ext uri="{FF2B5EF4-FFF2-40B4-BE49-F238E27FC236}">
                    <a16:creationId xmlns:a16="http://schemas.microsoft.com/office/drawing/2014/main" id="{3A8FD13D-CFE7-0230-8E6C-8D884017D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1877" t="-11494" b="-344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865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Условие задания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050748"/>
                <a:ext cx="7467600" cy="322389"/>
              </a:xfrm>
            </p:spPr>
            <p:txBody>
              <a:bodyPr>
                <a:normAutofit/>
              </a:bodyPr>
              <a:lstStyle/>
              <a:p>
                <a:r>
                  <a:rPr lang="ru-RU" sz="1400" b="0" i="0" dirty="0">
                    <a:solidFill>
                      <a:srgbClr val="2C2D2E"/>
                    </a:solidFill>
                    <a:effectLst/>
                    <a:latin typeface="Golos Text" panose="020B0503020202020204"/>
                  </a:rPr>
                  <a:t>Дана последовательность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2C2D2E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2C2D2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2C2D2E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b="0" i="0" dirty="0">
                    <a:solidFill>
                      <a:srgbClr val="2C2D2E"/>
                    </a:solidFill>
                    <a:effectLst/>
                    <a:latin typeface="Golos Text" panose="020B0503020202020204"/>
                  </a:rPr>
                  <a:t> </a:t>
                </a:r>
                <a:r>
                  <a:rPr lang="ru-RU" sz="1400" b="0" i="0" dirty="0">
                    <a:solidFill>
                      <a:srgbClr val="2C2D2E"/>
                    </a:solidFill>
                    <a:effectLst/>
                    <a:latin typeface="Golos Text" panose="020B0503020202020204"/>
                  </a:rPr>
                  <a:t>и функция </a:t>
                </a:r>
                <a:r>
                  <a:rPr lang="en-US" dirty="0">
                    <a:solidFill>
                      <a:srgbClr val="2C2D2E"/>
                    </a:solidFill>
                    <a:latin typeface="Golos Text" panose="020B0503020202020204"/>
                  </a:rPr>
                  <a:t>f(x)</a:t>
                </a:r>
                <a:r>
                  <a:rPr lang="ru-RU" sz="1400" b="0" i="0" dirty="0">
                    <a:solidFill>
                      <a:srgbClr val="2C2D2E"/>
                    </a:solidFill>
                    <a:effectLst/>
                    <a:latin typeface="Golos Text" panose="020B0503020202020204"/>
                  </a:rPr>
                  <a:t>. Исследуйте поведение предложенных величин: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050748"/>
                <a:ext cx="7467600" cy="322389"/>
              </a:xfrm>
              <a:blipFill>
                <a:blip r:embed="rId2"/>
                <a:stretch>
                  <a:fillRect l="-245" t="-1887" b="-15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id="{25AAF9A3-5A43-C4C9-F8DE-48E729B7897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100" y="1475413"/>
              <a:ext cx="8425105" cy="310896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62967">
                      <a:extLst>
                        <a:ext uri="{9D8B030D-6E8A-4147-A177-3AD203B41FA5}">
                          <a16:colId xmlns:a16="http://schemas.microsoft.com/office/drawing/2014/main" val="3107197484"/>
                        </a:ext>
                      </a:extLst>
                    </a:gridCol>
                    <a:gridCol w="4031069">
                      <a:extLst>
                        <a:ext uri="{9D8B030D-6E8A-4147-A177-3AD203B41FA5}">
                          <a16:colId xmlns:a16="http://schemas.microsoft.com/office/drawing/2014/main" val="1181904038"/>
                        </a:ext>
                      </a:extLst>
                    </a:gridCol>
                    <a:gridCol w="4031069">
                      <a:extLst>
                        <a:ext uri="{9D8B030D-6E8A-4147-A177-3AD203B41FA5}">
                          <a16:colId xmlns:a16="http://schemas.microsoft.com/office/drawing/2014/main" val="295140691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Последовательность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Функция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3731565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Вычислите предел последовательности</a:t>
                          </a:r>
                          <a:b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→∞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исследуйте её на монотонность и ограниченность.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Вычислите предел функции при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→∞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исследуйте её на монотонность и ограниченность.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7084202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Постройте график общего члена последовательности в зависимости от номера n.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Постройте график функции в зависимости от x.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348330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Проиллюстрируйте сходимость (расходимость), ограниченность и монотонность последовательности: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Проиллюстрируйте сходимость (расходимость)ограниченность и монотонность функции на бесконечности: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45434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а)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вспомните определение сходимости (расходимости), ограниченность и монотонность последовательности;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вспомните определение сходимости (расходимости), ограниченность и монотонность функции в на бесконечности;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614521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выберите три различных положительных числа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ru-RU" sz="120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и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578617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для каждого такого числа изобразите на графике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-окрестность («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-трубу»)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6582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г)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 найдите на графике номер </a:t>
                          </a:r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начиная с которого все члены последовательности попадают в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-окрестность или установите, что такого номера нет.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 найдите на графике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𝛿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-окрестность, в которой все значения функции попадают в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-окрестность или установите, что такой окрестности нет.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840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id="{25AAF9A3-5A43-C4C9-F8DE-48E729B7897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100" y="1475413"/>
              <a:ext cx="8425105" cy="310896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362967">
                      <a:extLst>
                        <a:ext uri="{9D8B030D-6E8A-4147-A177-3AD203B41FA5}">
                          <a16:colId xmlns:a16="http://schemas.microsoft.com/office/drawing/2014/main" val="3107197484"/>
                        </a:ext>
                      </a:extLst>
                    </a:gridCol>
                    <a:gridCol w="4031069">
                      <a:extLst>
                        <a:ext uri="{9D8B030D-6E8A-4147-A177-3AD203B41FA5}">
                          <a16:colId xmlns:a16="http://schemas.microsoft.com/office/drawing/2014/main" val="1181904038"/>
                        </a:ext>
                      </a:extLst>
                    </a:gridCol>
                    <a:gridCol w="4031069">
                      <a:extLst>
                        <a:ext uri="{9D8B030D-6E8A-4147-A177-3AD203B41FA5}">
                          <a16:colId xmlns:a16="http://schemas.microsoft.com/office/drawing/2014/main" val="2951406917"/>
                        </a:ext>
                      </a:extLst>
                    </a:gridCol>
                  </a:tblGrid>
                  <a:tr h="18288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Последовательность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Функция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3731565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9077" t="-42222" r="-100151" b="-4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8912" t="-42222" b="-45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08420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Постройте график общего члена последовательности в зависимости от номера n.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Постройте график функции в зависимости от x.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3483302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Проиллюстрируйте сходимость (расходимость), ограниченность и монотонность последовательности: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Проиллюстрируйте сходимость (расходимость)ограниченность и монотонность функции на бесконечности: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4543470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а)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вспомните определение сходимости (расходимости), ограниченность и монотонность последовательности;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вспомните определение сходимости (расходимости), ограниченность и монотонность функции в на бесконечности;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61452134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535" t="-1230000" b="-45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5786176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в)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535" t="-1330000" b="-35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65825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ru-RU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г)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9077" t="-476667" r="-100151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8912" t="-476667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8402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5986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Условие задания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E53DF7-EC6B-9DF3-1A80-E121B74F8D4A}"/>
                  </a:ext>
                </a:extLst>
              </p:cNvPr>
              <p:cNvSpPr txBox="1"/>
              <p:nvPr/>
            </p:nvSpPr>
            <p:spPr>
              <a:xfrm>
                <a:off x="2069024" y="2185105"/>
                <a:ext cx="5005952" cy="773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2−10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E53DF7-EC6B-9DF3-1A80-E121B74F8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024" y="2185105"/>
                <a:ext cx="5005952" cy="7732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411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Предел функции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40224" y="2193010"/>
                <a:ext cx="8524067" cy="113912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𝑙𝑖𝑚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→∞ </m:t>
                          </m:r>
                        </m:sub>
                      </m:sSub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2−10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d>
                        </m:sup>
                      </m:sSup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𝑙𝑖</m:t>
                      </m:r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</m:sSub>
                      <m:sSup>
                        <m:sSupPr>
                          <m:ctrlP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kern="1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ru-R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num>
                                <m:den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10−</m:t>
                                      </m:r>
                                      <m:f>
                                        <m:fPr>
                                          <m:ctrlPr>
                                            <a:rPr lang="ru-R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sup>
                      </m:sSup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𝑙𝑖</m:t>
                      </m:r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</m:sSub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d>
                        </m:sup>
                      </m:sSup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40224" y="2193010"/>
                <a:ext cx="8524067" cy="113912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645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Производная функции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40224" y="1077132"/>
                <a:ext cx="8524067" cy="3642102"/>
              </a:xfr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800" smtClean="0"/>
                        <m:t>Применяем натуральный логарифм к обеим частям уравнения:</m:t>
                      </m:r>
                    </m:oMath>
                  </m:oMathPara>
                </a14:m>
                <a:endParaRPr lang="ru-RU" sz="1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1800" i="0"/>
                        <m:t>ln</m:t>
                      </m:r>
                      <m:r>
                        <a:rPr lang="ru-RU" sz="18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ru-RU" sz="1800" i="1"/>
                        <m:t>𝑦</m:t>
                      </m:r>
                      <m:r>
                        <a:rPr lang="ru-RU" sz="1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ru-RU" sz="1800" i="1"/>
                        <m:t>=</m:t>
                      </m:r>
                      <m:r>
                        <a:rPr lang="ru-RU" sz="1800" i="1"/>
                        <m:t>𝑙𝑛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/>
                          </m:ctrlPr>
                        </m:dPr>
                        <m:e>
                          <m:sSup>
                            <m:sSupPr>
                              <m:ctrlPr>
                                <a:rPr lang="ru-RU" sz="1800" i="1"/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1800" i="1"/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800" i="1"/>
                                      </m:ctrlPr>
                                    </m:fPr>
                                    <m:num>
                                      <m:r>
                                        <a:rPr lang="ru-RU" sz="1800" i="1"/>
                                        <m:t>1−</m:t>
                                      </m:r>
                                      <m:r>
                                        <a:rPr lang="ru-RU" sz="1800" i="1"/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ru-RU" sz="1800" i="1"/>
                                        <m:t>2−10</m:t>
                                      </m:r>
                                      <m:r>
                                        <a:rPr lang="ru-RU" sz="1800" i="1"/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sz="1800" i="1"/>
                                <m:t>5</m:t>
                              </m:r>
                              <m:r>
                                <a:rPr lang="ru-RU" sz="1800" i="1"/>
                                <m:t>𝑥</m:t>
                              </m:r>
                              <m:r>
                                <a:rPr lang="ru-RU" sz="1800" i="1"/>
                                <m:t>−3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1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ru-RU" sz="1800" i="1"/>
                        <m:t>=</m:t>
                      </m:r>
                      <m:d>
                        <m:dPr>
                          <m:ctrlPr>
                            <a:rPr lang="ru-RU" sz="1800" i="1"/>
                          </m:ctrlPr>
                        </m:dPr>
                        <m:e>
                          <m:r>
                            <a:rPr lang="ru-RU" sz="1800" i="1"/>
                            <m:t>5</m:t>
                          </m:r>
                          <m:r>
                            <a:rPr lang="ru-RU" sz="1800" i="1"/>
                            <m:t>𝑥</m:t>
                          </m:r>
                          <m:r>
                            <a:rPr lang="ru-RU" sz="1800" i="1"/>
                            <m:t>−3</m:t>
                          </m:r>
                        </m:e>
                      </m:d>
                      <m:r>
                        <a:rPr lang="ru-RU" sz="1800" i="1"/>
                        <m:t>⋅</m:t>
                      </m:r>
                      <m:r>
                        <a:rPr lang="ru-RU" sz="1800" i="1"/>
                        <m:t>𝑙</m:t>
                      </m:r>
                      <m:func>
                        <m:funcPr>
                          <m:ctrlPr>
                            <a:rPr lang="ru-RU" sz="1800" i="1"/>
                          </m:ctrlPr>
                        </m:funcPr>
                        <m:fName>
                          <m:r>
                            <a:rPr lang="ru-RU" sz="1800" i="1"/>
                            <m:t>𝑛</m:t>
                          </m:r>
                        </m:fName>
                        <m:e>
                          <m:d>
                            <m:dPr>
                              <m:ctrlPr>
                                <a:rPr lang="ru-RU" sz="1800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/>
                                  </m:ctrlPr>
                                </m:fPr>
                                <m:num>
                                  <m:r>
                                    <a:rPr lang="ru-RU" sz="1800" i="1"/>
                                    <m:t>1−</m:t>
                                  </m:r>
                                  <m:r>
                                    <a:rPr lang="ru-RU" sz="1800" i="1"/>
                                    <m:t>𝑥</m:t>
                                  </m:r>
                                </m:num>
                                <m:den>
                                  <m:r>
                                    <a:rPr lang="ru-RU" sz="1800" i="1"/>
                                    <m:t>2−10</m:t>
                                  </m:r>
                                  <m:r>
                                    <a:rPr lang="ru-RU" sz="1800" i="1"/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sz="1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800" i="1"/>
                          </m:ctrlPr>
                        </m:fPr>
                        <m:num>
                          <m:r>
                            <a:rPr lang="ru-RU" sz="1800" i="1"/>
                            <m:t>𝑑</m:t>
                          </m:r>
                        </m:num>
                        <m:den>
                          <m:r>
                            <a:rPr lang="ru-RU" sz="1800" i="1"/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1800" i="1"/>
                          </m:ctrlPr>
                        </m:dPr>
                        <m:e>
                          <m:r>
                            <a:rPr lang="ru-RU" sz="1800" i="1"/>
                            <m:t>(5</m:t>
                          </m:r>
                          <m:r>
                            <a:rPr lang="ru-RU" sz="1800" i="1"/>
                            <m:t>𝑥</m:t>
                          </m:r>
                          <m:r>
                            <a:rPr lang="ru-RU" sz="1800" i="1"/>
                            <m:t>−3)</m:t>
                          </m:r>
                          <m:r>
                            <a:rPr lang="ru-RU" sz="1800" i="1"/>
                            <m:t>𝑙𝑛</m:t>
                          </m:r>
                          <m:d>
                            <m:dPr>
                              <m:ctrlPr>
                                <a:rPr lang="ru-RU" sz="1800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/>
                                  </m:ctrlPr>
                                </m:fPr>
                                <m:num>
                                  <m:r>
                                    <a:rPr lang="ru-RU" sz="1800" i="1"/>
                                    <m:t>1−</m:t>
                                  </m:r>
                                  <m:r>
                                    <a:rPr lang="ru-RU" sz="1800" i="1"/>
                                    <m:t>𝑥</m:t>
                                  </m:r>
                                </m:num>
                                <m:den>
                                  <m:r>
                                    <a:rPr lang="ru-RU" sz="1800" i="1"/>
                                    <m:t>2−10</m:t>
                                  </m:r>
                                  <m:r>
                                    <a:rPr lang="ru-RU" sz="1800" i="1"/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ru-RU" sz="1800" i="1"/>
                        <m:t>=5⋅</m:t>
                      </m:r>
                      <m:r>
                        <a:rPr lang="ru-RU" sz="1800" i="1"/>
                        <m:t>𝑙𝑛</m:t>
                      </m:r>
                      <m:d>
                        <m:dPr>
                          <m:ctrlPr>
                            <a:rPr lang="ru-RU" sz="1800" i="1"/>
                          </m:ctrlPr>
                        </m:dPr>
                        <m:e>
                          <m:f>
                            <m:fPr>
                              <m:ctrlPr>
                                <a:rPr lang="ru-RU" sz="1800" i="1"/>
                              </m:ctrlPr>
                            </m:fPr>
                            <m:num>
                              <m:r>
                                <a:rPr lang="ru-RU" sz="1800" i="1"/>
                                <m:t>1−</m:t>
                              </m:r>
                              <m:r>
                                <a:rPr lang="ru-RU" sz="1800" i="1"/>
                                <m:t>𝑥</m:t>
                              </m:r>
                            </m:num>
                            <m:den>
                              <m:r>
                                <a:rPr lang="ru-RU" sz="1800" i="1"/>
                                <m:t>2−10</m:t>
                              </m:r>
                              <m:r>
                                <a:rPr lang="ru-RU" sz="1800" i="1"/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ru-RU" sz="1800" i="1"/>
                        <m:t>+(5</m:t>
                      </m:r>
                      <m:r>
                        <a:rPr lang="ru-RU" sz="1800" i="1"/>
                        <m:t>𝑥</m:t>
                      </m:r>
                      <m:r>
                        <a:rPr lang="ru-RU" sz="1800" i="1"/>
                        <m:t>−3)⋅</m:t>
                      </m:r>
                      <m:f>
                        <m:fPr>
                          <m:ctrlPr>
                            <a:rPr lang="ru-RU" sz="1800" i="1"/>
                          </m:ctrlPr>
                        </m:fPr>
                        <m:num>
                          <m:r>
                            <a:rPr lang="ru-RU" sz="1800" i="1"/>
                            <m:t>𝑑</m:t>
                          </m:r>
                        </m:num>
                        <m:den>
                          <m:r>
                            <a:rPr lang="ru-RU" sz="1800" i="1"/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1800" i="1"/>
                          </m:ctrlPr>
                        </m:dPr>
                        <m:e>
                          <m:r>
                            <a:rPr lang="ru-RU" sz="1800" i="1"/>
                            <m:t>𝑙𝑛</m:t>
                          </m:r>
                          <m:d>
                            <m:dPr>
                              <m:ctrlPr>
                                <a:rPr lang="ru-RU" sz="1800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/>
                                  </m:ctrlPr>
                                </m:fPr>
                                <m:num>
                                  <m:r>
                                    <a:rPr lang="ru-RU" sz="1800" i="1"/>
                                    <m:t>1−</m:t>
                                  </m:r>
                                  <m:r>
                                    <a:rPr lang="ru-RU" sz="1800" i="1"/>
                                    <m:t>𝑥</m:t>
                                  </m:r>
                                </m:num>
                                <m:den>
                                  <m:r>
                                    <a:rPr lang="ru-RU" sz="1800" i="1"/>
                                    <m:t>2−10</m:t>
                                  </m:r>
                                  <m:r>
                                    <a:rPr lang="ru-RU" sz="1800" i="1"/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ru-RU" sz="1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800" i="1"/>
                          </m:ctrlPr>
                        </m:fPr>
                        <m:num>
                          <m:r>
                            <a:rPr lang="ru-RU" sz="1800" i="1"/>
                            <m:t>𝑑</m:t>
                          </m:r>
                        </m:num>
                        <m:den>
                          <m:r>
                            <a:rPr lang="ru-RU" sz="1800" i="1"/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1800" i="1"/>
                          </m:ctrlPr>
                        </m:dPr>
                        <m:e>
                          <m:r>
                            <a:rPr lang="ru-RU" sz="1800" i="1"/>
                            <m:t>(5</m:t>
                          </m:r>
                          <m:r>
                            <a:rPr lang="ru-RU" sz="1800" i="1"/>
                            <m:t>𝑥</m:t>
                          </m:r>
                          <m:r>
                            <a:rPr lang="ru-RU" sz="1800" i="1"/>
                            <m:t>−3)</m:t>
                          </m:r>
                          <m:r>
                            <a:rPr lang="ru-RU" sz="1800" i="1"/>
                            <m:t>𝑙𝑛</m:t>
                          </m:r>
                          <m:d>
                            <m:dPr>
                              <m:ctrlPr>
                                <a:rPr lang="ru-RU" sz="1800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/>
                                  </m:ctrlPr>
                                </m:fPr>
                                <m:num>
                                  <m:r>
                                    <a:rPr lang="ru-RU" sz="1800" i="1"/>
                                    <m:t>1−</m:t>
                                  </m:r>
                                  <m:r>
                                    <a:rPr lang="ru-RU" sz="1800" i="1"/>
                                    <m:t>𝑥</m:t>
                                  </m:r>
                                </m:num>
                                <m:den>
                                  <m:r>
                                    <a:rPr lang="ru-RU" sz="1800" i="1"/>
                                    <m:t>2−10</m:t>
                                  </m:r>
                                  <m:r>
                                    <a:rPr lang="ru-RU" sz="1800" i="1"/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ru-RU" sz="1800" i="1"/>
                        <m:t>=5</m:t>
                      </m:r>
                      <m:r>
                        <a:rPr lang="ru-RU" sz="1800" i="1"/>
                        <m:t>𝑙𝑛</m:t>
                      </m:r>
                      <m:d>
                        <m:dPr>
                          <m:ctrlPr>
                            <a:rPr lang="ru-RU" sz="1800" i="1"/>
                          </m:ctrlPr>
                        </m:dPr>
                        <m:e>
                          <m:f>
                            <m:fPr>
                              <m:ctrlPr>
                                <a:rPr lang="ru-RU" sz="1800" i="1"/>
                              </m:ctrlPr>
                            </m:fPr>
                            <m:num>
                              <m:r>
                                <a:rPr lang="ru-RU" sz="1800" i="1"/>
                                <m:t>1−</m:t>
                              </m:r>
                              <m:r>
                                <a:rPr lang="ru-RU" sz="1800" i="1"/>
                                <m:t>𝑥</m:t>
                              </m:r>
                            </m:num>
                            <m:den>
                              <m:r>
                                <a:rPr lang="ru-RU" sz="1800" i="1"/>
                                <m:t>2−10</m:t>
                              </m:r>
                              <m:r>
                                <a:rPr lang="ru-RU" sz="1800" i="1"/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ru-RU" sz="1800" i="1"/>
                        <m:t>+(5</m:t>
                      </m:r>
                      <m:r>
                        <a:rPr lang="ru-RU" sz="1800" i="1"/>
                        <m:t>𝑥</m:t>
                      </m:r>
                      <m:r>
                        <a:rPr lang="ru-RU" sz="1800" i="1"/>
                        <m:t>−3)⋅</m:t>
                      </m:r>
                      <m:f>
                        <m:fPr>
                          <m:ctrlPr>
                            <a:rPr lang="ru-RU" sz="1800" i="1"/>
                          </m:ctrlPr>
                        </m:fPr>
                        <m:num>
                          <m:r>
                            <a:rPr lang="ru-RU" sz="1800" i="1"/>
                            <m:t>8</m:t>
                          </m:r>
                        </m:num>
                        <m:den>
                          <m:d>
                            <m:dPr>
                              <m:ctrlPr>
                                <a:rPr lang="ru-RU" sz="1800" i="1"/>
                              </m:ctrlPr>
                            </m:dPr>
                            <m:e>
                              <m:r>
                                <a:rPr lang="ru-RU" sz="1800" i="1"/>
                                <m:t>1−</m:t>
                              </m:r>
                              <m:r>
                                <a:rPr lang="ru-RU" sz="1800" i="1"/>
                                <m:t>𝑥</m:t>
                              </m:r>
                              <m:r>
                                <a:rPr lang="ru-RU" sz="1800" i="1"/>
                                <m:t>)(2−10</m:t>
                              </m:r>
                              <m:r>
                                <a:rPr lang="ru-RU" sz="1800" i="1"/>
                                <m:t>𝑥</m:t>
                              </m:r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ru-RU" sz="1800" i="1"/>
                        <m:t>=5</m:t>
                      </m:r>
                      <m:r>
                        <a:rPr lang="ru-RU" sz="1800" i="1"/>
                        <m:t>𝑙𝑛</m:t>
                      </m:r>
                      <m:d>
                        <m:dPr>
                          <m:ctrlPr>
                            <a:rPr lang="ru-RU" sz="1800" i="1"/>
                          </m:ctrlPr>
                        </m:dPr>
                        <m:e>
                          <m:f>
                            <m:fPr>
                              <m:ctrlPr>
                                <a:rPr lang="ru-RU" sz="1800" i="1"/>
                              </m:ctrlPr>
                            </m:fPr>
                            <m:num>
                              <m:r>
                                <a:rPr lang="ru-RU" sz="1800" i="1"/>
                                <m:t>1−</m:t>
                              </m:r>
                              <m:r>
                                <a:rPr lang="ru-RU" sz="1800" i="1"/>
                                <m:t>𝑥</m:t>
                              </m:r>
                            </m:num>
                            <m:den>
                              <m:r>
                                <a:rPr lang="ru-RU" sz="1800" i="1"/>
                                <m:t>2−10</m:t>
                              </m:r>
                              <m:r>
                                <a:rPr lang="ru-RU" sz="1800" i="1"/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ru-RU" sz="1800" i="1"/>
                        <m:t>+</m:t>
                      </m:r>
                      <m:f>
                        <m:fPr>
                          <m:ctrlPr>
                            <a:rPr lang="ru-RU" sz="1800" i="1"/>
                          </m:ctrlPr>
                        </m:fPr>
                        <m:num>
                          <m:r>
                            <a:rPr lang="ru-RU" sz="1800" i="1"/>
                            <m:t>40</m:t>
                          </m:r>
                          <m:r>
                            <a:rPr lang="ru-RU" sz="1800" i="1"/>
                            <m:t>𝑥</m:t>
                          </m:r>
                          <m:r>
                            <a:rPr lang="ru-RU" sz="1800" i="1"/>
                            <m:t>−24</m:t>
                          </m:r>
                        </m:num>
                        <m:den>
                          <m:d>
                            <m:dPr>
                              <m:ctrlPr>
                                <a:rPr lang="ru-RU" sz="1800" i="1"/>
                              </m:ctrlPr>
                            </m:dPr>
                            <m:e>
                              <m:r>
                                <a:rPr lang="ru-RU" sz="1800" i="1"/>
                                <m:t>1−</m:t>
                              </m:r>
                              <m:r>
                                <a:rPr lang="ru-RU" sz="1800" i="1"/>
                                <m:t>𝑥</m:t>
                              </m:r>
                              <m:r>
                                <a:rPr lang="ru-RU" sz="1800" i="1"/>
                                <m:t>)(2−10</m:t>
                              </m:r>
                              <m:r>
                                <a:rPr lang="ru-RU" sz="1800" i="1"/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1800" dirty="0"/>
              </a:p>
              <a:p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40224" y="1077132"/>
                <a:ext cx="8524067" cy="364210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934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Производная функции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40224" y="1658318"/>
                <a:ext cx="8524067" cy="2255004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ru-RU" sz="18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1800" i="1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ru-RU" sz="18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ru-RU" sz="1800" i="1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2−10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ru-RU" sz="1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−24</m:t>
                          </m:r>
                        </m:num>
                        <m:den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)(2−10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8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2−10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−24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)(2−10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2−10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d>
                        <m:d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2−10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−24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)(2−10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40224" y="1658318"/>
                <a:ext cx="8524067" cy="225500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17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функции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ru-RU" sz="16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Функция</a:t>
                </a:r>
                <a:r>
                  <a:rPr lang="en-US" sz="16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</a:p>
              <a:p>
                <a:endParaRPr lang="en-US" sz="16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ru-RU" sz="16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Область определения</a:t>
                </a:r>
                <a:r>
                  <a:rPr lang="en-US" sz="16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2−10</m:t>
                      </m:r>
                      <m:r>
                        <a:rPr lang="en-US" sz="160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0 </m:t>
                      </m:r>
                      <m:r>
                        <a:rPr lang="en-US" sz="16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0.2</m:t>
                      </m:r>
                    </m:oMath>
                  </m:oMathPara>
                </a14:m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Выражение под степенью должно быть всегда положительно, иначе функция станет не дифференцируемой, кроме того точка 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=1 не должна входить(см решение выше):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2−10</m:t>
                          </m:r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Решим методом интервалов, а также найдем нули функции и разрывы второго рода:</a:t>
                </a: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1−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 </m:t>
                      </m:r>
                      <m:r>
                        <a:rPr lang="en-US" sz="16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ru-RU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2−10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  <m:r>
                        <a:rPr lang="en-US" sz="16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f>
                        <m:fPr>
                          <m:ctrlPr>
                            <a:rPr lang="ru-RU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16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0.2</m:t>
                      </m:r>
                    </m:oMath>
                  </m:oMathPara>
                </a14:m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27" t="-8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18.png">
            <a:extLst>
              <a:ext uri="{FF2B5EF4-FFF2-40B4-BE49-F238E27FC236}">
                <a16:creationId xmlns:a16="http://schemas.microsoft.com/office/drawing/2014/main" id="{002F8696-B829-06AC-DF00-D018AE97F4C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2768" y="1224997"/>
            <a:ext cx="1295400" cy="4445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77656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функции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Расставим знаки на промежутках числовой прямой:</a:t>
                </a:r>
                <a:endParaRPr lang="en-US" sz="18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US" sz="18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n-US" sz="1800" kern="1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То есть, область определения функции: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ru-RU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;0.2</m:t>
                        </m:r>
                      </m:e>
                    </m:d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d>
                      <m:dPr>
                        <m:begChr m:val="["/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ru-RU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(0,2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1) - неустранимый разрыв второго рода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653" t="-10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717AB5-D0E0-AC59-CC3D-528932EE91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22391" r="8087" b="16905"/>
          <a:stretch>
            <a:fillRect/>
          </a:stretch>
        </p:blipFill>
        <p:spPr bwMode="auto">
          <a:xfrm>
            <a:off x="890715" y="1768406"/>
            <a:ext cx="1891665" cy="7162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82845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График функции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1FB699-5D51-69BC-6941-FB2F4D270F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5"/>
          <a:stretch>
            <a:fillRect/>
          </a:stretch>
        </p:blipFill>
        <p:spPr bwMode="auto">
          <a:xfrm>
            <a:off x="2758122" y="1091662"/>
            <a:ext cx="3627755" cy="3657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57631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Определения для анализа функции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B19E03-FDDC-3441-5B46-71C0214E2CC1}"/>
                  </a:ext>
                </a:extLst>
              </p:cNvPr>
              <p:cNvSpPr txBox="1"/>
              <p:nvPr/>
            </p:nvSpPr>
            <p:spPr>
              <a:xfrm>
                <a:off x="340964" y="1021045"/>
                <a:ext cx="9035510" cy="2976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 Сходимость функции на бесконечности (Определение по Коши)</a:t>
                </a: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Число 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называется пределом функции 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 при 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стремящемся к бесконечности, если для любого сколь угодно малого числа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ε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 0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найдется такое число 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ε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 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0 (зависящее от </a:t>
                </a: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), что для всех выполняется 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неравенство: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2. Ограниченность функции</a:t>
                </a: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Функция 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 называется ограниченной на бесконечном промежутке, если существует такое число 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&gt;0, что для всех 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из области определения выполняется условие:</a:t>
                </a: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</m:t>
                      </m:r>
                    </m:oMath>
                  </m:oMathPara>
                </a14:m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B19E03-FDDC-3441-5B46-71C0214E2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64" y="1021045"/>
                <a:ext cx="9035510" cy="2976199"/>
              </a:xfrm>
              <a:prstGeom prst="rect">
                <a:avLst/>
              </a:prstGeom>
              <a:blipFill>
                <a:blip r:embed="rId2"/>
                <a:stretch>
                  <a:fillRect l="-607" t="-1022" r="-3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005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Определения для анализа функции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B19E03-FDDC-3441-5B46-71C0214E2CC1}"/>
                  </a:ext>
                </a:extLst>
              </p:cNvPr>
              <p:cNvSpPr txBox="1"/>
              <p:nvPr/>
            </p:nvSpPr>
            <p:spPr>
              <a:xfrm>
                <a:off x="340964" y="1021045"/>
                <a:ext cx="9035510" cy="1585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 Монотонность функции на бесконечности</a:t>
                </a: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Функция</a:t>
                </a:r>
                <a:r>
                  <a:rPr lang="ru-RU" sz="1800" i="1" kern="1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называется строго убывающей на промежутке, если для любых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и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из этого промежутка из условия 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следует:</a:t>
                </a: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ctrlPr>
                            <a:rPr lang="ru-RU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ru-RU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ru-RU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ru-RU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𝒇</m:t>
                      </m:r>
                      <m:d>
                        <m:dPr>
                          <m:ctrlPr>
                            <a:rPr lang="ru-RU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ru-RU" sz="18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B19E03-FDDC-3441-5B46-71C0214E2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64" y="1021045"/>
                <a:ext cx="9035510" cy="1585562"/>
              </a:xfrm>
              <a:prstGeom prst="rect">
                <a:avLst/>
              </a:prstGeom>
              <a:blipFill>
                <a:blip r:embed="rId2"/>
                <a:stretch>
                  <a:fillRect l="-607" t="-19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568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Монотонность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2A11E20-DB6D-766F-585D-B8A6771420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5945" y="1340603"/>
                <a:ext cx="8167607" cy="275869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Из </a:t>
                </a:r>
                <a:r>
                  <a:rPr lang="ru-RU" sz="1800" kern="1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ранее полученной производной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видно, что она равна нулю в точке 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=1(которая является разрывом из ОДЗ), а также в точке, в которой выполняется следующее равенство: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2−10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d>
                        <m:d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2−10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−24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)(2−10</m:t>
                                  </m:r>
                                  <m:r>
                                    <a:rPr lang="ru-RU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𝑙𝑛</m:t>
                      </m:r>
                      <m:d>
                        <m:d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2−10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e>
                      </m:d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num>
                        <m:den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2−10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sz="1800" i="1" kern="1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2A11E20-DB6D-766F-585D-B8A677142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5945" y="1340603"/>
                <a:ext cx="8167607" cy="2758699"/>
              </a:xfrm>
              <a:blipFill>
                <a:blip r:embed="rId2"/>
                <a:stretch>
                  <a:fillRect l="-597" t="-1327" b="-7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060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Монотонность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2A11E20-DB6D-766F-585D-B8A6771420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5945" y="1986859"/>
                <a:ext cx="8167607" cy="211244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Здесь будет удобно применить метод Ньютона для приближенных вычислений. 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1.0982816186465438</m:t>
                      </m:r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ru-RU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1.3016603753455615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05</m:t>
                      </m:r>
                    </m:oMath>
                  </m:oMathPara>
                </a14:m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2A11E20-DB6D-766F-585D-B8A677142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5945" y="1986859"/>
                <a:ext cx="8167607" cy="2112443"/>
              </a:xfrm>
              <a:blipFill>
                <a:blip r:embed="rId2"/>
                <a:stretch>
                  <a:fillRect l="-597" t="-17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9283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Монотонность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A11E20-DB6D-766F-585D-B8A677142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946" y="1053886"/>
            <a:ext cx="8152108" cy="269855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Проверим как ведет себя функция на интервалах (-∞, 0.2) и (1, +∞).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интервале (-∞, 0.2) функция убывает, проверяем это численно подставляя значения интервала в производную. Также очевидно, что это не нарушается, так как экстремум только один в другом интервале. 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интервале [1, +∞) функция сначала возрастает, а затем убывает проверяем это также численно подставляя значения меньше и больше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Xmax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производную.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F1BDE12-0D0E-DEBC-4937-FE42DD6EF2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97" t="39538" b="42705"/>
          <a:stretch>
            <a:fillRect/>
          </a:stretch>
        </p:blipFill>
        <p:spPr bwMode="auto">
          <a:xfrm>
            <a:off x="2071867" y="3185298"/>
            <a:ext cx="5000265" cy="15746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42265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sz="29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Ограниченность</a:t>
            </a:r>
            <a:endParaRPr lang="ru-RU" sz="2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26173-6560-BC6F-A1E1-89B73ABB3EB8}"/>
                  </a:ext>
                </a:extLst>
              </p:cNvPr>
              <p:cNvSpPr txBox="1"/>
              <p:nvPr/>
            </p:nvSpPr>
            <p:spPr>
              <a:xfrm>
                <a:off x="457200" y="997634"/>
                <a:ext cx="8159857" cy="4137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Вычислим пределы при стремлении функции к крайним точкам: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0.2−</m:t>
                          </m:r>
                        </m:sub>
                      </m:sSub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2−10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d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0.2−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2−10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0.2−</m:t>
                              </m:r>
                              <m:d>
                                <m:d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sub>
                          </m:sSub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𝑙𝑖𝑚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 </m:t>
                          </m:r>
                        </m:sub>
                      </m:sSub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2−10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d>
                        </m:sup>
                      </m:sSup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𝑙𝑖</m:t>
                      </m:r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</m:sSub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10−</m:t>
                              </m:r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𝑙𝑖</m:t>
                      </m:r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</m:sSub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d>
                        </m:sup>
                      </m:sSup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𝑙𝑖</m:t>
                      </m:r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</m:sSub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𝑙𝑖</m:t>
                      </m:r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</m:sSub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∞</m:t>
                      </m:r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ru-RU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000</m:t>
                      </m:r>
                    </m:oMath>
                  </m:oMathPara>
                </a14:m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На первом интервале функция ограничена снизу нулём.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26173-6560-BC6F-A1E1-89B73ABB3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97634"/>
                <a:ext cx="8159857" cy="4137736"/>
              </a:xfrm>
              <a:prstGeom prst="rect">
                <a:avLst/>
              </a:prstGeom>
              <a:blipFill>
                <a:blip r:embed="rId2"/>
                <a:stretch>
                  <a:fillRect l="-597" t="-8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360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ru-RU" sz="29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Ограниченность</a:t>
            </a:r>
            <a:endParaRPr lang="ru-RU" sz="2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26173-6560-BC6F-A1E1-89B73ABB3EB8}"/>
                  </a:ext>
                </a:extLst>
              </p:cNvPr>
              <p:cNvSpPr txBox="1"/>
              <p:nvPr/>
            </p:nvSpPr>
            <p:spPr>
              <a:xfrm>
                <a:off x="573437" y="1315349"/>
                <a:ext cx="8043621" cy="2995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Проверим второй интервал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</m:sub>
                      </m:sSub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2−10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e>
                          </m:d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Исходя из полученного ранее экстремума на втором интервале, а также первого предела и предела выше, можно сделать вывод что на втором интервале, функция ограничена снизу нулём, а сверху </a:t>
                </a: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1.3∗</m:t>
                    </m:r>
                    <m:sSup>
                      <m:sSup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−5</m:t>
                            </m:r>
                          </m:e>
                        </m:d>
                      </m:sup>
                    </m:sSup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26173-6560-BC6F-A1E1-89B73ABB3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37" y="1315349"/>
                <a:ext cx="8043621" cy="2995885"/>
              </a:xfrm>
              <a:prstGeom prst="rect">
                <a:avLst/>
              </a:prstGeom>
              <a:blipFill>
                <a:blip r:embed="rId2"/>
                <a:stretch>
                  <a:fillRect l="-606" t="-1222" r="-2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299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93" y="306435"/>
            <a:ext cx="7377193" cy="527284"/>
          </a:xfrm>
        </p:spPr>
        <p:txBody>
          <a:bodyPr>
            <a:no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ru-RU" sz="29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Определения сходимости, монотонности, ограниченности</a:t>
            </a:r>
            <a:endParaRPr lang="ru-RU" sz="2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26173-6560-BC6F-A1E1-89B73ABB3EB8}"/>
                  </a:ext>
                </a:extLst>
              </p:cNvPr>
              <p:cNvSpPr txBox="1"/>
              <p:nvPr/>
            </p:nvSpPr>
            <p:spPr>
              <a:xfrm>
                <a:off x="457200" y="1485830"/>
                <a:ext cx="8159858" cy="3022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Сходимость к пределу </a:t>
                </a: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при </a:t>
                </a: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→+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b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&gt;0</m:t>
                    </m:r>
                    <m:r>
                      <m:rPr>
                        <m:nor/>
                      </m:rPr>
                      <a: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  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∃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&gt;0: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∣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)−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∣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b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 данном случае </a:t>
                </a: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</a:pPr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Ограниченность при </a:t>
                </a: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→+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b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∃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&gt;0,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∃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&gt;0: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∣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∣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</a:pPr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Монотонность при </a:t>
                </a: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→+</m:t>
                    </m:r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b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ru-RU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∃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такое, что на интервале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,+</m:t>
                        </m:r>
                        <m:r>
                          <a:rPr lang="ru-RU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функция либо только возрастает, либо только убывает.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426173-6560-BC6F-A1E1-89B73ABB3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85830"/>
                <a:ext cx="8159858" cy="3022751"/>
              </a:xfrm>
              <a:prstGeom prst="rect">
                <a:avLst/>
              </a:prstGeom>
              <a:blipFill>
                <a:blip r:embed="rId2"/>
                <a:stretch>
                  <a:fillRect l="-597" t="-1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119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BD03A893-ECFA-DEED-F342-DE63BD7222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9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Анализ</a:t>
                </a:r>
                <a:r>
                  <a:rPr lang="en-US" sz="29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ru-RU" sz="2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BD03A893-ECFA-DEED-F342-DE63BD7222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1494" b="-367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BAC953-706D-8BB3-9836-1B7DEBD2D1BF}"/>
                  </a:ext>
                </a:extLst>
              </p:cNvPr>
              <p:cNvSpPr txBox="1"/>
              <p:nvPr/>
            </p:nvSpPr>
            <p:spPr>
              <a:xfrm>
                <a:off x="499820" y="1032188"/>
                <a:ext cx="8512444" cy="2641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б) Для правого интервала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=2⋅</m:t>
                    </m:r>
                    <m:sSup>
                      <m:sSup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sup>
                    </m:sSup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sup>
                    </m:sSup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=5⋅</m:t>
                    </m:r>
                    <m:sSup>
                      <m:sSup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Эти значения близки с максимальным значением функции на правой ветви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1800" kern="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≈1.3⋅</m:t>
                    </m:r>
                    <m:sSup>
                      <m:sSup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в) Изображение </a:t>
                </a:r>
                <a14:m>
                  <m:oMath xmlns:m="http://schemas.openxmlformats.org/officeDocument/2006/math">
                    <m:r>
                      <a:rPr lang="ru-RU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r>
                  <a:rPr lang="ru-RU" sz="1800" b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-окрестностей на графике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1800" b="1" u="sng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https://www.desmos.com/calculator/q5sgbjvggj</a:t>
                </a: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ru-RU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BAC953-706D-8BB3-9836-1B7DEBD2D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20" y="1032188"/>
                <a:ext cx="8512444" cy="2641877"/>
              </a:xfrm>
              <a:prstGeom prst="rect">
                <a:avLst/>
              </a:prstGeom>
              <a:blipFill>
                <a:blip r:embed="rId4"/>
                <a:stretch>
                  <a:fillRect l="-645" t="-9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8132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BD03A893-ECFA-DEED-F342-DE63BD7222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9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Анализ</a:t>
                </a:r>
                <a:r>
                  <a:rPr lang="en-US" sz="29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ru-RU" sz="2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BD03A893-ECFA-DEED-F342-DE63BD7222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1494" b="-367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87614C88-514E-54CC-871F-8CC68B6B1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176" y="1066822"/>
            <a:ext cx="18004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ru-RU" altLang="ru-RU" i="1" baseline="-25000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=2*10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Рисунок 2">
            <a:extLst>
              <a:ext uri="{FF2B5EF4-FFF2-40B4-BE49-F238E27FC236}">
                <a16:creationId xmlns:a16="http://schemas.microsoft.com/office/drawing/2014/main" id="{F214E09C-03E4-C3B9-E61C-481AE652B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76" y="14800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993A6A-0F46-C822-48AF-1F14CE095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17596"/>
            <a:ext cx="8351794" cy="256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735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BD03A893-ECFA-DEED-F342-DE63BD7222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9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Анализ</a:t>
                </a:r>
                <a:r>
                  <a:rPr lang="en-US" sz="29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ru-RU" sz="2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BD03A893-ECFA-DEED-F342-DE63BD7222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1494" b="-367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87614C88-514E-54CC-871F-8CC68B6B1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176" y="1066822"/>
            <a:ext cx="26757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kumimoji="0" lang="ru-RU" altLang="ru-RU" b="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=1*10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δ=0.05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Рисунок 2">
            <a:extLst>
              <a:ext uri="{FF2B5EF4-FFF2-40B4-BE49-F238E27FC236}">
                <a16:creationId xmlns:a16="http://schemas.microsoft.com/office/drawing/2014/main" id="{F214E09C-03E4-C3B9-E61C-481AE652B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76" y="14800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FDE8F6-B8B5-E895-6E52-33B5F5FAC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77" y="1669256"/>
            <a:ext cx="7083422" cy="2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162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BD03A893-ECFA-DEED-F342-DE63BD7222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9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Анализ</a:t>
                </a:r>
                <a:r>
                  <a:rPr lang="en-US" sz="29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9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ru-RU" sz="29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Заголовок 3">
                <a:extLst>
                  <a:ext uri="{FF2B5EF4-FFF2-40B4-BE49-F238E27FC236}">
                    <a16:creationId xmlns:a16="http://schemas.microsoft.com/office/drawing/2014/main" id="{BD03A893-ECFA-DEED-F342-DE63BD7222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1494" b="-367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EB67B381-849C-C5C0-45A3-F8707C90E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176" y="1066822"/>
            <a:ext cx="27606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ru-RU" altLang="ru-RU" i="1" baseline="-25000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altLang="ru-RU" i="1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*10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1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altLang="ru-RU" i="1" baseline="30000" dirty="0"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δ=0.015</a:t>
            </a: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C43D44-BEDA-2E5A-B66C-ED80A21BC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3" y="1838325"/>
            <a:ext cx="8214994" cy="202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61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Условие задания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50748"/>
            <a:ext cx="7467600" cy="3598744"/>
          </a:xfrm>
        </p:spPr>
        <p:txBody>
          <a:bodyPr>
            <a:noAutofit/>
          </a:bodyPr>
          <a:lstStyle/>
          <a:p>
            <a:r>
              <a:rPr lang="ru-RU" sz="1800" b="0" i="0" dirty="0">
                <a:solidFill>
                  <a:srgbClr val="2C2D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Дана задача. Проведите исследование:</a:t>
            </a:r>
          </a:p>
          <a:p>
            <a:r>
              <a:rPr lang="ru-RU" sz="1800" b="0" i="0" dirty="0">
                <a:solidFill>
                  <a:srgbClr val="2C2D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	Составьте математическую модель задачи: введите обозначения, выпишите данные, составьте уравнение (систему уравнений), содержащее неизвестное.</a:t>
            </a:r>
          </a:p>
          <a:p>
            <a:r>
              <a:rPr lang="ru-RU" sz="1800" b="0" i="0" dirty="0">
                <a:solidFill>
                  <a:srgbClr val="2C2D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	Решите задачу аналитически.</a:t>
            </a:r>
          </a:p>
          <a:p>
            <a:r>
              <a:rPr lang="ru-RU" sz="1800" b="0" i="0" dirty="0">
                <a:solidFill>
                  <a:srgbClr val="2C2D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	Сделайте графическую иллюстрацию к решению задачи. Сверьтесь с аналитическим решением.</a:t>
            </a:r>
          </a:p>
          <a:p>
            <a:pPr marL="342900" indent="-342900">
              <a:buAutoNum type="arabicParenR" startAt="4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Запишите ответ.</a:t>
            </a:r>
            <a:endParaRPr lang="en-US" sz="1800" b="0" i="0" dirty="0">
              <a:solidFill>
                <a:srgbClr val="2C2D2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b="0" i="0" dirty="0">
              <a:solidFill>
                <a:srgbClr val="2C2D2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Период колебания маятника                   , где </a:t>
            </a:r>
            <a:r>
              <a:rPr lang="ru-RU" sz="18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18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– длина маятника в сантиметрах. Как нужно изменить длину маятника </a:t>
            </a:r>
            <a:r>
              <a:rPr lang="ru-RU" sz="18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l=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20 см, чтобы период колебания уменьшился на 0,1 с?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ru-RU" sz="1800" b="0" i="0" dirty="0">
              <a:solidFill>
                <a:srgbClr val="2C2D2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2.png">
            <a:extLst>
              <a:ext uri="{FF2B5EF4-FFF2-40B4-BE49-F238E27FC236}">
                <a16:creationId xmlns:a16="http://schemas.microsoft.com/office/drawing/2014/main" id="{FA3BABBD-1955-2337-9102-B2D128671DDA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362960" y="3860800"/>
            <a:ext cx="919181" cy="35895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709220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2">
                <a:extLst>
                  <a:ext uri="{FF2B5EF4-FFF2-40B4-BE49-F238E27FC236}">
                    <a16:creationId xmlns:a16="http://schemas.microsoft.com/office/drawing/2014/main" id="{6E0EEADE-D0B5-4104-9527-86E91F999CD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211263"/>
                <a:ext cx="7467600" cy="3448050"/>
              </a:xfrm>
            </p:spPr>
            <p:txBody>
              <a:bodyPr>
                <a:no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Период маятника </a:t>
                </a:r>
                <a14:m>
                  <m:oMath xmlns:m="http://schemas.openxmlformats.org/officeDocument/2006/math"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ru-RU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ru-RU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981</m:t>
                            </m:r>
                          </m:den>
                        </m:f>
                      </m:e>
                    </m:rad>
                  </m:oMath>
                </a14:m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ru-RU" sz="1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𝛥</m:t>
                    </m:r>
                    <m:r>
                      <a:rPr lang="ru-RU" sz="1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ru-RU" sz="1600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0,1</m:t>
                    </m:r>
                    <m:r>
                      <a:rPr lang="ru-RU" sz="1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ru-RU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Длина маятника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ru-RU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=20см</m:t>
                    </m:r>
                  </m:oMath>
                </a14:m>
                <a:endParaRPr lang="ru-RU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Найти: </a:t>
                </a:r>
                <a:endParaRPr lang="ru-RU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𝛥</m:t>
                    </m:r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=?</m:t>
                    </m:r>
                  </m:oMath>
                </a14:m>
                <a:r>
                  <a:rPr lang="ru-RU" sz="1600" i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т.е. требуется, чтобы</a:t>
                </a:r>
                <a:endParaRPr lang="ru-RU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ru-RU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ru-RU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𝛥</m:t>
                          </m:r>
                          <m:r>
                            <a:rPr lang="ru-RU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ru-RU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ru-RU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𝛥</m:t>
                      </m:r>
                      <m:r>
                        <a:rPr lang="ru-RU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lang="ru-RU" sz="16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Подставляя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ru-RU" sz="1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=20</m:t>
                    </m:r>
                  </m:oMath>
                </a14:m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𝛥</m:t>
                    </m:r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6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=−0,1</m:t>
                    </m:r>
                  </m:oMath>
                </a14:m>
                <a:r>
                  <a:rPr lang="ru-RU" sz="1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получаем уравнение с одним неизвестным:</a:t>
                </a:r>
                <a:endParaRPr lang="ru-RU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lang="ru-RU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20+</m:t>
                              </m:r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981</m:t>
                              </m:r>
                            </m:den>
                          </m:f>
                        </m:e>
                      </m:rad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−2</m:t>
                      </m:r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ru-RU" sz="16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num>
                            <m:den>
                              <m:r>
                                <a:rPr lang="en-US" sz="16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981</m:t>
                              </m:r>
                            </m:den>
                          </m:f>
                        </m:e>
                      </m:rad>
                      <m:r>
                        <a:rPr lang="en-US" sz="16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sz="16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0,1</m:t>
                      </m:r>
                    </m:oMath>
                  </m:oMathPara>
                </a14:m>
                <a:endParaRPr lang="ru-RU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endParaRPr lang="ru-RU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Объект 2">
                <a:extLst>
                  <a:ext uri="{FF2B5EF4-FFF2-40B4-BE49-F238E27FC236}">
                    <a16:creationId xmlns:a16="http://schemas.microsoft.com/office/drawing/2014/main" id="{6E0EEADE-D0B5-4104-9527-86E91F999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211263"/>
                <a:ext cx="7467600" cy="3448050"/>
              </a:xfrm>
              <a:blipFill>
                <a:blip r:embed="rId2"/>
                <a:stretch>
                  <a:fillRect l="-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143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Аналитическое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050747"/>
                <a:ext cx="7467600" cy="3786317"/>
              </a:xfrm>
            </p:spPr>
            <p:txBody>
              <a:bodyPr>
                <a:no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Решаем исходное уравнение без приближений: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20+</m:t>
                              </m:r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𝛥</m:t>
                              </m:r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981</m:t>
                              </m:r>
                            </m:den>
                          </m:f>
                        </m:e>
                      </m:ra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−2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num>
                            <m:den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981</m:t>
                              </m:r>
                            </m:den>
                          </m:f>
                        </m:e>
                      </m:ra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0,1</m:t>
                      </m:r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1800" i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20+</m:t>
                              </m:r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𝛥</m:t>
                              </m:r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981</m:t>
                              </m:r>
                            </m:den>
                          </m:f>
                        </m:e>
                      </m:ra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π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num>
                            <m:den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981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ru-RU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050747"/>
                <a:ext cx="7467600" cy="3786317"/>
              </a:xfrm>
              <a:blipFill>
                <a:blip r:embed="rId2"/>
                <a:stretch>
                  <a:fillRect l="-653" t="-8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380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Аналитическое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050747"/>
                <a:ext cx="7467600" cy="3786317"/>
              </a:xfrm>
            </p:spPr>
            <p:txBody>
              <a:bodyPr>
                <a:noAutofit/>
              </a:bodyPr>
              <a:lstStyle/>
              <a:p>
                <a:pPr algn="just">
                  <a:spcAft>
                    <a:spcPts val="800"/>
                  </a:spcAft>
                </a:pP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20+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𝛥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ra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981</m:t>
                              </m:r>
                            </m:e>
                          </m:rad>
                        </m:num>
                        <m:den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π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20</m:t>
                          </m:r>
                        </m:e>
                      </m:rad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1800" i="1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𝛥</m:t>
                      </m:r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20</m:t>
                                  </m:r>
                                </m:e>
                              </m:rad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800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981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π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20= </m:t>
                      </m:r>
                      <m:sSup>
                        <m:sSup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3,97</m:t>
                          </m:r>
                        </m:e>
                        <m:sup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−20 = −4,23</m:t>
                      </m:r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050747"/>
                <a:ext cx="7467600" cy="378631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3598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Аналитическое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95207" y="1840083"/>
                <a:ext cx="8353586" cy="1790054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Воспользуемся теоремой о дифференциале функции одной переменной.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Функция </a:t>
                </a: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непрерывно дифференцируема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0;+∞</m:t>
                        </m:r>
                      </m:e>
                    </m:d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поэтому в окрестности точки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=20см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применимо линейное приближение. Для малого изменения кривую заменим касательной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𝛥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≈</m:t>
                    </m:r>
                    <m:sSup>
                      <m:sSup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ⅆ</m:t>
                        </m:r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p>
                        <m: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𝛥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spcAft>
                    <a:spcPts val="800"/>
                  </a:spcAft>
                </a:pP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95207" y="1840083"/>
                <a:ext cx="8353586" cy="1790054"/>
              </a:xfrm>
              <a:blipFill>
                <a:blip r:embed="rId2"/>
                <a:stretch>
                  <a:fillRect l="-657" t="-20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088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Аналитическое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050747"/>
                <a:ext cx="7467600" cy="3786317"/>
              </a:xfrm>
            </p:spPr>
            <p:txBody>
              <a:bodyPr>
                <a:no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Находим производную (наклон касательной):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ru-RU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f>
                      <m:f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981</m:t>
                            </m:r>
                          </m:e>
                        </m:rad>
                      </m:den>
                    </m:f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f>
                      <m:f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rad>
                      </m:den>
                    </m:f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981⋅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3,14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981⋅20</m:t>
                              </m:r>
                            </m:e>
                          </m:rad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=0,2=0,0224</m:t>
                      </m:r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Отсюда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𝛥</m:t>
                      </m:r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𝛥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num>
                        <m:den>
                          <m:sSup>
                            <m:sSup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0,1</m:t>
                          </m:r>
                        </m:num>
                        <m:den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0224</m:t>
                          </m:r>
                        </m:den>
                      </m:f>
                      <m:r>
                        <a:rPr lang="ru-R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=−4,46 </m:t>
                      </m:r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BFEF9A1-78B4-FD4E-6902-56D70310F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050747"/>
                <a:ext cx="7467600" cy="3786317"/>
              </a:xfrm>
              <a:blipFill>
                <a:blip r:embed="rId2"/>
                <a:stretch>
                  <a:fillRect l="-653" t="-8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92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Аналитическое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50747"/>
            <a:ext cx="7467600" cy="3786317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Почему ответы чуть различаются?</a:t>
            </a:r>
            <a:b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Линеаризация даёт первое приближение; погрешность 0,23 см (≈ 5 %) допустима.</a:t>
            </a:r>
            <a:b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Точное значение: –4,23 см.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724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График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127A73-0C63-0E27-C6D6-7288AB1AB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105" y="1361586"/>
            <a:ext cx="5939790" cy="28028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C66026-0CB2-D357-0F09-0B54A772F91E}"/>
              </a:ext>
            </a:extLst>
          </p:cNvPr>
          <p:cNvSpPr txBox="1"/>
          <p:nvPr/>
        </p:nvSpPr>
        <p:spPr>
          <a:xfrm>
            <a:off x="2275630" y="4078353"/>
            <a:ext cx="5005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График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построен в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Desmos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1800" i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https://www.desmos.com/calculator/0fqbqvrqkt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92ABE-6F31-F4EC-FC1F-ABC372376A9E}"/>
              </a:ext>
            </a:extLst>
          </p:cNvPr>
          <p:cNvSpPr txBox="1"/>
          <p:nvPr/>
        </p:nvSpPr>
        <p:spPr>
          <a:xfrm>
            <a:off x="1159809" y="992254"/>
            <a:ext cx="6824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Зависимость периода T от длины l и касательная в точке l₀ = 20 см</a:t>
            </a:r>
          </a:p>
        </p:txBody>
      </p:sp>
    </p:spTree>
    <p:extLst>
      <p:ext uri="{BB962C8B-B14F-4D97-AF65-F5344CB8AC3E}">
        <p14:creationId xmlns:p14="http://schemas.microsoft.com/office/powerpoint/2010/main" val="1898499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Ответ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/>
              <p:nvPr/>
            </p:nvSpPr>
            <p:spPr>
              <a:xfrm>
                <a:off x="348712" y="2040326"/>
                <a:ext cx="8446576" cy="1405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b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Чтобы уменьшить период маятника на 0,1 с, длину нити следует укоротить на 4,2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ru-RU" sz="18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см</a:t>
                </a:r>
                <a:endParaRPr lang="en-US" sz="1800" kern="1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</m:t>
                      </m:r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=−4,23</m:t>
                      </m:r>
                    </m:oMath>
                  </m:oMathPara>
                </a14:m>
                <a:endParaRPr lang="ru-RU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12" y="2040326"/>
                <a:ext cx="8446576" cy="14055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117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Условие задания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62D35-70E3-87F4-CAC5-F67786FB3166}"/>
              </a:ext>
            </a:extLst>
          </p:cNvPr>
          <p:cNvSpPr txBox="1"/>
          <p:nvPr/>
        </p:nvSpPr>
        <p:spPr>
          <a:xfrm>
            <a:off x="666427" y="1164673"/>
            <a:ext cx="7811146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Дана задача. Проведите исследование: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 fontAlgn="base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Font typeface="+mj-lt"/>
              <a:buAutoNum type="arabicParenR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Составьте математическую модель задачи: введите обозначения, выпишите данные, составьте уравнение (систему уравнений), содержащее неизвестное.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 fontAlgn="base">
              <a:buClr>
                <a:srgbClr val="000000"/>
              </a:buClr>
              <a:buFont typeface="+mj-lt"/>
              <a:buAutoNum type="arabicParenR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Решите задачу аналитически.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 fontAlgn="base">
              <a:buClr>
                <a:srgbClr val="000000"/>
              </a:buClr>
              <a:buFont typeface="+mj-lt"/>
              <a:buAutoNum type="arabicParenR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Сделайте графическую иллюстрацию к решению задачи. Сверьтесь с аналитическим решением.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 fontAlgn="base">
              <a:spcAft>
                <a:spcPts val="300"/>
              </a:spcAft>
              <a:buClr>
                <a:srgbClr val="000000"/>
              </a:buClr>
              <a:buFont typeface="+mj-lt"/>
              <a:buAutoNum type="arabicParenR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Запишите ответ.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683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Условие задания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62D35-70E3-87F4-CAC5-F67786FB3166}"/>
              </a:ext>
            </a:extLst>
          </p:cNvPr>
          <p:cNvSpPr txBox="1"/>
          <p:nvPr/>
        </p:nvSpPr>
        <p:spPr>
          <a:xfrm>
            <a:off x="666427" y="1164673"/>
            <a:ext cx="7811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kern="12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 результатам агрономического опыта была установлена квадратичная зависимость между среднесуточной температурой, при которой выращивалась пшеница нового сорта и ее урожайностью. Результаты опыта представлены в таблице. Найдите оптимальную температуру, которая обеспечит максимальный урожай</a:t>
            </a:r>
            <a:endParaRPr lang="en-US" sz="180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D11B036-0AC8-2B35-90B0-EB3D53EC0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934928"/>
              </p:ext>
            </p:extLst>
          </p:nvPr>
        </p:nvGraphicFramePr>
        <p:xfrm>
          <a:off x="1672526" y="3292312"/>
          <a:ext cx="5798948" cy="822960"/>
        </p:xfrm>
        <a:graphic>
          <a:graphicData uri="http://schemas.openxmlformats.org/drawingml/2006/table">
            <a:tbl>
              <a:tblPr firstRow="1" bandRow="1"/>
              <a:tblGrid>
                <a:gridCol w="1880498">
                  <a:extLst>
                    <a:ext uri="{9D8B030D-6E8A-4147-A177-3AD203B41FA5}">
                      <a16:colId xmlns:a16="http://schemas.microsoft.com/office/drawing/2014/main" val="691833952"/>
                    </a:ext>
                  </a:extLst>
                </a:gridCol>
                <a:gridCol w="1018976">
                  <a:extLst>
                    <a:ext uri="{9D8B030D-6E8A-4147-A177-3AD203B41FA5}">
                      <a16:colId xmlns:a16="http://schemas.microsoft.com/office/drawing/2014/main" val="1866276283"/>
                    </a:ext>
                  </a:extLst>
                </a:gridCol>
                <a:gridCol w="1449737">
                  <a:extLst>
                    <a:ext uri="{9D8B030D-6E8A-4147-A177-3AD203B41FA5}">
                      <a16:colId xmlns:a16="http://schemas.microsoft.com/office/drawing/2014/main" val="476102175"/>
                    </a:ext>
                  </a:extLst>
                </a:gridCol>
                <a:gridCol w="1449737">
                  <a:extLst>
                    <a:ext uri="{9D8B030D-6E8A-4147-A177-3AD203B41FA5}">
                      <a16:colId xmlns:a16="http://schemas.microsoft.com/office/drawing/2014/main" val="1054355377"/>
                    </a:ext>
                  </a:extLst>
                </a:gridCol>
              </a:tblGrid>
              <a:tr h="257737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Температура, </a:t>
                      </a:r>
                      <a:r>
                        <a:rPr lang="ru-RU" sz="1800" baseline="30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1226343"/>
                  </a:ext>
                </a:extLst>
              </a:tr>
              <a:tr h="257737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Урожайность, кг/м</a:t>
                      </a:r>
                      <a:r>
                        <a:rPr lang="ru-RU" sz="1800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0,91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1,06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1120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746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/>
              <p:nvPr/>
            </p:nvSpPr>
            <p:spPr>
              <a:xfrm>
                <a:off x="457200" y="1164673"/>
                <a:ext cx="8020373" cy="40726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x — среднесуточная температура, °C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y — урожайность пшеницы, кг/м²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</a:rPr>
                  <a:t>По условию, между </a:t>
                </a:r>
                <a:r>
                  <a:rPr lang="ru-RU" dirty="0"/>
                  <a:t>температурой и урожайностью установлена квадратичная зависимость, то есть: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sSup>
                        <m:sSupPr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𝑏𝑥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𝑐</m:t>
                      </m:r>
                    </m:oMath>
                  </m:oMathPara>
                </a14:m>
                <a:endParaRPr lang="en-US" sz="1800" b="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dirty="0"/>
                  <a:t>где a,</a:t>
                </a:r>
                <a:r>
                  <a:rPr lang="en-US" dirty="0"/>
                  <a:t> </a:t>
                </a:r>
                <a:r>
                  <a:rPr lang="ru-RU" dirty="0"/>
                  <a:t>b,</a:t>
                </a:r>
                <a:r>
                  <a:rPr lang="en-US" dirty="0"/>
                  <a:t> c</a:t>
                </a:r>
                <a:r>
                  <a:rPr lang="ru-RU" dirty="0"/>
                  <a:t>— неизвестные коэффициенты.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dirty="0"/>
                  <a:t>Подставим</a:t>
                </a:r>
                <a:r>
                  <a:rPr lang="en-US" dirty="0"/>
                  <a:t> </a:t>
                </a:r>
                <a:r>
                  <a:rPr lang="ru-RU" dirty="0"/>
                  <a:t>экспериментальные данные в модель и получим систему уравнений: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eqArr>
                                      <m:eqArr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196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a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+14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b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+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c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=0,91</m:t>
                                        </m:r>
                                      </m:e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256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a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+16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b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+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c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/>
                                          <m:t>=1,06</m:t>
                                        </m:r>
                                      </m:e>
                                    </m:eqAr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484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a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+22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b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/>
                                      <m:t>=0,88​</m:t>
                                    </m:r>
                                  </m:e>
                                </m:eqAr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64673"/>
                <a:ext cx="8020373" cy="4072653"/>
              </a:xfrm>
              <a:prstGeom prst="rect">
                <a:avLst/>
              </a:prstGeom>
              <a:blipFill>
                <a:blip r:embed="rId2"/>
                <a:stretch>
                  <a:fillRect l="-608" t="-749" r="-6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8064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Аналитическое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/>
              <p:nvPr/>
            </p:nvSpPr>
            <p:spPr>
              <a:xfrm>
                <a:off x="619932" y="1040687"/>
                <a:ext cx="8020373" cy="4249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dirty="0"/>
                  <a:t>Найдем коэффициенты </a:t>
                </a:r>
                <a:r>
                  <a:rPr lang="en-US" dirty="0"/>
                  <a:t>a, b, c</a:t>
                </a:r>
                <a:r>
                  <a:rPr lang="ru-RU" dirty="0"/>
                  <a:t> параболы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0,91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1,06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484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0,88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484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=−96</m:t>
                      </m:r>
                    </m:oMath>
                  </m:oMathPara>
                </a14:m>
                <a:endParaRPr 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0,91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1,06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0,88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ru-RU"/>
                        <m:t>0,96</m:t>
                      </m:r>
                    </m:oMath>
                  </m:oMathPara>
                </a14:m>
                <a:endParaRPr 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0,91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1,06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484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0,88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ru-RU"/>
                        <m:t>0,375</m:t>
                      </m:r>
                    </m:oMath>
                  </m:oMathPara>
                </a14:m>
                <a:endParaRPr 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32" y="1040687"/>
                <a:ext cx="8020373" cy="4249305"/>
              </a:xfrm>
              <a:prstGeom prst="rect">
                <a:avLst/>
              </a:prstGeom>
              <a:blipFill>
                <a:blip r:embed="rId2"/>
                <a:stretch>
                  <a:fillRect l="-684" t="-8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1E115A4-63EB-0C00-049E-6184B05E8AC2}"/>
              </a:ext>
            </a:extLst>
          </p:cNvPr>
          <p:cNvCxnSpPr/>
          <p:nvPr/>
        </p:nvCxnSpPr>
        <p:spPr>
          <a:xfrm>
            <a:off x="5284922" y="1391992"/>
            <a:ext cx="0" cy="72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5933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Аналитическое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/>
              <p:nvPr/>
            </p:nvSpPr>
            <p:spPr>
              <a:xfrm>
                <a:off x="619932" y="1040687"/>
                <a:ext cx="8020373" cy="3100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,91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1,06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484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0,88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=−3,08 </m:t>
                      </m:r>
                    </m:oMath>
                  </m:oMathPara>
                </a14:m>
                <a:endParaRPr 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=−0,013125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=0,46875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=−3,08</m:t>
                      </m:r>
                    </m:oMath>
                  </m:oMathPara>
                </a14:m>
                <a:endParaRPr lang="en-US" b="0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dirty="0"/>
                  <a:t>Итого</a:t>
                </a:r>
                <a:r>
                  <a:rPr lang="en-US" dirty="0"/>
                  <a:t>: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𝑦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=−0,013125</m:t>
                      </m:r>
                      <m:sSup>
                        <m:sSupPr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46875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−3,08</m:t>
                      </m:r>
                    </m:oMath>
                  </m:oMathPara>
                </a14:m>
                <a:endParaRPr lang="en-US" sz="1800" b="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32" y="1040687"/>
                <a:ext cx="8020373" cy="3100977"/>
              </a:xfrm>
              <a:prstGeom prst="rect">
                <a:avLst/>
              </a:prstGeom>
              <a:blipFill>
                <a:blip r:embed="rId2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156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Аналитическое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/>
              <p:nvPr/>
            </p:nvSpPr>
            <p:spPr>
              <a:xfrm>
                <a:off x="619932" y="1040687"/>
                <a:ext cx="8020373" cy="3400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b="0" dirty="0"/>
                  <a:t>Для нахождения максимальной температуры ищем точку максимума</a:t>
                </a:r>
                <a:r>
                  <a:rPr lang="en-US" dirty="0"/>
                  <a:t>.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b="0" dirty="0"/>
                  <a:t>Для этого находим производную</a:t>
                </a:r>
                <a:r>
                  <a:rPr lang="en-US" b="0" dirty="0"/>
                  <a:t>: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ru-RU" b="0" i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/>
                        <m:t>−0,02625</m:t>
                      </m:r>
                      <m:r>
                        <m:rPr>
                          <m:nor/>
                        </m:rPr>
                        <a:rPr lang="en-US"/>
                        <m:t>x</m:t>
                      </m:r>
                      <m:r>
                        <m:rPr>
                          <m:nor/>
                        </m:rPr>
                        <a:rPr lang="en-US"/>
                        <m:t>+0,46875</m:t>
                      </m:r>
                    </m:oMath>
                  </m:oMathPara>
                </a14:m>
                <a:endParaRPr lang="en-US" b="0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b="0" dirty="0"/>
                  <a:t>И находим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nor/>
                      </m:rPr>
                      <a:rPr lang="ru-RU" b="0" i="0" smtClean="0">
                        <a:latin typeface="Cambria Math" panose="02040503050406030204" pitchFamily="18" charset="0"/>
                      </a:rPr>
                      <m:t> = 0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𝑒𝑥𝑡𝑟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≈17,85714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b="0" dirty="0"/>
                  <a:t>Так как ветви параболы направлены вниз(</a:t>
                </a:r>
                <a:r>
                  <a:rPr lang="en-US" b="0" dirty="0"/>
                  <a:t>a&lt;0), </a:t>
                </a:r>
                <a:r>
                  <a:rPr lang="ru-RU" b="0" dirty="0"/>
                  <a:t>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𝑒𝑥𝑡𝑟</m:t>
                        </m:r>
                      </m:sub>
                    </m:sSub>
                  </m:oMath>
                </a14:m>
                <a:r>
                  <a:rPr lang="en-US" b="0" dirty="0"/>
                  <a:t> - </a:t>
                </a:r>
                <a:r>
                  <a:rPr lang="ru-RU" b="0" dirty="0"/>
                  <a:t>точка максимума, а результат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𝑒𝑥𝑡𝑟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b="0" dirty="0"/>
                  <a:t> - максимальный</a:t>
                </a:r>
                <a:r>
                  <a:rPr lang="en-US" b="0" dirty="0"/>
                  <a:t>.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dirty="0"/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b="0" dirty="0"/>
                  <a:t>Ответ</a:t>
                </a:r>
                <a:r>
                  <a:rPr lang="en-US" b="0" dirty="0"/>
                  <a:t>: </a:t>
                </a:r>
                <a:r>
                  <a:rPr lang="ru-RU" b="0" dirty="0"/>
                  <a:t>оптимальная температура </a:t>
                </a:r>
                <a:r>
                  <a:rPr lang="en-US" b="0" dirty="0"/>
                  <a:t>= 17,85714</a:t>
                </a:r>
              </a:p>
              <a:p>
                <a:pPr algn="just">
                  <a:spcBef>
                    <a:spcPts val="300"/>
                  </a:spcBef>
                  <a:spcAft>
                    <a:spcPts val="300"/>
                  </a:spcAft>
                </a:pPr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62D35-70E3-87F4-CAC5-F67786FB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32" y="1040687"/>
                <a:ext cx="8020373" cy="3400931"/>
              </a:xfrm>
              <a:prstGeom prst="rect">
                <a:avLst/>
              </a:prstGeom>
              <a:blipFill>
                <a:blip r:embed="rId2"/>
                <a:stretch>
                  <a:fillRect l="-684" t="-1075" r="-6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1190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График</a:t>
            </a:r>
          </a:p>
        </p:txBody>
      </p:sp>
      <p:pic>
        <p:nvPicPr>
          <p:cNvPr id="7" name="Рисунок 6" descr="Изображение выглядит как текст, линия, График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F8E44E5C-9D0A-6643-50BE-736D37BC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216" b="21917"/>
          <a:stretch/>
        </p:blipFill>
        <p:spPr>
          <a:xfrm>
            <a:off x="2233846" y="1216617"/>
            <a:ext cx="4676308" cy="2425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20BB4D-47C2-D7DA-A521-2720F972B947}"/>
              </a:ext>
            </a:extLst>
          </p:cNvPr>
          <p:cNvSpPr txBox="1"/>
          <p:nvPr/>
        </p:nvSpPr>
        <p:spPr>
          <a:xfrm>
            <a:off x="976394" y="3790196"/>
            <a:ext cx="785764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График построен в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Desmos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b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https://www.desmos.com/calculator/xltbzzzlr8?lang=ru</a:t>
            </a:r>
            <a:endParaRPr lang="en-US" b="0" dirty="0"/>
          </a:p>
          <a:p>
            <a:pPr>
              <a:spcAft>
                <a:spcPts val="800"/>
              </a:spcAft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354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Ответ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5B027E-5E11-221C-4ADA-EDF97C0AC919}"/>
                  </a:ext>
                </a:extLst>
              </p:cNvPr>
              <p:cNvSpPr txBox="1"/>
              <p:nvPr/>
            </p:nvSpPr>
            <p:spPr>
              <a:xfrm>
                <a:off x="457200" y="2571750"/>
                <a:ext cx="8268346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ru-RU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Оптимальная температура</a:t>
                </a:r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17,85714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endParaRPr lang="en-US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5B027E-5E11-221C-4ADA-EDF97C0AC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71750"/>
                <a:ext cx="8268346" cy="375552"/>
              </a:xfrm>
              <a:prstGeom prst="rect">
                <a:avLst/>
              </a:prstGeom>
              <a:blipFill>
                <a:blip r:embed="rId2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3793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7358</TotalTime>
  <Words>2796</Words>
  <Application>Microsoft Office PowerPoint</Application>
  <PresentationFormat>Экран (16:9)</PresentationFormat>
  <Paragraphs>334</Paragraphs>
  <Slides>54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65" baseType="lpstr">
      <vt:lpstr>ALS Gorizont Bold Expanded</vt:lpstr>
      <vt:lpstr>Arial</vt:lpstr>
      <vt:lpstr>Calibri</vt:lpstr>
      <vt:lpstr>Cambria Math</vt:lpstr>
      <vt:lpstr>Golos Text</vt:lpstr>
      <vt:lpstr>Golos Text DemiBold</vt:lpstr>
      <vt:lpstr>Open Sans</vt:lpstr>
      <vt:lpstr>Symbol</vt:lpstr>
      <vt:lpstr>Times New Roman</vt:lpstr>
      <vt:lpstr>WebRoboto</vt:lpstr>
      <vt:lpstr>Тема1</vt:lpstr>
      <vt:lpstr>Предел и производная функции одной переменной</vt:lpstr>
      <vt:lpstr>Варианты к заданиям</vt:lpstr>
      <vt:lpstr>Условие задания 1</vt:lpstr>
      <vt:lpstr>Условие задания 1</vt:lpstr>
      <vt:lpstr>Предел последовательности</vt:lpstr>
      <vt:lpstr>Монотонность, ограниченность</vt:lpstr>
      <vt:lpstr>Монотонность, ограниченность</vt:lpstr>
      <vt:lpstr>Монотонность, ограниченность</vt:lpstr>
      <vt:lpstr>График общего члена</vt:lpstr>
      <vt:lpstr>Определение сходимости последовательности</vt:lpstr>
      <vt:lpstr>Определение ограниченности последовательности</vt:lpstr>
      <vt:lpstr>Презентация PowerPoint</vt:lpstr>
      <vt:lpstr>Презентация PowerPoint</vt:lpstr>
      <vt:lpstr>Связь свойств</vt:lpstr>
      <vt:lpstr>Презентация PowerPoint</vt:lpstr>
      <vt:lpstr>Анализ ε_3</vt:lpstr>
      <vt:lpstr>Условие задания 1</vt:lpstr>
      <vt:lpstr>Условие задания 1</vt:lpstr>
      <vt:lpstr>Предел функции</vt:lpstr>
      <vt:lpstr>Производная функции</vt:lpstr>
      <vt:lpstr>Производная функции</vt:lpstr>
      <vt:lpstr>Задание функции</vt:lpstr>
      <vt:lpstr>Задание функции</vt:lpstr>
      <vt:lpstr>График функции</vt:lpstr>
      <vt:lpstr>Определения для анализа функции</vt:lpstr>
      <vt:lpstr>Определения для анализа функции</vt:lpstr>
      <vt:lpstr>Монотонность</vt:lpstr>
      <vt:lpstr>Монотонность</vt:lpstr>
      <vt:lpstr>Монотонность</vt:lpstr>
      <vt:lpstr>Ограниченность</vt:lpstr>
      <vt:lpstr>Ограниченность</vt:lpstr>
      <vt:lpstr>Определения сходимости, монотонности, ограниченности</vt:lpstr>
      <vt:lpstr>Анализ ε_1, ε_2, ε_3</vt:lpstr>
      <vt:lpstr>Анализ ε_1, ε_2, ε_3</vt:lpstr>
      <vt:lpstr>Анализ ε_1, ε_2, ε_3</vt:lpstr>
      <vt:lpstr>Анализ ε_1, ε_2, ε_3</vt:lpstr>
      <vt:lpstr>Условие задания 2</vt:lpstr>
      <vt:lpstr>Математическая модель</vt:lpstr>
      <vt:lpstr>Аналитическое решение</vt:lpstr>
      <vt:lpstr>Аналитическое решение</vt:lpstr>
      <vt:lpstr>Аналитическое решение</vt:lpstr>
      <vt:lpstr>Аналитическое решение</vt:lpstr>
      <vt:lpstr>Аналитическое решение</vt:lpstr>
      <vt:lpstr>График</vt:lpstr>
      <vt:lpstr>Ответ</vt:lpstr>
      <vt:lpstr>Условие задания 3</vt:lpstr>
      <vt:lpstr>Условие задания 3</vt:lpstr>
      <vt:lpstr>Математическая модель</vt:lpstr>
      <vt:lpstr>Аналитическое решение</vt:lpstr>
      <vt:lpstr>Аналитическое решение</vt:lpstr>
      <vt:lpstr>Аналитическое решение</vt:lpstr>
      <vt:lpstr>График</vt:lpstr>
      <vt:lpstr>Ответ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Миша Добкес</dc:creator>
  <cp:lastModifiedBy>Миша Добкес</cp:lastModifiedBy>
  <cp:revision>252</cp:revision>
  <dcterms:created xsi:type="dcterms:W3CDTF">2014-06-27T12:30:22Z</dcterms:created>
  <dcterms:modified xsi:type="dcterms:W3CDTF">2025-12-25T06:13:53Z</dcterms:modified>
</cp:coreProperties>
</file>